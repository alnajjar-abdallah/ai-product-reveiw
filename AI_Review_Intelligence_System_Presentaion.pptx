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9"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247" autoAdjust="0"/>
  </p:normalViewPr>
  <p:slideViewPr>
    <p:cSldViewPr snapToGrid="0" snapToObjects="1">
      <p:cViewPr varScale="1">
        <p:scale>
          <a:sx n="143" d="100"/>
          <a:sy n="143" d="100"/>
        </p:scale>
        <p:origin x="684"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1239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Today, we are going to present our project called </a:t>
            </a:r>
            <a:r>
              <a:rPr lang="en-US" sz="1200" b="1" kern="1200" dirty="0">
                <a:solidFill>
                  <a:schemeClr val="tx1"/>
                </a:solidFill>
                <a:effectLst/>
                <a:latin typeface="+mn-lt"/>
                <a:ea typeface="+mn-ea"/>
                <a:cs typeface="+mn-cs"/>
              </a:rPr>
              <a:t>AI Product Review Intelligence System</a:t>
            </a:r>
            <a:r>
              <a:rPr lang="en-US" sz="1200" kern="1200" dirty="0">
                <a:solidFill>
                  <a:schemeClr val="tx1"/>
                </a:solidFill>
                <a:effectLst/>
                <a:latin typeface="+mn-lt"/>
                <a:ea typeface="+mn-ea"/>
                <a:cs typeface="+mn-cs"/>
              </a:rPr>
              <a:t>.</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goal of this project is to build an intelligent system capable of automatically analyzing customer product reviews.</a:t>
            </a:r>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Today, companies receive millions of customer reviews every day across platforms like Amazon or other e-commerce websites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reviews are very valuable because they contain customer opinions, complaints, expectations, and product strengths.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Manual analysis is almost impossible at scale. It is too slow, too expensive, and not efficient enough when we have a large amounts of reviews.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why automation matters. By using AI, companies can automatically transform raw customer reviews into clear and actionable business insights.</a:t>
            </a:r>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statistics on the right show that online reviews strongly influence purchasing decisions. (then read the statistics)</a:t>
            </a:r>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Based on this problem, we put some objectives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main one for our project is to create an end-to-end automated review intelligence workflow.</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system follows five main steps.</a:t>
            </a:r>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it collects product reviews, mainly from a review source, but the user also has the choice to manually enter reviews if wanted.</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it analyzes each review using our fine-tuned </a:t>
            </a:r>
            <a:r>
              <a:rPr lang="en-US" sz="1200" kern="1200" dirty="0" err="1">
                <a:solidFill>
                  <a:schemeClr val="tx1"/>
                </a:solidFill>
                <a:effectLst/>
                <a:latin typeface="+mn-lt"/>
                <a:ea typeface="+mn-ea"/>
                <a:cs typeface="+mn-cs"/>
              </a:rPr>
              <a:t>DistilBERT</a:t>
            </a:r>
            <a:r>
              <a:rPr lang="en-US" sz="1200" kern="1200" dirty="0">
                <a:solidFill>
                  <a:schemeClr val="tx1"/>
                </a:solidFill>
                <a:effectLst/>
                <a:latin typeface="+mn-lt"/>
                <a:ea typeface="+mn-ea"/>
                <a:cs typeface="+mn-cs"/>
              </a:rPr>
              <a:t> sentiment model.</a:t>
            </a:r>
          </a:p>
          <a:p>
            <a:r>
              <a:rPr lang="en-US" sz="1200" kern="1200" dirty="0">
                <a:solidFill>
                  <a:schemeClr val="tx1"/>
                </a:solidFill>
                <a:effectLst/>
                <a:latin typeface="+mn-lt"/>
                <a:ea typeface="+mn-ea"/>
                <a:cs typeface="+mn-cs"/>
              </a:rPr>
              <a:t>The model classifies reviews as positive or negative, with a confidence score.</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the system extracts key business insights, such as common complaints, product strengths, and repeated customer patterns.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Fourth, we added a human-in-the-loop validation step. Before generating the final report, the user must approve the analysis results.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the system generates a structured business intelligence report.</a:t>
            </a:r>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show how our project meets all the academic requirements.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we used a fine-tuned Deep Learning model. The sentiment model is based on </a:t>
            </a:r>
            <a:r>
              <a:rPr lang="en-US" sz="1200" kern="1200" dirty="0" err="1">
                <a:solidFill>
                  <a:schemeClr val="tx1"/>
                </a:solidFill>
                <a:effectLst/>
                <a:latin typeface="+mn-lt"/>
                <a:ea typeface="+mn-ea"/>
                <a:cs typeface="+mn-cs"/>
              </a:rPr>
              <a:t>DistilBERT</a:t>
            </a:r>
            <a:r>
              <a:rPr lang="en-US" sz="1200" kern="1200" dirty="0">
                <a:solidFill>
                  <a:schemeClr val="tx1"/>
                </a:solidFill>
                <a:effectLst/>
                <a:latin typeface="+mn-lt"/>
                <a:ea typeface="+mn-ea"/>
                <a:cs typeface="+mn-cs"/>
              </a:rPr>
              <a:t> and was fine-tuned on the Amazon Polarity dataset, reaching around 92.97% accuracy.</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we implemented a multi-agent architecture. The system includes a Collector Agent, a Sentiment Agent, an Insight Agent, and a Report Agent.</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agents are coordinated by a central orchestrator using </a:t>
            </a:r>
            <a:r>
              <a:rPr lang="en-US" sz="1200" kern="1200" dirty="0" err="1">
                <a:solidFill>
                  <a:schemeClr val="tx1"/>
                </a:solidFill>
                <a:effectLst/>
                <a:latin typeface="+mn-lt"/>
                <a:ea typeface="+mn-ea"/>
                <a:cs typeface="+mn-cs"/>
              </a:rPr>
              <a:t>CrewAI</a:t>
            </a:r>
            <a:r>
              <a:rPr lang="en-US" sz="1200" kern="1200" dirty="0">
                <a:solidFill>
                  <a:schemeClr val="tx1"/>
                </a:solidFill>
                <a:effectLst/>
                <a:latin typeface="+mn-lt"/>
                <a:ea typeface="+mn-ea"/>
                <a:cs typeface="+mn-cs"/>
              </a:rPr>
              <a:t>.</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also implemented a human-in-the-loop checkpoint. The final report is only generated after user approval.</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application is integrated with </a:t>
            </a:r>
            <a:r>
              <a:rPr lang="en-US" sz="1200" kern="1200" dirty="0" err="1">
                <a:solidFill>
                  <a:schemeClr val="tx1"/>
                </a:solidFill>
                <a:effectLst/>
                <a:latin typeface="+mn-lt"/>
                <a:ea typeface="+mn-ea"/>
                <a:cs typeface="+mn-cs"/>
              </a:rPr>
              <a:t>Streamlit</a:t>
            </a:r>
            <a:r>
              <a:rPr lang="en-US" sz="1200" kern="1200" dirty="0">
                <a:solidFill>
                  <a:schemeClr val="tx1"/>
                </a:solidFill>
                <a:effectLst/>
                <a:latin typeface="+mn-lt"/>
                <a:ea typeface="+mn-ea"/>
                <a:cs typeface="+mn-cs"/>
              </a:rPr>
              <a:t>, which provides an interactive interface with full review analysis.</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have the </a:t>
            </a:r>
            <a:r>
              <a:rPr lang="en-US" sz="1200" kern="1200" dirty="0" err="1">
                <a:solidFill>
                  <a:schemeClr val="tx1"/>
                </a:solidFill>
                <a:effectLst/>
                <a:latin typeface="+mn-lt"/>
                <a:ea typeface="+mn-ea"/>
                <a:cs typeface="+mn-cs"/>
              </a:rPr>
              <a:t>CrewAI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Framwork</a:t>
            </a:r>
            <a:r>
              <a:rPr lang="en-US" sz="1200" kern="1200" dirty="0">
                <a:solidFill>
                  <a:schemeClr val="tx1"/>
                </a:solidFill>
                <a:effectLst/>
                <a:latin typeface="+mn-lt"/>
                <a:ea typeface="+mn-ea"/>
                <a:cs typeface="+mn-cs"/>
              </a:rPr>
              <a:t> that is used buy the Orchestrator.</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Gemini API used for rapport generation.</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also added JSONL logging with timestamps, as well as error handling to make the application more stable.</a:t>
            </a:r>
          </a:p>
          <a:p>
            <a:endParaRPr lang="fr-F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the project was organized on GitHub with a modular structure, which allowed the application part and the machine learning part to be developed in parallel.</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based on a multi-agent architecture coordinated by an orchestrator agent. The user interacts with the system through a </a:t>
            </a:r>
            <a:r>
              <a:rPr lang="en-US" dirty="0" err="1"/>
              <a:t>Streamlit</a:t>
            </a:r>
            <a:r>
              <a:rPr lang="en-US" dirty="0"/>
              <a:t> web application by entering a product name. The Collector Agent gathers and prepares the review data, then the Sentiment Agent analyzes the reviews using our fine-tuned </a:t>
            </a:r>
            <a:r>
              <a:rPr lang="en-US" dirty="0" err="1"/>
              <a:t>DistilBERT</a:t>
            </a:r>
            <a:r>
              <a:rPr lang="en-US" dirty="0"/>
              <a:t> deep learning model. After sentiment classification, the Insight Agent extracts patterns and generates analytical insights from the sentiment results. Before generating the final report, the workflow passes through a Human Approval checkpoint to validate the output. Finally, the Report Agent uses Gemini to generate the final intelligence report delivered to the user.”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complete machine learning pipeline used in our project. First, we selected the </a:t>
            </a:r>
            <a:r>
              <a:rPr lang="en-US" dirty="0" err="1"/>
              <a:t>amazon_polarity</a:t>
            </a:r>
            <a:r>
              <a:rPr lang="en-US" dirty="0"/>
              <a:t> dataset and reduced it to 20,000 balanced product reviews for faster training. Then we performed preprocessing by merging the review title and content into a single </a:t>
            </a:r>
            <a:r>
              <a:rPr lang="en-US" dirty="0" err="1"/>
              <a:t>review_text</a:t>
            </a:r>
            <a:r>
              <a:rPr lang="en-US" dirty="0"/>
              <a:t> field. After that, we split the dataset into 80% training data and 20% validation data. We used the </a:t>
            </a:r>
            <a:r>
              <a:rPr lang="en-US" dirty="0" err="1"/>
              <a:t>DistilBERT</a:t>
            </a:r>
            <a:r>
              <a:rPr lang="en-US" dirty="0"/>
              <a:t> tokenizer with a maximum sequence length of 128 tokens. Next, we fine-tuned </a:t>
            </a:r>
            <a:r>
              <a:rPr lang="en-US" dirty="0" err="1"/>
              <a:t>DistilBERT</a:t>
            </a:r>
            <a:r>
              <a:rPr lang="en-US" dirty="0"/>
              <a:t> for 2 epochs using the </a:t>
            </a:r>
            <a:r>
              <a:rPr lang="en-US" dirty="0" err="1"/>
              <a:t>AdamW</a:t>
            </a:r>
            <a:r>
              <a:rPr lang="en-US" dirty="0"/>
              <a:t> optimizer and a learning rate of 2e-5. Finally, we evaluated the model and achieved around 93% validation accuracy with strong precision and recall scores. We specifically chose </a:t>
            </a:r>
            <a:r>
              <a:rPr lang="en-US" dirty="0" err="1"/>
              <a:t>DistilBERT</a:t>
            </a:r>
            <a:r>
              <a:rPr lang="en-US" dirty="0"/>
              <a:t> because it is a compressed version of BERT using knowledge distillation. It has 6 transformer layers instead of 12, making it around 40% smaller and faster while still retaining about 97% of BERT’s performance. This made it ideal for our project because it provides strong NLP accuracy with lower memory usage and faster inference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present the final evaluation of our sentiment analysis model after fine-tuning </a:t>
            </a:r>
            <a:r>
              <a:rPr lang="en-US" dirty="0" err="1"/>
              <a:t>DistilBERT</a:t>
            </a:r>
            <a:r>
              <a:rPr lang="en-US" dirty="0"/>
              <a:t> on Amazon product reviews. The model achieved around 93% validation accuracy with balanced precision, recall, and F1-score values, which indicates strong and stable performance for binary sentiment classification. The confusion matrix also shows that the number of incorrect predictions is relatively low compared to the correctly classified reviews. Overall, the results demonstrate that </a:t>
            </a:r>
            <a:r>
              <a:rPr lang="en-US" dirty="0" err="1"/>
              <a:t>DistilBERT</a:t>
            </a:r>
            <a:r>
              <a:rPr lang="en-US" dirty="0"/>
              <a:t> provides an efficient balance between speed, lightweight architecture, and high NLP performance, making it suitable for integration into our multi-agent AI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specialized agents form the application layer. The Orchestrator coordinates their execution. The Collector fetches reviews, Sentiment Agent runs DistilBERT inference, Insight Agent uses Gemini to extract patterns, and the Report Agent generates the final deliverable. All agents are defined as CrewAI roles.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Streamlit application provides a complete interactive interface. Users enter a product name, choose the review source, view sentiment metrics and charts, and then trigger the multi-agent pipeline. The human approval checkbox must be checked before the final report is generated.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reliability mechanisms: structured JSONL logging for auditability, centralized error handling with safe fallbacks, and a mandatory human approval step before any report is generated. This ensures both technical robustness and business process integrity.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limitations are the large model file size, API rate limiting, and the binary-only sentiment classification. Future work will address these with Git LFS, local indexing, a 3-class sentiment model, and semantic search embeddings.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complete AI system that fine-tunes DistilBERT for sentiment analysis, coordinates 4 intelligent agents with CrewAI, provides an interactive Streamlit interface with human approval, and generates actionable business intelligence. This goes well beyond basic sentiment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0.png"/><Relationship Id="rId10"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rgbClr val="00B050"/>
            </a:gs>
            <a:gs pos="94000">
              <a:schemeClr val="tx1">
                <a:lumMod val="65000"/>
                <a:lumOff val="35000"/>
              </a:schemeClr>
            </a:gs>
            <a:gs pos="73000">
              <a:schemeClr val="tx2">
                <a:lumMod val="60000"/>
                <a:lumOff val="40000"/>
              </a:schemeClr>
            </a:gs>
            <a:gs pos="100000">
              <a:schemeClr val="accent1">
                <a:lumMod val="30000"/>
                <a:lumOff val="70000"/>
              </a:schemeClr>
            </a:gs>
          </a:gsLst>
          <a:path path="rect">
            <a:fillToRect l="100000" t="100000"/>
          </a:path>
        </a:gradFill>
        <a:effectLst/>
      </p:bgPr>
    </p:bg>
    <p:spTree>
      <p:nvGrpSpPr>
        <p:cNvPr id="1" name=""/>
        <p:cNvGrpSpPr/>
        <p:nvPr/>
      </p:nvGrpSpPr>
      <p:grpSpPr>
        <a:xfrm>
          <a:off x="0" y="0"/>
          <a:ext cx="0" cy="0"/>
          <a:chOff x="0" y="0"/>
          <a:chExt cx="0" cy="0"/>
        </a:xfrm>
      </p:grpSpPr>
      <p:sp>
        <p:nvSpPr>
          <p:cNvPr id="3" name="Shape 1"/>
          <p:cNvSpPr/>
          <p:nvPr/>
        </p:nvSpPr>
        <p:spPr>
          <a:xfrm>
            <a:off x="6858000" y="-1371600"/>
            <a:ext cx="4114800" cy="4114800"/>
          </a:xfrm>
          <a:prstGeom prst="ellipse">
            <a:avLst/>
          </a:prstGeom>
          <a:solidFill>
            <a:srgbClr val="1E5EFF">
              <a:alpha val="12000"/>
            </a:srgbClr>
          </a:solidFill>
          <a:ln w="12700">
            <a:solidFill>
              <a:srgbClr val="1E5EFF">
                <a:alpha val="30000"/>
              </a:srgbClr>
            </a:solidFill>
            <a:prstDash val="solid"/>
          </a:ln>
        </p:spPr>
        <p:txBody>
          <a:bodyPr/>
          <a:lstStyle/>
          <a:p>
            <a:endParaRPr/>
          </a:p>
        </p:txBody>
      </p:sp>
      <p:sp>
        <p:nvSpPr>
          <p:cNvPr id="4" name="Shape 2"/>
          <p:cNvSpPr/>
          <p:nvPr/>
        </p:nvSpPr>
        <p:spPr>
          <a:xfrm>
            <a:off x="6400800" y="-914400"/>
            <a:ext cx="3200400" cy="3200400"/>
          </a:xfrm>
          <a:prstGeom prst="ellipse">
            <a:avLst/>
          </a:prstGeom>
          <a:solidFill>
            <a:srgbClr val="00C8FF">
              <a:alpha val="8000"/>
            </a:srgbClr>
          </a:solidFill>
          <a:ln w="12700">
            <a:solidFill>
              <a:srgbClr val="00C8FF">
                <a:alpha val="20000"/>
              </a:srgbClr>
            </a:solidFill>
            <a:prstDash val="solid"/>
          </a:ln>
        </p:spPr>
        <p:txBody>
          <a:bodyPr/>
          <a:lstStyle/>
          <a:p>
            <a:endParaRPr/>
          </a:p>
        </p:txBody>
      </p:sp>
      <p:sp>
        <p:nvSpPr>
          <p:cNvPr id="5" name="Shape 3"/>
          <p:cNvSpPr/>
          <p:nvPr/>
        </p:nvSpPr>
        <p:spPr>
          <a:xfrm>
            <a:off x="-914400" y="3200400"/>
            <a:ext cx="3200400" cy="3200400"/>
          </a:xfrm>
          <a:prstGeom prst="ellipse">
            <a:avLst/>
          </a:prstGeom>
          <a:solidFill>
            <a:srgbClr val="A78BFA">
              <a:alpha val="10000"/>
            </a:srgbClr>
          </a:solidFill>
          <a:ln w="12700">
            <a:solidFill>
              <a:srgbClr val="A78BFA">
                <a:alpha val="20000"/>
              </a:srgbClr>
            </a:solidFill>
            <a:prstDash val="solid"/>
          </a:ln>
        </p:spPr>
        <p:txBody>
          <a:bodyPr/>
          <a:lstStyle/>
          <a:p>
            <a:endParaRPr lang="fr-FR" dirty="0"/>
          </a:p>
        </p:txBody>
      </p:sp>
      <p:sp>
        <p:nvSpPr>
          <p:cNvPr id="9" name="Text 6"/>
          <p:cNvSpPr/>
          <p:nvPr/>
        </p:nvSpPr>
        <p:spPr>
          <a:xfrm>
            <a:off x="457200" y="1005840"/>
            <a:ext cx="8229600" cy="77724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AI Product Review</a:t>
            </a:r>
            <a:endParaRPr lang="en-US" sz="4200" dirty="0"/>
          </a:p>
        </p:txBody>
      </p:sp>
      <p:sp>
        <p:nvSpPr>
          <p:cNvPr id="10" name="Text 7"/>
          <p:cNvSpPr/>
          <p:nvPr/>
        </p:nvSpPr>
        <p:spPr>
          <a:xfrm>
            <a:off x="457200" y="1737360"/>
            <a:ext cx="8229600" cy="777240"/>
          </a:xfrm>
          <a:prstGeom prst="rect">
            <a:avLst/>
          </a:prstGeom>
          <a:noFill/>
          <a:ln/>
        </p:spPr>
        <p:txBody>
          <a:bodyPr wrap="square" lIns="0" tIns="0" rIns="0" bIns="0" rtlCol="0" anchor="ctr"/>
          <a:lstStyle/>
          <a:p>
            <a:pPr marL="0" indent="0" algn="l">
              <a:buNone/>
            </a:pPr>
            <a:r>
              <a:rPr lang="en-US" sz="4200" b="1" dirty="0">
                <a:solidFill>
                  <a:srgbClr val="00C8FF"/>
                </a:solidFill>
                <a:latin typeface="Calibri" pitchFamily="34" charset="0"/>
                <a:ea typeface="Calibri" pitchFamily="34" charset="-122"/>
                <a:cs typeface="Calibri" pitchFamily="34" charset="-120"/>
              </a:rPr>
              <a:t>Intelligence System</a:t>
            </a:r>
            <a:endParaRPr lang="en-US" sz="4200" dirty="0"/>
          </a:p>
        </p:txBody>
      </p:sp>
      <p:sp>
        <p:nvSpPr>
          <p:cNvPr id="11" name="Text 8"/>
          <p:cNvSpPr/>
          <p:nvPr/>
        </p:nvSpPr>
        <p:spPr>
          <a:xfrm>
            <a:off x="457200" y="2578608"/>
            <a:ext cx="8229600" cy="365760"/>
          </a:xfrm>
          <a:prstGeom prst="rect">
            <a:avLst/>
          </a:prstGeom>
          <a:noFill/>
          <a:ln/>
        </p:spPr>
        <p:txBody>
          <a:bodyPr wrap="square" lIns="0" tIns="0" rIns="0" bIns="0" rtlCol="0" anchor="ctr"/>
          <a:lstStyle/>
          <a:p>
            <a:pPr marL="0" indent="0" algn="l">
              <a:buNone/>
            </a:pPr>
            <a:r>
              <a:rPr lang="en-US" sz="1200" dirty="0">
                <a:solidFill>
                  <a:srgbClr val="FFFF00"/>
                </a:solidFill>
                <a:latin typeface="Calibri" pitchFamily="34" charset="0"/>
                <a:ea typeface="Calibri" pitchFamily="34" charset="-122"/>
                <a:cs typeface="Calibri" pitchFamily="34" charset="-120"/>
              </a:rPr>
              <a:t>Multi-Agent System  ·  Fine-Tuned DistilBERT  ·  CrewAI  ·  Gemini API  ·  Streamlit</a:t>
            </a:r>
            <a:endParaRPr lang="en-US" sz="1200" dirty="0">
              <a:solidFill>
                <a:srgbClr val="FFFF00"/>
              </a:solidFill>
            </a:endParaRPr>
          </a:p>
        </p:txBody>
      </p:sp>
      <p:sp>
        <p:nvSpPr>
          <p:cNvPr id="13" name="Text 10"/>
          <p:cNvSpPr/>
          <p:nvPr/>
        </p:nvSpPr>
        <p:spPr>
          <a:xfrm>
            <a:off x="457200" y="3200400"/>
            <a:ext cx="1828800" cy="274320"/>
          </a:xfrm>
          <a:prstGeom prst="rect">
            <a:avLst/>
          </a:prstGeom>
          <a:noFill/>
          <a:ln/>
        </p:spPr>
        <p:txBody>
          <a:bodyPr wrap="square" lIns="0" tIns="0" rIns="0" bIns="0" rtlCol="0" anchor="ctr"/>
          <a:lstStyle/>
          <a:p>
            <a:pPr marL="0" indent="0">
              <a:buNone/>
            </a:pPr>
            <a:r>
              <a:rPr lang="en-US" sz="900" b="1" dirty="0">
                <a:solidFill>
                  <a:srgbClr val="7A9CC0"/>
                </a:solidFill>
              </a:rPr>
              <a:t>Team Members:</a:t>
            </a:r>
            <a:endParaRPr lang="en-US" sz="900" dirty="0"/>
          </a:p>
        </p:txBody>
      </p:sp>
      <p:sp>
        <p:nvSpPr>
          <p:cNvPr id="14" name="Text 11"/>
          <p:cNvSpPr/>
          <p:nvPr/>
        </p:nvSpPr>
        <p:spPr>
          <a:xfrm>
            <a:off x="457200" y="3520440"/>
            <a:ext cx="3108960" cy="256032"/>
          </a:xfrm>
          <a:prstGeom prst="rect">
            <a:avLst/>
          </a:prstGeom>
          <a:noFill/>
          <a:ln/>
        </p:spPr>
        <p:txBody>
          <a:bodyPr wrap="square" lIns="0" tIns="0" rIns="0" bIns="0" rtlCol="0" anchor="ctr"/>
          <a:lstStyle/>
          <a:p>
            <a:pPr marL="0" indent="0">
              <a:buNone/>
            </a:pPr>
            <a:r>
              <a:rPr lang="en-US" sz="1100" b="1" dirty="0">
                <a:solidFill>
                  <a:srgbClr val="E8F0FF"/>
                </a:solidFill>
                <a:latin typeface="Calibri" pitchFamily="34" charset="0"/>
                <a:cs typeface="Calibri" pitchFamily="34" charset="-120"/>
              </a:rPr>
              <a:t>Abdallah Alnajjar</a:t>
            </a:r>
            <a:endParaRPr lang="en-US" sz="1100" b="1" dirty="0"/>
          </a:p>
        </p:txBody>
      </p:sp>
      <p:sp>
        <p:nvSpPr>
          <p:cNvPr id="15" name="Text 12"/>
          <p:cNvSpPr/>
          <p:nvPr/>
        </p:nvSpPr>
        <p:spPr>
          <a:xfrm>
            <a:off x="3657600" y="3520440"/>
            <a:ext cx="3108960" cy="256032"/>
          </a:xfrm>
          <a:prstGeom prst="rect">
            <a:avLst/>
          </a:prstGeom>
          <a:noFill/>
          <a:ln/>
        </p:spPr>
        <p:txBody>
          <a:bodyPr wrap="square" lIns="0" tIns="0" rIns="0" bIns="0" rtlCol="0" anchor="ctr"/>
          <a:lstStyle/>
          <a:p>
            <a:pPr marL="0" indent="0">
              <a:buNone/>
            </a:pPr>
            <a:r>
              <a:rPr lang="en-US" sz="1100" b="1" dirty="0">
                <a:solidFill>
                  <a:srgbClr val="E8F0FF"/>
                </a:solidFill>
                <a:latin typeface="Calibri" pitchFamily="34" charset="0"/>
                <a:ea typeface="Calibri" pitchFamily="34" charset="-122"/>
                <a:cs typeface="Calibri" pitchFamily="34" charset="-120"/>
              </a:rPr>
              <a:t>Mohamed Houssam </a:t>
            </a:r>
            <a:r>
              <a:rPr lang="en-US" sz="1100" b="1" dirty="0" err="1">
                <a:solidFill>
                  <a:srgbClr val="E8F0FF"/>
                </a:solidFill>
                <a:latin typeface="Calibri" pitchFamily="34" charset="0"/>
                <a:ea typeface="Calibri" pitchFamily="34" charset="-122"/>
                <a:cs typeface="Calibri" pitchFamily="34" charset="-120"/>
              </a:rPr>
              <a:t>Eljabbar</a:t>
            </a:r>
            <a:endParaRPr lang="en-US" sz="1100" b="1" dirty="0"/>
          </a:p>
        </p:txBody>
      </p:sp>
      <p:sp>
        <p:nvSpPr>
          <p:cNvPr id="16" name="Text 13"/>
          <p:cNvSpPr/>
          <p:nvPr/>
        </p:nvSpPr>
        <p:spPr>
          <a:xfrm>
            <a:off x="457200" y="3794760"/>
            <a:ext cx="3108960" cy="256032"/>
          </a:xfrm>
          <a:prstGeom prst="rect">
            <a:avLst/>
          </a:prstGeom>
          <a:noFill/>
          <a:ln/>
        </p:spPr>
        <p:txBody>
          <a:bodyPr wrap="square" lIns="0" tIns="0" rIns="0" bIns="0" rtlCol="0" anchor="ctr"/>
          <a:lstStyle/>
          <a:p>
            <a:pPr marL="0" indent="0">
              <a:buNone/>
            </a:pPr>
            <a:r>
              <a:rPr lang="en-US" sz="1100" b="1" dirty="0">
                <a:solidFill>
                  <a:srgbClr val="E8F0FF"/>
                </a:solidFill>
                <a:latin typeface="Calibri" pitchFamily="34" charset="0"/>
                <a:ea typeface="Calibri" pitchFamily="34" charset="-122"/>
                <a:cs typeface="Calibri" pitchFamily="34" charset="-120"/>
              </a:rPr>
              <a:t>Fahd Chaib</a:t>
            </a:r>
            <a:endParaRPr lang="en-US" sz="1100" b="1" dirty="0"/>
          </a:p>
        </p:txBody>
      </p:sp>
      <p:sp>
        <p:nvSpPr>
          <p:cNvPr id="17" name="Text 14"/>
          <p:cNvSpPr/>
          <p:nvPr/>
        </p:nvSpPr>
        <p:spPr>
          <a:xfrm>
            <a:off x="3657600" y="3794760"/>
            <a:ext cx="3108960" cy="256032"/>
          </a:xfrm>
          <a:prstGeom prst="rect">
            <a:avLst/>
          </a:prstGeom>
          <a:noFill/>
          <a:ln/>
        </p:spPr>
        <p:txBody>
          <a:bodyPr wrap="square" lIns="0" tIns="0" rIns="0" bIns="0" rtlCol="0" anchor="ctr"/>
          <a:lstStyle/>
          <a:p>
            <a:pPr marL="0" indent="0">
              <a:buNone/>
            </a:pPr>
            <a:r>
              <a:rPr lang="en-US" sz="1100" b="1" dirty="0">
                <a:solidFill>
                  <a:srgbClr val="E8F0FF"/>
                </a:solidFill>
                <a:latin typeface="Calibri" pitchFamily="34" charset="0"/>
                <a:cs typeface="Calibri" pitchFamily="34" charset="-120"/>
              </a:rPr>
              <a:t>Nassim </a:t>
            </a:r>
            <a:r>
              <a:rPr lang="en-US" sz="1100" b="1" dirty="0" err="1">
                <a:solidFill>
                  <a:srgbClr val="E8F0FF"/>
                </a:solidFill>
                <a:latin typeface="Calibri" pitchFamily="34" charset="0"/>
                <a:cs typeface="Calibri" pitchFamily="34" charset="-120"/>
              </a:rPr>
              <a:t>Sehli</a:t>
            </a:r>
            <a:endParaRPr lang="en-US" sz="1100" b="1" dirty="0"/>
          </a:p>
        </p:txBody>
      </p:sp>
      <p:sp>
        <p:nvSpPr>
          <p:cNvPr id="18" name="Text 15"/>
          <p:cNvSpPr/>
          <p:nvPr/>
        </p:nvSpPr>
        <p:spPr>
          <a:xfrm>
            <a:off x="457200" y="4572000"/>
            <a:ext cx="8229600" cy="274320"/>
          </a:xfrm>
          <a:prstGeom prst="rect">
            <a:avLst/>
          </a:prstGeom>
          <a:noFill/>
          <a:ln/>
        </p:spPr>
        <p:txBody>
          <a:bodyPr wrap="square" lIns="0" tIns="0" rIns="0" bIns="0" rtlCol="0" anchor="ctr"/>
          <a:lstStyle/>
          <a:p>
            <a:pPr marL="0" indent="0" algn="l">
              <a:buNone/>
            </a:pPr>
            <a:r>
              <a:rPr lang="en-US" sz="950" i="1" dirty="0">
                <a:solidFill>
                  <a:srgbClr val="3A5070"/>
                </a:solidFill>
              </a:rPr>
              <a:t>·  AI &amp; Deep Learning Project  ·  2025–2026</a:t>
            </a:r>
            <a:endParaRPr lang="en-US" sz="950" dirty="0"/>
          </a:p>
        </p:txBody>
      </p:sp>
      <p:sp>
        <p:nvSpPr>
          <p:cNvPr id="19" name="TextBox 18"/>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297680" cy="5143500"/>
          </a:xfrm>
          <a:prstGeom prst="rect">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sp>
        <p:nvSpPr>
          <p:cNvPr id="4" name="Text 2"/>
          <p:cNvSpPr/>
          <p:nvPr/>
        </p:nvSpPr>
        <p:spPr>
          <a:xfrm>
            <a:off x="228600" y="320040"/>
            <a:ext cx="384048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Problem</a:t>
            </a:r>
            <a:endParaRPr lang="en-US" sz="2600" dirty="0"/>
          </a:p>
        </p:txBody>
      </p:sp>
      <p:sp>
        <p:nvSpPr>
          <p:cNvPr id="5" name="Text 3"/>
          <p:cNvSpPr/>
          <p:nvPr/>
        </p:nvSpPr>
        <p:spPr>
          <a:xfrm>
            <a:off x="228600" y="868680"/>
            <a:ext cx="3840480" cy="320040"/>
          </a:xfrm>
          <a:prstGeom prst="rect">
            <a:avLst/>
          </a:prstGeom>
          <a:noFill/>
          <a:ln/>
        </p:spPr>
        <p:txBody>
          <a:bodyPr wrap="square" lIns="0" tIns="0" rIns="0" bIns="0" rtlCol="0" anchor="ctr"/>
          <a:lstStyle/>
          <a:p>
            <a:pPr marL="0" indent="0">
              <a:buNone/>
            </a:pPr>
            <a:r>
              <a:rPr lang="en-US" sz="1300" i="1" dirty="0">
                <a:solidFill>
                  <a:srgbClr val="00C8FF"/>
                </a:solidFill>
              </a:rPr>
              <a:t>Context &amp; Business Need</a:t>
            </a:r>
            <a:endParaRPr lang="en-US" sz="1300" dirty="0"/>
          </a:p>
        </p:txBody>
      </p:sp>
      <p:sp>
        <p:nvSpPr>
          <p:cNvPr id="6" name="Shape 4"/>
          <p:cNvSpPr/>
          <p:nvPr/>
        </p:nvSpPr>
        <p:spPr>
          <a:xfrm>
            <a:off x="256032" y="1481328"/>
            <a:ext cx="457200" cy="457200"/>
          </a:xfrm>
          <a:prstGeom prst="ellipse">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pic>
        <p:nvPicPr>
          <p:cNvPr id="7" name="Image 0" descr="preencoded.png"/>
          <p:cNvPicPr>
            <a:picLocks noChangeAspect="1"/>
          </p:cNvPicPr>
          <p:nvPr/>
        </p:nvPicPr>
        <p:blipFill>
          <a:blip r:embed="rId3"/>
          <a:stretch>
            <a:fillRect/>
          </a:stretch>
        </p:blipFill>
        <p:spPr>
          <a:xfrm>
            <a:off x="301752" y="1499616"/>
            <a:ext cx="365760" cy="365760"/>
          </a:xfrm>
          <a:prstGeom prst="rect">
            <a:avLst/>
          </a:prstGeom>
        </p:spPr>
      </p:pic>
      <p:sp>
        <p:nvSpPr>
          <p:cNvPr id="8" name="Text 5"/>
          <p:cNvSpPr/>
          <p:nvPr/>
        </p:nvSpPr>
        <p:spPr>
          <a:xfrm>
            <a:off x="822960" y="1417320"/>
            <a:ext cx="3291840" cy="594360"/>
          </a:xfrm>
          <a:prstGeom prst="rect">
            <a:avLst/>
          </a:prstGeom>
          <a:noFill/>
          <a:ln/>
        </p:spPr>
        <p:txBody>
          <a:bodyPr wrap="square" lIns="0" tIns="0" rIns="0" bIns="0" rtlCol="0" anchor="ctr"/>
          <a:lstStyle/>
          <a:p>
            <a:pPr marL="0" indent="0">
              <a:buNone/>
            </a:pPr>
            <a:r>
              <a:rPr lang="en-US" sz="1150" dirty="0">
                <a:solidFill>
                  <a:srgbClr val="E8F0FF"/>
                </a:solidFill>
                <a:latin typeface="Calibri" pitchFamily="34" charset="0"/>
                <a:ea typeface="Calibri" pitchFamily="34" charset="-122"/>
                <a:cs typeface="Calibri" pitchFamily="34" charset="-120"/>
              </a:rPr>
              <a:t>Millions of customer reviews generated daily across platforms</a:t>
            </a:r>
            <a:endParaRPr lang="en-US" sz="1150" dirty="0"/>
          </a:p>
        </p:txBody>
      </p:sp>
      <p:sp>
        <p:nvSpPr>
          <p:cNvPr id="9" name="Shape 6"/>
          <p:cNvSpPr/>
          <p:nvPr/>
        </p:nvSpPr>
        <p:spPr>
          <a:xfrm>
            <a:off x="256032" y="2231136"/>
            <a:ext cx="457200" cy="457200"/>
          </a:xfrm>
          <a:prstGeom prst="ellipse">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pic>
        <p:nvPicPr>
          <p:cNvPr id="10" name="Image 1" descr="preencoded.png"/>
          <p:cNvPicPr>
            <a:picLocks noChangeAspect="1"/>
          </p:cNvPicPr>
          <p:nvPr/>
        </p:nvPicPr>
        <p:blipFill>
          <a:blip r:embed="rId4"/>
          <a:stretch>
            <a:fillRect/>
          </a:stretch>
        </p:blipFill>
        <p:spPr>
          <a:xfrm>
            <a:off x="320040" y="2276856"/>
            <a:ext cx="365760" cy="365760"/>
          </a:xfrm>
          <a:prstGeom prst="rect">
            <a:avLst/>
          </a:prstGeom>
          <a:noFill/>
        </p:spPr>
      </p:pic>
      <p:sp>
        <p:nvSpPr>
          <p:cNvPr id="11" name="Text 7"/>
          <p:cNvSpPr/>
          <p:nvPr/>
        </p:nvSpPr>
        <p:spPr>
          <a:xfrm>
            <a:off x="822960" y="2167128"/>
            <a:ext cx="3291840" cy="594360"/>
          </a:xfrm>
          <a:prstGeom prst="rect">
            <a:avLst/>
          </a:prstGeom>
          <a:noFill/>
          <a:ln/>
        </p:spPr>
        <p:txBody>
          <a:bodyPr wrap="square" lIns="0" tIns="0" rIns="0" bIns="0" rtlCol="0" anchor="ctr"/>
          <a:lstStyle/>
          <a:p>
            <a:pPr marL="0" indent="0">
              <a:buNone/>
            </a:pPr>
            <a:r>
              <a:rPr lang="en-US" sz="1150" dirty="0">
                <a:solidFill>
                  <a:srgbClr val="E8F0FF"/>
                </a:solidFill>
                <a:latin typeface="Calibri" pitchFamily="34" charset="0"/>
                <a:ea typeface="Calibri" pitchFamily="34" charset="-122"/>
                <a:cs typeface="Calibri" pitchFamily="34" charset="-120"/>
              </a:rPr>
              <a:t>Manual analysis is impossible at scale — too slow, too costly</a:t>
            </a:r>
            <a:endParaRPr lang="en-US" sz="1150" dirty="0"/>
          </a:p>
        </p:txBody>
      </p:sp>
      <p:sp>
        <p:nvSpPr>
          <p:cNvPr id="12" name="Shape 8"/>
          <p:cNvSpPr/>
          <p:nvPr/>
        </p:nvSpPr>
        <p:spPr>
          <a:xfrm>
            <a:off x="256032" y="2980944"/>
            <a:ext cx="457200" cy="457200"/>
          </a:xfrm>
          <a:prstGeom prst="ellipse">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pic>
        <p:nvPicPr>
          <p:cNvPr id="13" name="Image 2" descr="preencoded.png"/>
          <p:cNvPicPr>
            <a:picLocks noChangeAspect="1"/>
          </p:cNvPicPr>
          <p:nvPr/>
        </p:nvPicPr>
        <p:blipFill>
          <a:blip r:embed="rId5"/>
          <a:stretch>
            <a:fillRect/>
          </a:stretch>
        </p:blipFill>
        <p:spPr>
          <a:xfrm>
            <a:off x="301752" y="2999232"/>
            <a:ext cx="365760" cy="365760"/>
          </a:xfrm>
          <a:prstGeom prst="rect">
            <a:avLst/>
          </a:prstGeom>
        </p:spPr>
      </p:pic>
      <p:sp>
        <p:nvSpPr>
          <p:cNvPr id="14" name="Text 9"/>
          <p:cNvSpPr/>
          <p:nvPr/>
        </p:nvSpPr>
        <p:spPr>
          <a:xfrm>
            <a:off x="822960" y="2916936"/>
            <a:ext cx="3291840" cy="594360"/>
          </a:xfrm>
          <a:prstGeom prst="rect">
            <a:avLst/>
          </a:prstGeom>
          <a:noFill/>
          <a:ln/>
        </p:spPr>
        <p:txBody>
          <a:bodyPr wrap="square" lIns="0" tIns="0" rIns="0" bIns="0" rtlCol="0" anchor="ctr"/>
          <a:lstStyle/>
          <a:p>
            <a:pPr marL="0" indent="0">
              <a:buNone/>
            </a:pPr>
            <a:r>
              <a:rPr lang="en-US" sz="1150" dirty="0">
                <a:solidFill>
                  <a:srgbClr val="E8F0FF"/>
                </a:solidFill>
                <a:latin typeface="Calibri" pitchFamily="34" charset="0"/>
                <a:ea typeface="Calibri" pitchFamily="34" charset="-122"/>
                <a:cs typeface="Calibri" pitchFamily="34" charset="-120"/>
              </a:rPr>
              <a:t>Valuable business insights buried in unstructured text</a:t>
            </a:r>
            <a:endParaRPr lang="en-US" sz="1150" dirty="0"/>
          </a:p>
        </p:txBody>
      </p:sp>
      <p:sp>
        <p:nvSpPr>
          <p:cNvPr id="15" name="Shape 10"/>
          <p:cNvSpPr/>
          <p:nvPr/>
        </p:nvSpPr>
        <p:spPr>
          <a:xfrm>
            <a:off x="256032" y="3730752"/>
            <a:ext cx="457200" cy="457200"/>
          </a:xfrm>
          <a:prstGeom prst="ellipse">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pic>
        <p:nvPicPr>
          <p:cNvPr id="16" name="Image 3" descr="preencoded.png"/>
          <p:cNvPicPr>
            <a:picLocks noChangeAspect="1"/>
          </p:cNvPicPr>
          <p:nvPr/>
        </p:nvPicPr>
        <p:blipFill>
          <a:blip r:embed="rId6"/>
          <a:stretch>
            <a:fillRect/>
          </a:stretch>
        </p:blipFill>
        <p:spPr>
          <a:xfrm>
            <a:off x="301752" y="3749040"/>
            <a:ext cx="365760" cy="365760"/>
          </a:xfrm>
          <a:prstGeom prst="rect">
            <a:avLst/>
          </a:prstGeom>
        </p:spPr>
      </p:pic>
      <p:sp>
        <p:nvSpPr>
          <p:cNvPr id="17" name="Text 11"/>
          <p:cNvSpPr/>
          <p:nvPr/>
        </p:nvSpPr>
        <p:spPr>
          <a:xfrm>
            <a:off x="822960" y="3666744"/>
            <a:ext cx="3291840" cy="594360"/>
          </a:xfrm>
          <a:prstGeom prst="rect">
            <a:avLst/>
          </a:prstGeom>
          <a:noFill/>
          <a:ln/>
        </p:spPr>
        <p:txBody>
          <a:bodyPr wrap="square" lIns="0" tIns="0" rIns="0" bIns="0" rtlCol="0" anchor="ctr"/>
          <a:lstStyle/>
          <a:p>
            <a:pPr marL="0" indent="0">
              <a:buNone/>
            </a:pPr>
            <a:r>
              <a:rPr lang="en-US" sz="1150" dirty="0">
                <a:solidFill>
                  <a:srgbClr val="E8F0FF"/>
                </a:solidFill>
                <a:latin typeface="Calibri" pitchFamily="34" charset="0"/>
                <a:ea typeface="Calibri" pitchFamily="34" charset="-122"/>
                <a:cs typeface="Calibri" pitchFamily="34" charset="-120"/>
              </a:rPr>
              <a:t>Companies lack automated sentiment &amp; complaint extraction</a:t>
            </a:r>
            <a:endParaRPr lang="en-US" sz="1150" dirty="0"/>
          </a:p>
        </p:txBody>
      </p:sp>
      <p:sp>
        <p:nvSpPr>
          <p:cNvPr id="18" name="Text 12"/>
          <p:cNvSpPr/>
          <p:nvPr/>
        </p:nvSpPr>
        <p:spPr>
          <a:xfrm>
            <a:off x="4572000" y="320040"/>
            <a:ext cx="4206240" cy="457200"/>
          </a:xfrm>
          <a:prstGeom prst="rect">
            <a:avLst/>
          </a:prstGeom>
          <a:noFill/>
          <a:ln/>
        </p:spPr>
        <p:txBody>
          <a:bodyPr wrap="square" lIns="0" tIns="0" rIns="0" bIns="0" rtlCol="0" anchor="ctr"/>
          <a:lstStyle/>
          <a:p>
            <a:pPr marL="0" indent="0">
              <a:buNone/>
            </a:pPr>
            <a:r>
              <a:rPr lang="en-US" sz="2000" b="1" dirty="0">
                <a:solidFill>
                  <a:srgbClr val="132040"/>
                </a:solidFill>
                <a:latin typeface="Calibri" pitchFamily="34" charset="0"/>
                <a:ea typeface="Calibri" pitchFamily="34" charset="-122"/>
                <a:cs typeface="Calibri" pitchFamily="34" charset="-120"/>
              </a:rPr>
              <a:t>Why Automation Matters</a:t>
            </a:r>
            <a:endParaRPr lang="en-US" sz="2000" dirty="0"/>
          </a:p>
        </p:txBody>
      </p:sp>
      <p:sp>
        <p:nvSpPr>
          <p:cNvPr id="19" name="Shape 13"/>
          <p:cNvSpPr/>
          <p:nvPr/>
        </p:nvSpPr>
        <p:spPr>
          <a:xfrm>
            <a:off x="4572000" y="914400"/>
            <a:ext cx="4206240" cy="10972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a:p>
        </p:txBody>
      </p:sp>
      <p:sp>
        <p:nvSpPr>
          <p:cNvPr id="20" name="Shape 14"/>
          <p:cNvSpPr/>
          <p:nvPr/>
        </p:nvSpPr>
        <p:spPr>
          <a:xfrm>
            <a:off x="4572000" y="914400"/>
            <a:ext cx="64008" cy="1097280"/>
          </a:xfrm>
          <a:prstGeom prst="rect">
            <a:avLst/>
          </a:prstGeom>
          <a:solidFill>
            <a:srgbClr val="1E5EFF"/>
          </a:solidFill>
          <a:ln/>
        </p:spPr>
        <p:txBody>
          <a:bodyPr/>
          <a:lstStyle/>
          <a:p>
            <a:endParaRPr/>
          </a:p>
        </p:txBody>
      </p:sp>
      <p:sp>
        <p:nvSpPr>
          <p:cNvPr id="21" name="Text 15"/>
          <p:cNvSpPr/>
          <p:nvPr/>
        </p:nvSpPr>
        <p:spPr>
          <a:xfrm>
            <a:off x="4754880" y="1024128"/>
            <a:ext cx="1371600" cy="548640"/>
          </a:xfrm>
          <a:prstGeom prst="rect">
            <a:avLst/>
          </a:prstGeom>
          <a:noFill/>
          <a:ln/>
        </p:spPr>
        <p:txBody>
          <a:bodyPr wrap="square" lIns="0" tIns="0" rIns="0" bIns="0" rtlCol="0" anchor="ctr"/>
          <a:lstStyle/>
          <a:p>
            <a:pPr marL="0" indent="0">
              <a:buNone/>
            </a:pPr>
            <a:r>
              <a:rPr lang="en-US" sz="3000" b="1" dirty="0">
                <a:solidFill>
                  <a:srgbClr val="1E5EFF"/>
                </a:solidFill>
                <a:latin typeface="Calibri" pitchFamily="34" charset="0"/>
                <a:ea typeface="Calibri" pitchFamily="34" charset="-122"/>
                <a:cs typeface="Calibri" pitchFamily="34" charset="-120"/>
              </a:rPr>
              <a:t>93%</a:t>
            </a:r>
            <a:endParaRPr lang="en-US" sz="3000" dirty="0"/>
          </a:p>
        </p:txBody>
      </p:sp>
      <p:sp>
        <p:nvSpPr>
          <p:cNvPr id="22" name="Text 16"/>
          <p:cNvSpPr/>
          <p:nvPr/>
        </p:nvSpPr>
        <p:spPr>
          <a:xfrm>
            <a:off x="4754880" y="1508760"/>
            <a:ext cx="3840480" cy="411480"/>
          </a:xfrm>
          <a:prstGeom prst="rect">
            <a:avLst/>
          </a:prstGeom>
          <a:noFill/>
          <a:ln/>
        </p:spPr>
        <p:txBody>
          <a:bodyPr wrap="square" lIns="0" tIns="0" rIns="0" bIns="0" rtlCol="0" anchor="ctr"/>
          <a:lstStyle/>
          <a:p>
            <a:pPr marL="0" indent="0">
              <a:buNone/>
            </a:pPr>
            <a:r>
              <a:rPr lang="en-US" sz="1000" dirty="0">
                <a:solidFill>
                  <a:srgbClr val="132040"/>
                </a:solidFill>
                <a:latin typeface="Calibri" pitchFamily="34" charset="0"/>
                <a:ea typeface="Calibri" pitchFamily="34" charset="-122"/>
                <a:cs typeface="Calibri" pitchFamily="34" charset="-120"/>
              </a:rPr>
              <a:t>of consumers read online reviews before purchasing</a:t>
            </a:r>
            <a:endParaRPr lang="en-US" sz="1000" dirty="0"/>
          </a:p>
        </p:txBody>
      </p:sp>
      <p:sp>
        <p:nvSpPr>
          <p:cNvPr id="23" name="Shape 17"/>
          <p:cNvSpPr/>
          <p:nvPr/>
        </p:nvSpPr>
        <p:spPr>
          <a:xfrm>
            <a:off x="4572000" y="2194560"/>
            <a:ext cx="4206240" cy="10972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a:p>
        </p:txBody>
      </p:sp>
      <p:sp>
        <p:nvSpPr>
          <p:cNvPr id="24" name="Shape 18"/>
          <p:cNvSpPr/>
          <p:nvPr/>
        </p:nvSpPr>
        <p:spPr>
          <a:xfrm>
            <a:off x="4572000" y="2194560"/>
            <a:ext cx="64008" cy="1097280"/>
          </a:xfrm>
          <a:prstGeom prst="rect">
            <a:avLst/>
          </a:prstGeom>
          <a:solidFill>
            <a:srgbClr val="00C8FF"/>
          </a:solidFill>
          <a:ln/>
        </p:spPr>
        <p:txBody>
          <a:bodyPr/>
          <a:lstStyle/>
          <a:p>
            <a:endParaRPr/>
          </a:p>
        </p:txBody>
      </p:sp>
      <p:sp>
        <p:nvSpPr>
          <p:cNvPr id="25" name="Text 19"/>
          <p:cNvSpPr/>
          <p:nvPr/>
        </p:nvSpPr>
        <p:spPr>
          <a:xfrm>
            <a:off x="4754880" y="2304288"/>
            <a:ext cx="1371600" cy="548640"/>
          </a:xfrm>
          <a:prstGeom prst="rect">
            <a:avLst/>
          </a:prstGeom>
          <a:noFill/>
          <a:ln/>
        </p:spPr>
        <p:txBody>
          <a:bodyPr wrap="square" lIns="0" tIns="0" rIns="0" bIns="0" rtlCol="0" anchor="ctr"/>
          <a:lstStyle/>
          <a:p>
            <a:pPr marL="0" indent="0">
              <a:buNone/>
            </a:pPr>
            <a:r>
              <a:rPr lang="en-US" sz="3000" b="1" dirty="0">
                <a:solidFill>
                  <a:srgbClr val="00C8FF"/>
                </a:solidFill>
                <a:latin typeface="Calibri" pitchFamily="34" charset="0"/>
                <a:ea typeface="Calibri" pitchFamily="34" charset="-122"/>
                <a:cs typeface="Calibri" pitchFamily="34" charset="-120"/>
              </a:rPr>
              <a:t>87%</a:t>
            </a:r>
            <a:endParaRPr lang="en-US" sz="3000" dirty="0"/>
          </a:p>
        </p:txBody>
      </p:sp>
      <p:sp>
        <p:nvSpPr>
          <p:cNvPr id="26" name="Text 20"/>
          <p:cNvSpPr/>
          <p:nvPr/>
        </p:nvSpPr>
        <p:spPr>
          <a:xfrm>
            <a:off x="4754880" y="2788920"/>
            <a:ext cx="3840480" cy="411480"/>
          </a:xfrm>
          <a:prstGeom prst="rect">
            <a:avLst/>
          </a:prstGeom>
          <a:noFill/>
          <a:ln/>
        </p:spPr>
        <p:txBody>
          <a:bodyPr wrap="square" lIns="0" tIns="0" rIns="0" bIns="0" rtlCol="0" anchor="ctr"/>
          <a:lstStyle/>
          <a:p>
            <a:pPr marL="0" indent="0">
              <a:buNone/>
            </a:pPr>
            <a:r>
              <a:rPr lang="en-US" sz="1000" dirty="0">
                <a:solidFill>
                  <a:srgbClr val="132040"/>
                </a:solidFill>
                <a:latin typeface="Calibri" pitchFamily="34" charset="0"/>
                <a:ea typeface="Calibri" pitchFamily="34" charset="-122"/>
                <a:cs typeface="Calibri" pitchFamily="34" charset="-120"/>
              </a:rPr>
              <a:t>of companies say review monitoring is a competitive priority</a:t>
            </a:r>
            <a:endParaRPr lang="en-US" sz="1000" dirty="0"/>
          </a:p>
        </p:txBody>
      </p:sp>
      <p:sp>
        <p:nvSpPr>
          <p:cNvPr id="27" name="Shape 21"/>
          <p:cNvSpPr/>
          <p:nvPr/>
        </p:nvSpPr>
        <p:spPr>
          <a:xfrm>
            <a:off x="4572000" y="3474720"/>
            <a:ext cx="4206240" cy="10972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a:p>
        </p:txBody>
      </p:sp>
      <p:sp>
        <p:nvSpPr>
          <p:cNvPr id="28" name="Shape 22"/>
          <p:cNvSpPr/>
          <p:nvPr/>
        </p:nvSpPr>
        <p:spPr>
          <a:xfrm>
            <a:off x="4572000" y="3474720"/>
            <a:ext cx="64008" cy="1097280"/>
          </a:xfrm>
          <a:prstGeom prst="rect">
            <a:avLst/>
          </a:prstGeom>
          <a:solidFill>
            <a:srgbClr val="A78BFA"/>
          </a:solidFill>
          <a:ln/>
        </p:spPr>
        <p:txBody>
          <a:bodyPr/>
          <a:lstStyle/>
          <a:p>
            <a:endParaRPr/>
          </a:p>
        </p:txBody>
      </p:sp>
      <p:sp>
        <p:nvSpPr>
          <p:cNvPr id="29" name="Text 23"/>
          <p:cNvSpPr/>
          <p:nvPr/>
        </p:nvSpPr>
        <p:spPr>
          <a:xfrm>
            <a:off x="4754880" y="3584448"/>
            <a:ext cx="1371600" cy="548640"/>
          </a:xfrm>
          <a:prstGeom prst="rect">
            <a:avLst/>
          </a:prstGeom>
          <a:noFill/>
          <a:ln/>
        </p:spPr>
        <p:txBody>
          <a:bodyPr wrap="square" lIns="0" tIns="0" rIns="0" bIns="0" rtlCol="0" anchor="ctr"/>
          <a:lstStyle/>
          <a:p>
            <a:pPr marL="0" indent="0">
              <a:buNone/>
            </a:pPr>
            <a:r>
              <a:rPr lang="en-US" sz="3000" b="1" dirty="0">
                <a:solidFill>
                  <a:srgbClr val="A78BFA"/>
                </a:solidFill>
                <a:latin typeface="Calibri" pitchFamily="34" charset="0"/>
                <a:ea typeface="Calibri" pitchFamily="34" charset="-122"/>
                <a:cs typeface="Calibri" pitchFamily="34" charset="-120"/>
              </a:rPr>
              <a:t>3.5B</a:t>
            </a:r>
            <a:endParaRPr lang="en-US" sz="3000" dirty="0"/>
          </a:p>
        </p:txBody>
      </p:sp>
      <p:sp>
        <p:nvSpPr>
          <p:cNvPr id="30" name="Text 24"/>
          <p:cNvSpPr/>
          <p:nvPr/>
        </p:nvSpPr>
        <p:spPr>
          <a:xfrm>
            <a:off x="4754880" y="4069080"/>
            <a:ext cx="3840480" cy="411480"/>
          </a:xfrm>
          <a:prstGeom prst="rect">
            <a:avLst/>
          </a:prstGeom>
          <a:noFill/>
          <a:ln/>
        </p:spPr>
        <p:txBody>
          <a:bodyPr wrap="square" lIns="0" tIns="0" rIns="0" bIns="0" rtlCol="0" anchor="ctr"/>
          <a:lstStyle/>
          <a:p>
            <a:pPr marL="0" indent="0">
              <a:buNone/>
            </a:pPr>
            <a:r>
              <a:rPr lang="en-US" sz="1000" dirty="0">
                <a:solidFill>
                  <a:srgbClr val="132040"/>
                </a:solidFill>
                <a:latin typeface="Calibri" pitchFamily="34" charset="0"/>
                <a:ea typeface="Calibri" pitchFamily="34" charset="-122"/>
                <a:cs typeface="Calibri" pitchFamily="34" charset="-120"/>
              </a:rPr>
              <a:t>product reviews analyzed daily by top e-commerce platforms</a:t>
            </a:r>
            <a:endParaRPr lang="en-US" sz="1000" dirty="0"/>
          </a:p>
        </p:txBody>
      </p:sp>
      <p:sp>
        <p:nvSpPr>
          <p:cNvPr id="31" name="Shape 25"/>
          <p:cNvSpPr/>
          <p:nvPr/>
        </p:nvSpPr>
        <p:spPr>
          <a:xfrm>
            <a:off x="4572000" y="4663440"/>
            <a:ext cx="4206240" cy="347472"/>
          </a:xfrm>
          <a:prstGeom prst="rect">
            <a:avLst/>
          </a:prstGeom>
          <a:solidFill>
            <a:srgbClr val="1E5EFF"/>
          </a:solidFill>
          <a:ln/>
        </p:spPr>
        <p:txBody>
          <a:bodyPr/>
          <a:lstStyle/>
          <a:p>
            <a:endParaRPr/>
          </a:p>
        </p:txBody>
      </p:sp>
      <p:sp>
        <p:nvSpPr>
          <p:cNvPr id="32" name="Text 26"/>
          <p:cNvSpPr/>
          <p:nvPr/>
        </p:nvSpPr>
        <p:spPr>
          <a:xfrm>
            <a:off x="4572000" y="4663440"/>
            <a:ext cx="4206240" cy="347472"/>
          </a:xfrm>
          <a:prstGeom prst="rect">
            <a:avLst/>
          </a:prstGeom>
          <a:noFill/>
          <a:ln/>
        </p:spPr>
        <p:txBody>
          <a:bodyPr wrap="square" lIns="0" tIns="0" rIns="0" bIns="0" rtlCol="0" anchor="ctr"/>
          <a:lstStyle/>
          <a:p>
            <a:pPr marL="0" indent="0" algn="ctr">
              <a:buNone/>
            </a:pPr>
            <a:r>
              <a:rPr lang="en-US" sz="1000" b="1" dirty="0">
                <a:solidFill>
                  <a:srgbClr val="FFFFFF"/>
                </a:solidFill>
              </a:rPr>
              <a:t>Our solution: AI-powered automated review intelligence</a:t>
            </a:r>
            <a:endParaRPr lang="en-US" sz="1000" dirty="0"/>
          </a:p>
        </p:txBody>
      </p:sp>
      <p:sp>
        <p:nvSpPr>
          <p:cNvPr id="33" name="TextBox 32"/>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2"/>
          <p:cNvSpPr/>
          <p:nvPr/>
        </p:nvSpPr>
        <p:spPr>
          <a:xfrm>
            <a:off x="365760" y="91440"/>
            <a:ext cx="54864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Project Objectives</a:t>
            </a:r>
            <a:endParaRPr lang="en-US" sz="2600" dirty="0"/>
          </a:p>
        </p:txBody>
      </p:sp>
      <p:sp>
        <p:nvSpPr>
          <p:cNvPr id="5" name="Text 3"/>
          <p:cNvSpPr/>
          <p:nvPr/>
        </p:nvSpPr>
        <p:spPr>
          <a:xfrm>
            <a:off x="365760" y="594360"/>
            <a:ext cx="6400800" cy="320040"/>
          </a:xfrm>
          <a:prstGeom prst="rect">
            <a:avLst/>
          </a:prstGeom>
          <a:noFill/>
          <a:ln/>
        </p:spPr>
        <p:txBody>
          <a:bodyPr wrap="square" lIns="0" tIns="0" rIns="0" bIns="0" rtlCol="0" anchor="ctr"/>
          <a:lstStyle/>
          <a:p>
            <a:pPr marL="0" indent="0">
              <a:buNone/>
            </a:pPr>
            <a:r>
              <a:rPr lang="en-US" sz="1200" i="1" dirty="0">
                <a:solidFill>
                  <a:srgbClr val="00C8FF"/>
                </a:solidFill>
              </a:rPr>
              <a:t>End-to-End Automated Review Intelligence Workflow</a:t>
            </a:r>
            <a:endParaRPr lang="en-US" sz="1200" dirty="0"/>
          </a:p>
        </p:txBody>
      </p:sp>
      <p:sp>
        <p:nvSpPr>
          <p:cNvPr id="6" name="Shape 4"/>
          <p:cNvSpPr/>
          <p:nvPr/>
        </p:nvSpPr>
        <p:spPr>
          <a:xfrm>
            <a:off x="182880" y="1097280"/>
            <a:ext cx="1600200" cy="2926080"/>
          </a:xfrm>
          <a:prstGeom prst="rect">
            <a:avLst/>
          </a:prstGeom>
          <a:solidFill>
            <a:srgbClr val="102035"/>
          </a:solidFill>
          <a:ln/>
          <a:effectLst>
            <a:outerShdw blurRad="127000" dist="38100" dir="8100000" algn="bl" rotWithShape="0">
              <a:srgbClr val="000000">
                <a:alpha val="25000"/>
              </a:srgbClr>
            </a:outerShdw>
          </a:effectLst>
        </p:spPr>
        <p:txBody>
          <a:bodyPr/>
          <a:lstStyle/>
          <a:p>
            <a:endParaRPr/>
          </a:p>
        </p:txBody>
      </p:sp>
      <p:sp>
        <p:nvSpPr>
          <p:cNvPr id="7" name="Shape 5"/>
          <p:cNvSpPr/>
          <p:nvPr/>
        </p:nvSpPr>
        <p:spPr>
          <a:xfrm>
            <a:off x="182880" y="1097280"/>
            <a:ext cx="1600200" cy="64008"/>
          </a:xfrm>
          <a:prstGeom prst="rect">
            <a:avLst/>
          </a:prstGeom>
          <a:solidFill>
            <a:srgbClr val="1E5EFF"/>
          </a:solidFill>
          <a:ln/>
        </p:spPr>
        <p:txBody>
          <a:bodyPr/>
          <a:lstStyle/>
          <a:p>
            <a:endParaRPr/>
          </a:p>
        </p:txBody>
      </p:sp>
      <p:sp>
        <p:nvSpPr>
          <p:cNvPr id="8" name="Shape 6"/>
          <p:cNvSpPr/>
          <p:nvPr/>
        </p:nvSpPr>
        <p:spPr>
          <a:xfrm>
            <a:off x="704088" y="1261872"/>
            <a:ext cx="548640" cy="548640"/>
          </a:xfrm>
          <a:prstGeom prst="ellipse">
            <a:avLst/>
          </a:prstGeom>
          <a:solidFill>
            <a:srgbClr val="1E5EFF"/>
          </a:solidFill>
          <a:ln/>
        </p:spPr>
        <p:txBody>
          <a:bodyPr/>
          <a:lstStyle/>
          <a:p>
            <a:endParaRPr/>
          </a:p>
        </p:txBody>
      </p:sp>
      <p:sp>
        <p:nvSpPr>
          <p:cNvPr id="9" name="Text 7"/>
          <p:cNvSpPr/>
          <p:nvPr/>
        </p:nvSpPr>
        <p:spPr>
          <a:xfrm>
            <a:off x="704088" y="126187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pic>
        <p:nvPicPr>
          <p:cNvPr id="10" name="Image 0" descr="preencoded.png"/>
          <p:cNvPicPr>
            <a:picLocks noChangeAspect="1"/>
          </p:cNvPicPr>
          <p:nvPr/>
        </p:nvPicPr>
        <p:blipFill>
          <a:blip r:embed="rId3"/>
          <a:stretch>
            <a:fillRect/>
          </a:stretch>
        </p:blipFill>
        <p:spPr>
          <a:xfrm>
            <a:off x="758952" y="1965960"/>
            <a:ext cx="457200" cy="457200"/>
          </a:xfrm>
          <a:prstGeom prst="rect">
            <a:avLst/>
          </a:prstGeom>
        </p:spPr>
      </p:pic>
      <p:sp>
        <p:nvSpPr>
          <p:cNvPr id="11" name="Text 8"/>
          <p:cNvSpPr/>
          <p:nvPr/>
        </p:nvSpPr>
        <p:spPr>
          <a:xfrm>
            <a:off x="256032" y="2560320"/>
            <a:ext cx="1453896" cy="384048"/>
          </a:xfrm>
          <a:prstGeom prst="rect">
            <a:avLst/>
          </a:prstGeom>
          <a:noFill/>
          <a:ln/>
        </p:spPr>
        <p:txBody>
          <a:bodyPr wrap="square" lIns="0" tIns="0" rIns="0" bIns="0" rtlCol="0" anchor="ctr"/>
          <a:lstStyle/>
          <a:p>
            <a:pPr marL="0" indent="0" algn="ctr">
              <a:buNone/>
            </a:pPr>
            <a:r>
              <a:rPr lang="en-US" sz="1400" b="1" dirty="0">
                <a:solidFill>
                  <a:srgbClr val="1E5EFF"/>
                </a:solidFill>
                <a:latin typeface="Calibri" pitchFamily="34" charset="0"/>
                <a:ea typeface="Calibri" pitchFamily="34" charset="-122"/>
                <a:cs typeface="Calibri" pitchFamily="34" charset="-120"/>
              </a:rPr>
              <a:t>Collect</a:t>
            </a:r>
            <a:endParaRPr lang="en-US" sz="1400" dirty="0"/>
          </a:p>
        </p:txBody>
      </p:sp>
      <p:sp>
        <p:nvSpPr>
          <p:cNvPr id="12" name="Text 9"/>
          <p:cNvSpPr/>
          <p:nvPr/>
        </p:nvSpPr>
        <p:spPr>
          <a:xfrm>
            <a:off x="274320" y="2971800"/>
            <a:ext cx="1417320" cy="914400"/>
          </a:xfrm>
          <a:prstGeom prst="rect">
            <a:avLst/>
          </a:prstGeom>
          <a:noFill/>
          <a:ln/>
        </p:spPr>
        <p:txBody>
          <a:bodyPr wrap="square" lIns="0" tIns="0" rIns="0" bIns="0" rtlCol="0" anchor="ctr"/>
          <a:lstStyle/>
          <a:p>
            <a:pPr marL="0" indent="0" algn="ctr">
              <a:buNone/>
            </a:pPr>
            <a:r>
              <a:rPr lang="en-US" sz="950" dirty="0">
                <a:solidFill>
                  <a:srgbClr val="7A9CC0"/>
                </a:solidFill>
                <a:latin typeface="Calibri" pitchFamily="34" charset="0"/>
                <a:ea typeface="Calibri" pitchFamily="34" charset="-122"/>
                <a:cs typeface="Calibri" pitchFamily="34" charset="-120"/>
              </a:rPr>
              <a:t>Gather product reviews from Amazon or user input</a:t>
            </a:r>
            <a:endParaRPr lang="en-US" sz="950" dirty="0"/>
          </a:p>
        </p:txBody>
      </p:sp>
      <p:sp>
        <p:nvSpPr>
          <p:cNvPr id="13" name="Shape 10"/>
          <p:cNvSpPr/>
          <p:nvPr/>
        </p:nvSpPr>
        <p:spPr>
          <a:xfrm>
            <a:off x="1801368" y="2487168"/>
            <a:ext cx="91440" cy="54864"/>
          </a:xfrm>
          <a:prstGeom prst="rect">
            <a:avLst/>
          </a:prstGeom>
          <a:solidFill>
            <a:srgbClr val="3A5070"/>
          </a:solidFill>
          <a:ln/>
        </p:spPr>
        <p:txBody>
          <a:bodyPr/>
          <a:lstStyle/>
          <a:p>
            <a:endParaRPr/>
          </a:p>
        </p:txBody>
      </p:sp>
      <p:sp>
        <p:nvSpPr>
          <p:cNvPr id="14" name="Text 11"/>
          <p:cNvSpPr/>
          <p:nvPr/>
        </p:nvSpPr>
        <p:spPr>
          <a:xfrm>
            <a:off x="1828800" y="2395728"/>
            <a:ext cx="91440" cy="237744"/>
          </a:xfrm>
          <a:prstGeom prst="rect">
            <a:avLst/>
          </a:prstGeom>
          <a:noFill/>
          <a:ln/>
        </p:spPr>
        <p:txBody>
          <a:bodyPr wrap="square" lIns="0" tIns="0" rIns="0" bIns="0" rtlCol="0" anchor="ctr"/>
          <a:lstStyle/>
          <a:p>
            <a:pPr marL="0" indent="0" algn="ctr">
              <a:buNone/>
            </a:pPr>
            <a:r>
              <a:rPr lang="en-US" sz="1200" dirty="0">
                <a:solidFill>
                  <a:srgbClr val="3A5070"/>
                </a:solidFill>
              </a:rPr>
              <a:t>▶</a:t>
            </a:r>
            <a:endParaRPr lang="en-US" sz="1200" dirty="0"/>
          </a:p>
        </p:txBody>
      </p:sp>
      <p:sp>
        <p:nvSpPr>
          <p:cNvPr id="15" name="Shape 12"/>
          <p:cNvSpPr/>
          <p:nvPr/>
        </p:nvSpPr>
        <p:spPr>
          <a:xfrm>
            <a:off x="1965960" y="1097280"/>
            <a:ext cx="1600200" cy="2926080"/>
          </a:xfrm>
          <a:prstGeom prst="rect">
            <a:avLst/>
          </a:prstGeom>
          <a:solidFill>
            <a:srgbClr val="102035"/>
          </a:solidFill>
          <a:ln/>
          <a:effectLst>
            <a:outerShdw blurRad="127000" dist="38100" dir="8100000" algn="bl" rotWithShape="0">
              <a:srgbClr val="000000">
                <a:alpha val="25000"/>
              </a:srgbClr>
            </a:outerShdw>
          </a:effectLst>
        </p:spPr>
        <p:txBody>
          <a:bodyPr/>
          <a:lstStyle/>
          <a:p>
            <a:endParaRPr/>
          </a:p>
        </p:txBody>
      </p:sp>
      <p:sp>
        <p:nvSpPr>
          <p:cNvPr id="16" name="Shape 13"/>
          <p:cNvSpPr/>
          <p:nvPr/>
        </p:nvSpPr>
        <p:spPr>
          <a:xfrm>
            <a:off x="1965960" y="1097280"/>
            <a:ext cx="1600200" cy="64008"/>
          </a:xfrm>
          <a:prstGeom prst="rect">
            <a:avLst/>
          </a:prstGeom>
          <a:solidFill>
            <a:srgbClr val="A78BFA"/>
          </a:solidFill>
          <a:ln/>
        </p:spPr>
        <p:txBody>
          <a:bodyPr/>
          <a:lstStyle/>
          <a:p>
            <a:endParaRPr/>
          </a:p>
        </p:txBody>
      </p:sp>
      <p:sp>
        <p:nvSpPr>
          <p:cNvPr id="17" name="Shape 14"/>
          <p:cNvSpPr/>
          <p:nvPr/>
        </p:nvSpPr>
        <p:spPr>
          <a:xfrm>
            <a:off x="2487168" y="1261872"/>
            <a:ext cx="548640" cy="548640"/>
          </a:xfrm>
          <a:prstGeom prst="ellipse">
            <a:avLst/>
          </a:prstGeom>
          <a:solidFill>
            <a:srgbClr val="A78BFA"/>
          </a:solidFill>
          <a:ln/>
        </p:spPr>
        <p:txBody>
          <a:bodyPr/>
          <a:lstStyle/>
          <a:p>
            <a:endParaRPr/>
          </a:p>
        </p:txBody>
      </p:sp>
      <p:sp>
        <p:nvSpPr>
          <p:cNvPr id="18" name="Text 15"/>
          <p:cNvSpPr/>
          <p:nvPr/>
        </p:nvSpPr>
        <p:spPr>
          <a:xfrm>
            <a:off x="2487168" y="126187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pic>
        <p:nvPicPr>
          <p:cNvPr id="19" name="Image 1" descr="preencoded.png"/>
          <p:cNvPicPr>
            <a:picLocks noChangeAspect="1"/>
          </p:cNvPicPr>
          <p:nvPr/>
        </p:nvPicPr>
        <p:blipFill>
          <a:blip r:embed="rId4"/>
          <a:stretch>
            <a:fillRect/>
          </a:stretch>
        </p:blipFill>
        <p:spPr>
          <a:xfrm>
            <a:off x="2542032" y="1965960"/>
            <a:ext cx="457200" cy="457200"/>
          </a:xfrm>
          <a:prstGeom prst="rect">
            <a:avLst/>
          </a:prstGeom>
        </p:spPr>
      </p:pic>
      <p:sp>
        <p:nvSpPr>
          <p:cNvPr id="20" name="Text 16"/>
          <p:cNvSpPr/>
          <p:nvPr/>
        </p:nvSpPr>
        <p:spPr>
          <a:xfrm>
            <a:off x="2039112" y="2560320"/>
            <a:ext cx="1453896" cy="384048"/>
          </a:xfrm>
          <a:prstGeom prst="rect">
            <a:avLst/>
          </a:prstGeom>
          <a:noFill/>
          <a:ln/>
        </p:spPr>
        <p:txBody>
          <a:bodyPr wrap="square" lIns="0" tIns="0" rIns="0" bIns="0" rtlCol="0" anchor="ctr"/>
          <a:lstStyle/>
          <a:p>
            <a:pPr marL="0" indent="0" algn="ctr">
              <a:buNone/>
            </a:pPr>
            <a:r>
              <a:rPr lang="en-US" sz="1400" b="1" dirty="0">
                <a:solidFill>
                  <a:srgbClr val="A78BFA"/>
                </a:solidFill>
                <a:latin typeface="Calibri" pitchFamily="34" charset="0"/>
                <a:ea typeface="Calibri" pitchFamily="34" charset="-122"/>
                <a:cs typeface="Calibri" pitchFamily="34" charset="-120"/>
              </a:rPr>
              <a:t>Analyse</a:t>
            </a:r>
            <a:endParaRPr lang="en-US" sz="1400" dirty="0"/>
          </a:p>
        </p:txBody>
      </p:sp>
      <p:sp>
        <p:nvSpPr>
          <p:cNvPr id="21" name="Text 17"/>
          <p:cNvSpPr/>
          <p:nvPr/>
        </p:nvSpPr>
        <p:spPr>
          <a:xfrm>
            <a:off x="2057400" y="2971800"/>
            <a:ext cx="1417320" cy="914400"/>
          </a:xfrm>
          <a:prstGeom prst="rect">
            <a:avLst/>
          </a:prstGeom>
          <a:noFill/>
          <a:ln/>
        </p:spPr>
        <p:txBody>
          <a:bodyPr wrap="square" lIns="0" tIns="0" rIns="0" bIns="0" rtlCol="0" anchor="ctr"/>
          <a:lstStyle/>
          <a:p>
            <a:pPr marL="0" indent="0" algn="ctr">
              <a:buNone/>
            </a:pPr>
            <a:r>
              <a:rPr lang="en-US" sz="950" dirty="0">
                <a:solidFill>
                  <a:srgbClr val="7A9CC0"/>
                </a:solidFill>
                <a:latin typeface="Calibri" pitchFamily="34" charset="0"/>
                <a:ea typeface="Calibri" pitchFamily="34" charset="-122"/>
                <a:cs typeface="Calibri" pitchFamily="34" charset="-120"/>
              </a:rPr>
              <a:t>Run fine-tuned DistilBERT for sentiment classification</a:t>
            </a:r>
            <a:endParaRPr lang="en-US" sz="950" dirty="0"/>
          </a:p>
        </p:txBody>
      </p:sp>
      <p:sp>
        <p:nvSpPr>
          <p:cNvPr id="22" name="Shape 18"/>
          <p:cNvSpPr/>
          <p:nvPr/>
        </p:nvSpPr>
        <p:spPr>
          <a:xfrm>
            <a:off x="3584448" y="2487168"/>
            <a:ext cx="91440" cy="54864"/>
          </a:xfrm>
          <a:prstGeom prst="rect">
            <a:avLst/>
          </a:prstGeom>
          <a:solidFill>
            <a:srgbClr val="3A5070"/>
          </a:solidFill>
          <a:ln/>
        </p:spPr>
        <p:txBody>
          <a:bodyPr/>
          <a:lstStyle/>
          <a:p>
            <a:endParaRPr/>
          </a:p>
        </p:txBody>
      </p:sp>
      <p:sp>
        <p:nvSpPr>
          <p:cNvPr id="23" name="Text 19"/>
          <p:cNvSpPr/>
          <p:nvPr/>
        </p:nvSpPr>
        <p:spPr>
          <a:xfrm>
            <a:off x="3611880" y="2395728"/>
            <a:ext cx="91440" cy="237744"/>
          </a:xfrm>
          <a:prstGeom prst="rect">
            <a:avLst/>
          </a:prstGeom>
          <a:noFill/>
          <a:ln/>
        </p:spPr>
        <p:txBody>
          <a:bodyPr wrap="square" lIns="0" tIns="0" rIns="0" bIns="0" rtlCol="0" anchor="ctr"/>
          <a:lstStyle/>
          <a:p>
            <a:pPr marL="0" indent="0" algn="ctr">
              <a:buNone/>
            </a:pPr>
            <a:r>
              <a:rPr lang="en-US" sz="1200" dirty="0">
                <a:solidFill>
                  <a:srgbClr val="3A5070"/>
                </a:solidFill>
              </a:rPr>
              <a:t>▶</a:t>
            </a:r>
            <a:endParaRPr lang="en-US" sz="1200" dirty="0"/>
          </a:p>
        </p:txBody>
      </p:sp>
      <p:sp>
        <p:nvSpPr>
          <p:cNvPr id="24" name="Shape 20"/>
          <p:cNvSpPr/>
          <p:nvPr/>
        </p:nvSpPr>
        <p:spPr>
          <a:xfrm>
            <a:off x="3749040" y="1097280"/>
            <a:ext cx="1600200" cy="2926080"/>
          </a:xfrm>
          <a:prstGeom prst="rect">
            <a:avLst/>
          </a:prstGeom>
          <a:solidFill>
            <a:srgbClr val="102035"/>
          </a:solidFill>
          <a:ln/>
          <a:effectLst>
            <a:outerShdw blurRad="127000" dist="38100" dir="8100000" algn="bl" rotWithShape="0">
              <a:srgbClr val="000000">
                <a:alpha val="25000"/>
              </a:srgbClr>
            </a:outerShdw>
          </a:effectLst>
        </p:spPr>
        <p:txBody>
          <a:bodyPr/>
          <a:lstStyle/>
          <a:p>
            <a:endParaRPr/>
          </a:p>
        </p:txBody>
      </p:sp>
      <p:sp>
        <p:nvSpPr>
          <p:cNvPr id="25" name="Shape 21"/>
          <p:cNvSpPr/>
          <p:nvPr/>
        </p:nvSpPr>
        <p:spPr>
          <a:xfrm>
            <a:off x="3749040" y="1097280"/>
            <a:ext cx="1600200" cy="64008"/>
          </a:xfrm>
          <a:prstGeom prst="rect">
            <a:avLst/>
          </a:prstGeom>
          <a:solidFill>
            <a:srgbClr val="00C8FF"/>
          </a:solidFill>
          <a:ln/>
        </p:spPr>
        <p:txBody>
          <a:bodyPr/>
          <a:lstStyle/>
          <a:p>
            <a:endParaRPr/>
          </a:p>
        </p:txBody>
      </p:sp>
      <p:sp>
        <p:nvSpPr>
          <p:cNvPr id="26" name="Shape 22"/>
          <p:cNvSpPr/>
          <p:nvPr/>
        </p:nvSpPr>
        <p:spPr>
          <a:xfrm>
            <a:off x="4270248" y="1261872"/>
            <a:ext cx="548640" cy="548640"/>
          </a:xfrm>
          <a:prstGeom prst="ellipse">
            <a:avLst/>
          </a:prstGeom>
          <a:solidFill>
            <a:srgbClr val="00C8FF"/>
          </a:solidFill>
          <a:ln/>
        </p:spPr>
        <p:txBody>
          <a:bodyPr/>
          <a:lstStyle/>
          <a:p>
            <a:endParaRPr/>
          </a:p>
        </p:txBody>
      </p:sp>
      <p:sp>
        <p:nvSpPr>
          <p:cNvPr id="27" name="Text 23"/>
          <p:cNvSpPr/>
          <p:nvPr/>
        </p:nvSpPr>
        <p:spPr>
          <a:xfrm>
            <a:off x="4270248" y="126187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pic>
        <p:nvPicPr>
          <p:cNvPr id="28" name="Image 2" descr="preencoded.png"/>
          <p:cNvPicPr>
            <a:picLocks noChangeAspect="1"/>
          </p:cNvPicPr>
          <p:nvPr/>
        </p:nvPicPr>
        <p:blipFill>
          <a:blip r:embed="rId5"/>
          <a:stretch>
            <a:fillRect/>
          </a:stretch>
        </p:blipFill>
        <p:spPr>
          <a:xfrm>
            <a:off x="4325112" y="1965960"/>
            <a:ext cx="457200" cy="457200"/>
          </a:xfrm>
          <a:prstGeom prst="rect">
            <a:avLst/>
          </a:prstGeom>
        </p:spPr>
      </p:pic>
      <p:sp>
        <p:nvSpPr>
          <p:cNvPr id="29" name="Text 24"/>
          <p:cNvSpPr/>
          <p:nvPr/>
        </p:nvSpPr>
        <p:spPr>
          <a:xfrm>
            <a:off x="3822192" y="2560320"/>
            <a:ext cx="1453896" cy="384048"/>
          </a:xfrm>
          <a:prstGeom prst="rect">
            <a:avLst/>
          </a:prstGeom>
          <a:noFill/>
          <a:ln/>
        </p:spPr>
        <p:txBody>
          <a:bodyPr wrap="square" lIns="0" tIns="0" rIns="0" bIns="0" rtlCol="0" anchor="ctr"/>
          <a:lstStyle/>
          <a:p>
            <a:pPr marL="0" indent="0" algn="ctr">
              <a:buNone/>
            </a:pPr>
            <a:r>
              <a:rPr lang="en-US" sz="1400" b="1" dirty="0">
                <a:solidFill>
                  <a:srgbClr val="00C8FF"/>
                </a:solidFill>
                <a:latin typeface="Calibri" pitchFamily="34" charset="0"/>
                <a:ea typeface="Calibri" pitchFamily="34" charset="-122"/>
                <a:cs typeface="Calibri" pitchFamily="34" charset="-120"/>
              </a:rPr>
              <a:t>Extract</a:t>
            </a:r>
            <a:endParaRPr lang="en-US" sz="1400" dirty="0"/>
          </a:p>
        </p:txBody>
      </p:sp>
      <p:sp>
        <p:nvSpPr>
          <p:cNvPr id="30" name="Text 25"/>
          <p:cNvSpPr/>
          <p:nvPr/>
        </p:nvSpPr>
        <p:spPr>
          <a:xfrm>
            <a:off x="3840480" y="2971800"/>
            <a:ext cx="1417320" cy="914400"/>
          </a:xfrm>
          <a:prstGeom prst="rect">
            <a:avLst/>
          </a:prstGeom>
          <a:noFill/>
          <a:ln/>
        </p:spPr>
        <p:txBody>
          <a:bodyPr wrap="square" lIns="0" tIns="0" rIns="0" bIns="0" rtlCol="0" anchor="ctr"/>
          <a:lstStyle/>
          <a:p>
            <a:pPr marL="0" indent="0" algn="ctr">
              <a:buNone/>
            </a:pPr>
            <a:r>
              <a:rPr lang="en-US" sz="950" dirty="0">
                <a:solidFill>
                  <a:srgbClr val="7A9CC0"/>
                </a:solidFill>
                <a:latin typeface="Calibri" pitchFamily="34" charset="0"/>
                <a:ea typeface="Calibri" pitchFamily="34" charset="-122"/>
                <a:cs typeface="Calibri" pitchFamily="34" charset="-120"/>
              </a:rPr>
              <a:t>Identify strengths, complaints &amp; key patterns</a:t>
            </a:r>
            <a:endParaRPr lang="en-US" sz="950" dirty="0"/>
          </a:p>
        </p:txBody>
      </p:sp>
      <p:sp>
        <p:nvSpPr>
          <p:cNvPr id="31" name="Shape 26"/>
          <p:cNvSpPr/>
          <p:nvPr/>
        </p:nvSpPr>
        <p:spPr>
          <a:xfrm>
            <a:off x="5367528" y="2487168"/>
            <a:ext cx="91440" cy="54864"/>
          </a:xfrm>
          <a:prstGeom prst="rect">
            <a:avLst/>
          </a:prstGeom>
          <a:solidFill>
            <a:srgbClr val="3A5070"/>
          </a:solidFill>
          <a:ln/>
        </p:spPr>
        <p:txBody>
          <a:bodyPr/>
          <a:lstStyle/>
          <a:p>
            <a:endParaRPr/>
          </a:p>
        </p:txBody>
      </p:sp>
      <p:sp>
        <p:nvSpPr>
          <p:cNvPr id="32" name="Text 27"/>
          <p:cNvSpPr/>
          <p:nvPr/>
        </p:nvSpPr>
        <p:spPr>
          <a:xfrm>
            <a:off x="5394960" y="2395728"/>
            <a:ext cx="91440" cy="237744"/>
          </a:xfrm>
          <a:prstGeom prst="rect">
            <a:avLst/>
          </a:prstGeom>
          <a:noFill/>
          <a:ln/>
        </p:spPr>
        <p:txBody>
          <a:bodyPr wrap="square" lIns="0" tIns="0" rIns="0" bIns="0" rtlCol="0" anchor="ctr"/>
          <a:lstStyle/>
          <a:p>
            <a:pPr marL="0" indent="0" algn="ctr">
              <a:buNone/>
            </a:pPr>
            <a:r>
              <a:rPr lang="en-US" sz="1200" dirty="0">
                <a:solidFill>
                  <a:srgbClr val="3A5070"/>
                </a:solidFill>
              </a:rPr>
              <a:t>▶</a:t>
            </a:r>
            <a:endParaRPr lang="en-US" sz="1200" dirty="0"/>
          </a:p>
        </p:txBody>
      </p:sp>
      <p:sp>
        <p:nvSpPr>
          <p:cNvPr id="33" name="Shape 28"/>
          <p:cNvSpPr/>
          <p:nvPr/>
        </p:nvSpPr>
        <p:spPr>
          <a:xfrm>
            <a:off x="5532120" y="1097280"/>
            <a:ext cx="1600200" cy="2926080"/>
          </a:xfrm>
          <a:prstGeom prst="rect">
            <a:avLst/>
          </a:prstGeom>
          <a:solidFill>
            <a:srgbClr val="102035"/>
          </a:solidFill>
          <a:ln/>
          <a:effectLst>
            <a:outerShdw blurRad="127000" dist="38100" dir="8100000" algn="bl" rotWithShape="0">
              <a:srgbClr val="000000">
                <a:alpha val="25000"/>
              </a:srgbClr>
            </a:outerShdw>
          </a:effectLst>
        </p:spPr>
        <p:txBody>
          <a:bodyPr/>
          <a:lstStyle/>
          <a:p>
            <a:endParaRPr/>
          </a:p>
        </p:txBody>
      </p:sp>
      <p:sp>
        <p:nvSpPr>
          <p:cNvPr id="34" name="Shape 29"/>
          <p:cNvSpPr/>
          <p:nvPr/>
        </p:nvSpPr>
        <p:spPr>
          <a:xfrm>
            <a:off x="5532120" y="1097280"/>
            <a:ext cx="1600200" cy="64008"/>
          </a:xfrm>
          <a:prstGeom prst="rect">
            <a:avLst/>
          </a:prstGeom>
          <a:solidFill>
            <a:srgbClr val="F59E0B"/>
          </a:solidFill>
          <a:ln/>
        </p:spPr>
        <p:txBody>
          <a:bodyPr/>
          <a:lstStyle/>
          <a:p>
            <a:endParaRPr/>
          </a:p>
        </p:txBody>
      </p:sp>
      <p:sp>
        <p:nvSpPr>
          <p:cNvPr id="35" name="Shape 30"/>
          <p:cNvSpPr/>
          <p:nvPr/>
        </p:nvSpPr>
        <p:spPr>
          <a:xfrm>
            <a:off x="6053328" y="1261872"/>
            <a:ext cx="548640" cy="548640"/>
          </a:xfrm>
          <a:prstGeom prst="ellipse">
            <a:avLst/>
          </a:prstGeom>
          <a:solidFill>
            <a:srgbClr val="F59E0B"/>
          </a:solidFill>
          <a:ln/>
        </p:spPr>
        <p:txBody>
          <a:bodyPr/>
          <a:lstStyle/>
          <a:p>
            <a:endParaRPr/>
          </a:p>
        </p:txBody>
      </p:sp>
      <p:sp>
        <p:nvSpPr>
          <p:cNvPr id="36" name="Text 31"/>
          <p:cNvSpPr/>
          <p:nvPr/>
        </p:nvSpPr>
        <p:spPr>
          <a:xfrm>
            <a:off x="6053328" y="126187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pic>
        <p:nvPicPr>
          <p:cNvPr id="37" name="Image 3" descr="preencoded.png"/>
          <p:cNvPicPr>
            <a:picLocks noChangeAspect="1"/>
          </p:cNvPicPr>
          <p:nvPr/>
        </p:nvPicPr>
        <p:blipFill>
          <a:blip r:embed="rId6"/>
          <a:stretch>
            <a:fillRect/>
          </a:stretch>
        </p:blipFill>
        <p:spPr>
          <a:xfrm>
            <a:off x="6108192" y="1965960"/>
            <a:ext cx="457200" cy="457200"/>
          </a:xfrm>
          <a:prstGeom prst="rect">
            <a:avLst/>
          </a:prstGeom>
        </p:spPr>
      </p:pic>
      <p:sp>
        <p:nvSpPr>
          <p:cNvPr id="38" name="Text 32"/>
          <p:cNvSpPr/>
          <p:nvPr/>
        </p:nvSpPr>
        <p:spPr>
          <a:xfrm>
            <a:off x="5605272" y="2560320"/>
            <a:ext cx="1453896" cy="384048"/>
          </a:xfrm>
          <a:prstGeom prst="rect">
            <a:avLst/>
          </a:prstGeom>
          <a:no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Validate</a:t>
            </a:r>
            <a:endParaRPr lang="en-US" sz="1400" dirty="0"/>
          </a:p>
        </p:txBody>
      </p:sp>
      <p:sp>
        <p:nvSpPr>
          <p:cNvPr id="39" name="Text 33"/>
          <p:cNvSpPr/>
          <p:nvPr/>
        </p:nvSpPr>
        <p:spPr>
          <a:xfrm>
            <a:off x="5623560" y="2971800"/>
            <a:ext cx="1417320" cy="914400"/>
          </a:xfrm>
          <a:prstGeom prst="rect">
            <a:avLst/>
          </a:prstGeom>
          <a:noFill/>
          <a:ln/>
        </p:spPr>
        <p:txBody>
          <a:bodyPr wrap="square" lIns="0" tIns="0" rIns="0" bIns="0" rtlCol="0" anchor="ctr"/>
          <a:lstStyle/>
          <a:p>
            <a:pPr marL="0" indent="0" algn="ctr">
              <a:buNone/>
            </a:pPr>
            <a:r>
              <a:rPr lang="en-US" sz="950" dirty="0">
                <a:solidFill>
                  <a:srgbClr val="7A9CC0"/>
                </a:solidFill>
                <a:latin typeface="Calibri" pitchFamily="34" charset="0"/>
                <a:ea typeface="Calibri" pitchFamily="34" charset="-122"/>
                <a:cs typeface="Calibri" pitchFamily="34" charset="-120"/>
              </a:rPr>
              <a:t>Human-in-the-loop approval checkpoint</a:t>
            </a:r>
            <a:endParaRPr lang="en-US" sz="950" dirty="0"/>
          </a:p>
        </p:txBody>
      </p:sp>
      <p:sp>
        <p:nvSpPr>
          <p:cNvPr id="40" name="Shape 34"/>
          <p:cNvSpPr/>
          <p:nvPr/>
        </p:nvSpPr>
        <p:spPr>
          <a:xfrm>
            <a:off x="7150608" y="2487168"/>
            <a:ext cx="91440" cy="54864"/>
          </a:xfrm>
          <a:prstGeom prst="rect">
            <a:avLst/>
          </a:prstGeom>
          <a:solidFill>
            <a:srgbClr val="3A5070"/>
          </a:solidFill>
          <a:ln/>
        </p:spPr>
        <p:txBody>
          <a:bodyPr/>
          <a:lstStyle/>
          <a:p>
            <a:endParaRPr/>
          </a:p>
        </p:txBody>
      </p:sp>
      <p:sp>
        <p:nvSpPr>
          <p:cNvPr id="41" name="Text 35"/>
          <p:cNvSpPr/>
          <p:nvPr/>
        </p:nvSpPr>
        <p:spPr>
          <a:xfrm>
            <a:off x="7178040" y="2395728"/>
            <a:ext cx="91440" cy="237744"/>
          </a:xfrm>
          <a:prstGeom prst="rect">
            <a:avLst/>
          </a:prstGeom>
          <a:noFill/>
          <a:ln/>
        </p:spPr>
        <p:txBody>
          <a:bodyPr wrap="square" lIns="0" tIns="0" rIns="0" bIns="0" rtlCol="0" anchor="ctr"/>
          <a:lstStyle/>
          <a:p>
            <a:pPr marL="0" indent="0" algn="ctr">
              <a:buNone/>
            </a:pPr>
            <a:r>
              <a:rPr lang="en-US" sz="1200" dirty="0">
                <a:solidFill>
                  <a:srgbClr val="3A5070"/>
                </a:solidFill>
              </a:rPr>
              <a:t>▶</a:t>
            </a:r>
            <a:endParaRPr lang="en-US" sz="1200" dirty="0"/>
          </a:p>
        </p:txBody>
      </p:sp>
      <p:sp>
        <p:nvSpPr>
          <p:cNvPr id="42" name="Shape 36"/>
          <p:cNvSpPr/>
          <p:nvPr/>
        </p:nvSpPr>
        <p:spPr>
          <a:xfrm>
            <a:off x="7315200" y="1097280"/>
            <a:ext cx="1600200" cy="2926080"/>
          </a:xfrm>
          <a:prstGeom prst="rect">
            <a:avLst/>
          </a:prstGeom>
          <a:solidFill>
            <a:srgbClr val="102035"/>
          </a:solidFill>
          <a:ln/>
          <a:effectLst>
            <a:outerShdw blurRad="127000" dist="38100" dir="8100000" algn="bl" rotWithShape="0">
              <a:srgbClr val="000000">
                <a:alpha val="25000"/>
              </a:srgbClr>
            </a:outerShdw>
          </a:effectLst>
        </p:spPr>
        <p:txBody>
          <a:bodyPr/>
          <a:lstStyle/>
          <a:p>
            <a:endParaRPr/>
          </a:p>
        </p:txBody>
      </p:sp>
      <p:sp>
        <p:nvSpPr>
          <p:cNvPr id="43" name="Shape 37"/>
          <p:cNvSpPr/>
          <p:nvPr/>
        </p:nvSpPr>
        <p:spPr>
          <a:xfrm>
            <a:off x="7315200" y="1097280"/>
            <a:ext cx="1600200" cy="64008"/>
          </a:xfrm>
          <a:prstGeom prst="rect">
            <a:avLst/>
          </a:prstGeom>
          <a:solidFill>
            <a:srgbClr val="22C55E"/>
          </a:solidFill>
          <a:ln/>
        </p:spPr>
        <p:txBody>
          <a:bodyPr/>
          <a:lstStyle/>
          <a:p>
            <a:endParaRPr/>
          </a:p>
        </p:txBody>
      </p:sp>
      <p:sp>
        <p:nvSpPr>
          <p:cNvPr id="44" name="Shape 38"/>
          <p:cNvSpPr/>
          <p:nvPr/>
        </p:nvSpPr>
        <p:spPr>
          <a:xfrm>
            <a:off x="7836408" y="1261872"/>
            <a:ext cx="548640" cy="548640"/>
          </a:xfrm>
          <a:prstGeom prst="ellipse">
            <a:avLst/>
          </a:prstGeom>
          <a:solidFill>
            <a:srgbClr val="22C55E"/>
          </a:solidFill>
          <a:ln/>
        </p:spPr>
        <p:txBody>
          <a:bodyPr/>
          <a:lstStyle/>
          <a:p>
            <a:endParaRPr/>
          </a:p>
        </p:txBody>
      </p:sp>
      <p:sp>
        <p:nvSpPr>
          <p:cNvPr id="45" name="Text 39"/>
          <p:cNvSpPr/>
          <p:nvPr/>
        </p:nvSpPr>
        <p:spPr>
          <a:xfrm>
            <a:off x="7836408" y="126187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pic>
        <p:nvPicPr>
          <p:cNvPr id="46" name="Image 4" descr="preencoded.png"/>
          <p:cNvPicPr>
            <a:picLocks noChangeAspect="1"/>
          </p:cNvPicPr>
          <p:nvPr/>
        </p:nvPicPr>
        <p:blipFill>
          <a:blip r:embed="rId7"/>
          <a:stretch>
            <a:fillRect/>
          </a:stretch>
        </p:blipFill>
        <p:spPr>
          <a:xfrm>
            <a:off x="7891272" y="1965960"/>
            <a:ext cx="457200" cy="457200"/>
          </a:xfrm>
          <a:prstGeom prst="rect">
            <a:avLst/>
          </a:prstGeom>
        </p:spPr>
      </p:pic>
      <p:sp>
        <p:nvSpPr>
          <p:cNvPr id="47" name="Text 40"/>
          <p:cNvSpPr/>
          <p:nvPr/>
        </p:nvSpPr>
        <p:spPr>
          <a:xfrm>
            <a:off x="7388352" y="2560320"/>
            <a:ext cx="1453896" cy="384048"/>
          </a:xfrm>
          <a:prstGeom prst="rect">
            <a:avLst/>
          </a:prstGeom>
          <a:noFill/>
          <a:ln/>
        </p:spPr>
        <p:txBody>
          <a:bodyPr wrap="square" lIns="0" tIns="0" rIns="0" bIns="0" rtlCol="0" anchor="ctr"/>
          <a:lstStyle/>
          <a:p>
            <a:pPr marL="0" indent="0" algn="ctr">
              <a:buNone/>
            </a:pPr>
            <a:r>
              <a:rPr lang="en-US" sz="1400" b="1" dirty="0">
                <a:solidFill>
                  <a:srgbClr val="22C55E"/>
                </a:solidFill>
                <a:latin typeface="Calibri" pitchFamily="34" charset="0"/>
                <a:ea typeface="Calibri" pitchFamily="34" charset="-122"/>
                <a:cs typeface="Calibri" pitchFamily="34" charset="-120"/>
              </a:rPr>
              <a:t>Report</a:t>
            </a:r>
            <a:endParaRPr lang="en-US" sz="1400" dirty="0"/>
          </a:p>
        </p:txBody>
      </p:sp>
      <p:sp>
        <p:nvSpPr>
          <p:cNvPr id="48" name="Text 41"/>
          <p:cNvSpPr/>
          <p:nvPr/>
        </p:nvSpPr>
        <p:spPr>
          <a:xfrm>
            <a:off x="7406640" y="2971800"/>
            <a:ext cx="1417320" cy="914400"/>
          </a:xfrm>
          <a:prstGeom prst="rect">
            <a:avLst/>
          </a:prstGeom>
          <a:noFill/>
          <a:ln/>
        </p:spPr>
        <p:txBody>
          <a:bodyPr wrap="square" lIns="0" tIns="0" rIns="0" bIns="0" rtlCol="0" anchor="ctr"/>
          <a:lstStyle/>
          <a:p>
            <a:pPr marL="0" indent="0" algn="ctr">
              <a:buNone/>
            </a:pPr>
            <a:r>
              <a:rPr lang="en-US" sz="950" dirty="0">
                <a:solidFill>
                  <a:srgbClr val="7A9CC0"/>
                </a:solidFill>
                <a:latin typeface="Calibri" pitchFamily="34" charset="0"/>
                <a:ea typeface="Calibri" pitchFamily="34" charset="-122"/>
                <a:cs typeface="Calibri" pitchFamily="34" charset="-120"/>
              </a:rPr>
              <a:t>Auto-generate structured intelligence reports</a:t>
            </a:r>
            <a:endParaRPr lang="en-US" sz="950" dirty="0"/>
          </a:p>
        </p:txBody>
      </p:sp>
      <p:sp>
        <p:nvSpPr>
          <p:cNvPr id="49" name="Shape 42"/>
          <p:cNvSpPr/>
          <p:nvPr/>
        </p:nvSpPr>
        <p:spPr>
          <a:xfrm>
            <a:off x="2286000" y="4251960"/>
            <a:ext cx="4572000" cy="548640"/>
          </a:xfrm>
          <a:prstGeom prst="rect">
            <a:avLst/>
          </a:prstGeom>
          <a:solidFill>
            <a:srgbClr val="1E5EFF">
              <a:alpha val="80000"/>
            </a:srgbClr>
          </a:solidFill>
          <a:ln w="12700">
            <a:solidFill>
              <a:srgbClr val="1E5EFF"/>
            </a:solidFill>
            <a:prstDash val="solid"/>
          </a:ln>
        </p:spPr>
        <p:txBody>
          <a:bodyPr/>
          <a:lstStyle/>
          <a:p>
            <a:endParaRPr/>
          </a:p>
        </p:txBody>
      </p:sp>
      <p:sp>
        <p:nvSpPr>
          <p:cNvPr id="50" name="Text 43"/>
          <p:cNvSpPr/>
          <p:nvPr/>
        </p:nvSpPr>
        <p:spPr>
          <a:xfrm>
            <a:off x="2286000" y="4251960"/>
            <a:ext cx="4572000" cy="548640"/>
          </a:xfrm>
          <a:prstGeom prst="rect">
            <a:avLst/>
          </a:prstGeom>
          <a:noFill/>
          <a:ln/>
        </p:spPr>
        <p:txBody>
          <a:bodyPr wrap="square" lIns="0" tIns="0" rIns="0" bIns="0" rtlCol="0" anchor="ctr"/>
          <a:lstStyle/>
          <a:p>
            <a:pPr marL="0" indent="0" algn="ctr">
              <a:buNone/>
            </a:pPr>
            <a:r>
              <a:rPr lang="en-US" sz="1150" b="1" dirty="0">
                <a:solidFill>
                  <a:srgbClr val="FFFFFF"/>
                </a:solidFill>
              </a:rPr>
              <a:t>➜  Final Output: Actionable Business Intelligence Report</a:t>
            </a:r>
            <a:endParaRPr lang="en-US" sz="1150" dirty="0"/>
          </a:p>
        </p:txBody>
      </p:sp>
      <p:sp>
        <p:nvSpPr>
          <p:cNvPr id="51" name="TextBox 50"/>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sp>
        <p:nvSpPr>
          <p:cNvPr id="3" name="Shape 1"/>
          <p:cNvSpPr/>
          <p:nvPr/>
        </p:nvSpPr>
        <p:spPr>
          <a:xfrm>
            <a:off x="0" y="0"/>
            <a:ext cx="9144000" cy="54864"/>
          </a:xfrm>
          <a:prstGeom prst="rect">
            <a:avLst/>
          </a:prstGeom>
          <a:solidFill>
            <a:srgbClr val="00C8FF"/>
          </a:solidFill>
          <a:ln/>
        </p:spPr>
        <p:txBody>
          <a:bodyPr/>
          <a:lstStyle/>
          <a:p>
            <a:endParaRPr/>
          </a:p>
        </p:txBody>
      </p:sp>
      <p:sp>
        <p:nvSpPr>
          <p:cNvPr id="4" name="Text 2"/>
          <p:cNvSpPr/>
          <p:nvPr/>
        </p:nvSpPr>
        <p:spPr>
          <a:xfrm>
            <a:off x="365760" y="91440"/>
            <a:ext cx="64008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Requirements Compliance</a:t>
            </a:r>
            <a:endParaRPr lang="en-US" sz="2400" dirty="0"/>
          </a:p>
        </p:txBody>
      </p:sp>
      <p:sp>
        <p:nvSpPr>
          <p:cNvPr id="5" name="Text 3"/>
          <p:cNvSpPr/>
          <p:nvPr/>
        </p:nvSpPr>
        <p:spPr>
          <a:xfrm>
            <a:off x="6858000" y="164592"/>
            <a:ext cx="2103120" cy="365760"/>
          </a:xfrm>
          <a:prstGeom prst="rect">
            <a:avLst/>
          </a:prstGeom>
          <a:noFill/>
          <a:ln/>
        </p:spPr>
        <p:txBody>
          <a:bodyPr wrap="square" lIns="0" tIns="0" rIns="0" bIns="0" rtlCol="0" anchor="ctr"/>
          <a:lstStyle/>
          <a:p>
            <a:pPr marL="0" indent="0" algn="r">
              <a:buNone/>
            </a:pPr>
            <a:r>
              <a:rPr lang="en-US" sz="1000" b="1" dirty="0">
                <a:solidFill>
                  <a:srgbClr val="22C55E"/>
                </a:solidFill>
              </a:rPr>
              <a:t>All project requirements satisfied ✓</a:t>
            </a:r>
            <a:endParaRPr lang="en-US" sz="1000" dirty="0"/>
          </a:p>
        </p:txBody>
      </p:sp>
      <p:sp>
        <p:nvSpPr>
          <p:cNvPr id="6" name="Shape 4"/>
          <p:cNvSpPr/>
          <p:nvPr/>
        </p:nvSpPr>
        <p:spPr>
          <a:xfrm>
            <a:off x="228600" y="841248"/>
            <a:ext cx="8686800" cy="347472"/>
          </a:xfrm>
          <a:prstGeom prst="rect">
            <a:avLst/>
          </a:prstGeom>
          <a:solidFill>
            <a:srgbClr val="0A1628"/>
          </a:solidFill>
          <a:ln/>
        </p:spPr>
        <p:txBody>
          <a:bodyPr/>
          <a:lstStyle/>
          <a:p>
            <a:endParaRPr/>
          </a:p>
        </p:txBody>
      </p:sp>
      <p:sp>
        <p:nvSpPr>
          <p:cNvPr id="7" name="Text 5"/>
          <p:cNvSpPr/>
          <p:nvPr/>
        </p:nvSpPr>
        <p:spPr>
          <a:xfrm>
            <a:off x="320040" y="841248"/>
            <a:ext cx="2743200" cy="347472"/>
          </a:xfrm>
          <a:prstGeom prst="rect">
            <a:avLst/>
          </a:prstGeom>
          <a:noFill/>
          <a:ln/>
        </p:spPr>
        <p:txBody>
          <a:bodyPr wrap="square" lIns="50800" tIns="50800" rIns="50800" bIns="50800" rtlCol="0" anchor="ctr"/>
          <a:lstStyle/>
          <a:p>
            <a:pPr marL="0" indent="0">
              <a:buNone/>
            </a:pPr>
            <a:r>
              <a:rPr lang="en-US" sz="1000" b="1" dirty="0">
                <a:solidFill>
                  <a:srgbClr val="00C8FF"/>
                </a:solidFill>
              </a:rPr>
              <a:t>Requirement</a:t>
            </a:r>
            <a:endParaRPr lang="en-US" sz="1000" dirty="0"/>
          </a:p>
        </p:txBody>
      </p:sp>
      <p:sp>
        <p:nvSpPr>
          <p:cNvPr id="8" name="Text 6"/>
          <p:cNvSpPr/>
          <p:nvPr/>
        </p:nvSpPr>
        <p:spPr>
          <a:xfrm>
            <a:off x="3108960" y="841248"/>
            <a:ext cx="5029200" cy="347472"/>
          </a:xfrm>
          <a:prstGeom prst="rect">
            <a:avLst/>
          </a:prstGeom>
          <a:noFill/>
          <a:ln/>
        </p:spPr>
        <p:txBody>
          <a:bodyPr wrap="square" lIns="50800" tIns="50800" rIns="50800" bIns="50800" rtlCol="0" anchor="ctr"/>
          <a:lstStyle/>
          <a:p>
            <a:pPr marL="0" indent="0">
              <a:buNone/>
            </a:pPr>
            <a:r>
              <a:rPr lang="en-US" sz="1000" b="1" dirty="0">
                <a:solidFill>
                  <a:srgbClr val="00C8FF"/>
                </a:solidFill>
              </a:rPr>
              <a:t>Implementation Detail</a:t>
            </a:r>
            <a:endParaRPr lang="en-US" sz="1000" dirty="0"/>
          </a:p>
        </p:txBody>
      </p:sp>
      <p:sp>
        <p:nvSpPr>
          <p:cNvPr id="9" name="Text 7"/>
          <p:cNvSpPr/>
          <p:nvPr/>
        </p:nvSpPr>
        <p:spPr>
          <a:xfrm>
            <a:off x="8183880" y="841248"/>
            <a:ext cx="685800" cy="347472"/>
          </a:xfrm>
          <a:prstGeom prst="rect">
            <a:avLst/>
          </a:prstGeom>
          <a:noFill/>
          <a:ln/>
        </p:spPr>
        <p:txBody>
          <a:bodyPr wrap="square" lIns="0" tIns="0" rIns="0" bIns="0" rtlCol="0" anchor="ctr"/>
          <a:lstStyle/>
          <a:p>
            <a:pPr marL="0" indent="0" algn="ctr">
              <a:buNone/>
            </a:pPr>
            <a:r>
              <a:rPr lang="en-US" sz="1000" b="1" dirty="0">
                <a:solidFill>
                  <a:srgbClr val="00C8FF"/>
                </a:solidFill>
              </a:rPr>
              <a:t>Status</a:t>
            </a:r>
            <a:endParaRPr lang="en-US" sz="1000" dirty="0"/>
          </a:p>
        </p:txBody>
      </p:sp>
      <p:sp>
        <p:nvSpPr>
          <p:cNvPr id="10" name="Shape 8"/>
          <p:cNvSpPr/>
          <p:nvPr/>
        </p:nvSpPr>
        <p:spPr>
          <a:xfrm>
            <a:off x="228600" y="1188720"/>
            <a:ext cx="8686800" cy="374904"/>
          </a:xfrm>
          <a:prstGeom prst="rect">
            <a:avLst/>
          </a:prstGeom>
          <a:solidFill>
            <a:srgbClr val="F8FAFF"/>
          </a:solidFill>
          <a:ln/>
        </p:spPr>
        <p:txBody>
          <a:bodyPr/>
          <a:lstStyle/>
          <a:p>
            <a:endParaRPr/>
          </a:p>
        </p:txBody>
      </p:sp>
      <p:sp>
        <p:nvSpPr>
          <p:cNvPr id="11" name="Text 9"/>
          <p:cNvSpPr/>
          <p:nvPr/>
        </p:nvSpPr>
        <p:spPr>
          <a:xfrm>
            <a:off x="320040" y="1188720"/>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Fine-Tuned Deep Learning Model</a:t>
            </a:r>
            <a:endParaRPr lang="en-US" sz="950" dirty="0"/>
          </a:p>
        </p:txBody>
      </p:sp>
      <p:sp>
        <p:nvSpPr>
          <p:cNvPr id="12" name="Text 10"/>
          <p:cNvSpPr/>
          <p:nvPr/>
        </p:nvSpPr>
        <p:spPr>
          <a:xfrm>
            <a:off x="3108960" y="1188720"/>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DistilBERT fine-tuned on amazon_polarity — 92.97% accuracy</a:t>
            </a:r>
            <a:endParaRPr lang="en-US" sz="900" dirty="0"/>
          </a:p>
        </p:txBody>
      </p:sp>
      <p:sp>
        <p:nvSpPr>
          <p:cNvPr id="13" name="Shape 11"/>
          <p:cNvSpPr/>
          <p:nvPr/>
        </p:nvSpPr>
        <p:spPr>
          <a:xfrm>
            <a:off x="8202168" y="1261872"/>
            <a:ext cx="640080" cy="237744"/>
          </a:xfrm>
          <a:prstGeom prst="roundRect">
            <a:avLst>
              <a:gd name="adj" fmla="val 19231"/>
            </a:avLst>
          </a:prstGeom>
          <a:solidFill>
            <a:srgbClr val="D1FAE5"/>
          </a:solidFill>
          <a:ln/>
        </p:spPr>
        <p:txBody>
          <a:bodyPr/>
          <a:lstStyle/>
          <a:p>
            <a:endParaRPr/>
          </a:p>
        </p:txBody>
      </p:sp>
      <p:sp>
        <p:nvSpPr>
          <p:cNvPr id="14" name="Text 12"/>
          <p:cNvSpPr/>
          <p:nvPr/>
        </p:nvSpPr>
        <p:spPr>
          <a:xfrm>
            <a:off x="8202168" y="1261872"/>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15" name="Shape 13"/>
          <p:cNvSpPr/>
          <p:nvPr/>
        </p:nvSpPr>
        <p:spPr>
          <a:xfrm>
            <a:off x="228600" y="1581912"/>
            <a:ext cx="8686800" cy="374904"/>
          </a:xfrm>
          <a:prstGeom prst="rect">
            <a:avLst/>
          </a:prstGeom>
          <a:solidFill>
            <a:srgbClr val="FFFFFF"/>
          </a:solidFill>
          <a:ln/>
        </p:spPr>
        <p:txBody>
          <a:bodyPr/>
          <a:lstStyle/>
          <a:p>
            <a:endParaRPr/>
          </a:p>
        </p:txBody>
      </p:sp>
      <p:sp>
        <p:nvSpPr>
          <p:cNvPr id="16" name="Text 14"/>
          <p:cNvSpPr/>
          <p:nvPr/>
        </p:nvSpPr>
        <p:spPr>
          <a:xfrm>
            <a:off x="320040" y="1581912"/>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Multi-Agent Architecture</a:t>
            </a:r>
            <a:endParaRPr lang="en-US" sz="950" dirty="0"/>
          </a:p>
        </p:txBody>
      </p:sp>
      <p:sp>
        <p:nvSpPr>
          <p:cNvPr id="17" name="Text 15"/>
          <p:cNvSpPr/>
          <p:nvPr/>
        </p:nvSpPr>
        <p:spPr>
          <a:xfrm>
            <a:off x="3108960" y="1581912"/>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Collector · Sentiment · Insight · Report agents</a:t>
            </a:r>
            <a:endParaRPr lang="en-US" sz="900" dirty="0"/>
          </a:p>
        </p:txBody>
      </p:sp>
      <p:sp>
        <p:nvSpPr>
          <p:cNvPr id="18" name="Shape 16"/>
          <p:cNvSpPr/>
          <p:nvPr/>
        </p:nvSpPr>
        <p:spPr>
          <a:xfrm>
            <a:off x="8202168" y="1655064"/>
            <a:ext cx="640080" cy="237744"/>
          </a:xfrm>
          <a:prstGeom prst="roundRect">
            <a:avLst>
              <a:gd name="adj" fmla="val 19231"/>
            </a:avLst>
          </a:prstGeom>
          <a:solidFill>
            <a:srgbClr val="D1FAE5"/>
          </a:solidFill>
          <a:ln/>
        </p:spPr>
        <p:txBody>
          <a:bodyPr/>
          <a:lstStyle/>
          <a:p>
            <a:endParaRPr/>
          </a:p>
        </p:txBody>
      </p:sp>
      <p:sp>
        <p:nvSpPr>
          <p:cNvPr id="19" name="Text 17"/>
          <p:cNvSpPr/>
          <p:nvPr/>
        </p:nvSpPr>
        <p:spPr>
          <a:xfrm>
            <a:off x="8202168" y="1655064"/>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20" name="Shape 18"/>
          <p:cNvSpPr/>
          <p:nvPr/>
        </p:nvSpPr>
        <p:spPr>
          <a:xfrm>
            <a:off x="228600" y="1975104"/>
            <a:ext cx="8686800" cy="374904"/>
          </a:xfrm>
          <a:prstGeom prst="rect">
            <a:avLst/>
          </a:prstGeom>
          <a:solidFill>
            <a:srgbClr val="F8FAFF"/>
          </a:solidFill>
          <a:ln/>
        </p:spPr>
        <p:txBody>
          <a:bodyPr/>
          <a:lstStyle/>
          <a:p>
            <a:endParaRPr/>
          </a:p>
        </p:txBody>
      </p:sp>
      <p:sp>
        <p:nvSpPr>
          <p:cNvPr id="21" name="Text 19"/>
          <p:cNvSpPr/>
          <p:nvPr/>
        </p:nvSpPr>
        <p:spPr>
          <a:xfrm>
            <a:off x="320040" y="1975104"/>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Orchestrator</a:t>
            </a:r>
            <a:endParaRPr lang="en-US" sz="950" dirty="0"/>
          </a:p>
        </p:txBody>
      </p:sp>
      <p:sp>
        <p:nvSpPr>
          <p:cNvPr id="22" name="Text 20"/>
          <p:cNvSpPr/>
          <p:nvPr/>
        </p:nvSpPr>
        <p:spPr>
          <a:xfrm>
            <a:off x="3108960" y="1975104"/>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Central coordinator manages all agent execution flow</a:t>
            </a:r>
            <a:endParaRPr lang="en-US" sz="900" dirty="0"/>
          </a:p>
        </p:txBody>
      </p:sp>
      <p:sp>
        <p:nvSpPr>
          <p:cNvPr id="23" name="Shape 21"/>
          <p:cNvSpPr/>
          <p:nvPr/>
        </p:nvSpPr>
        <p:spPr>
          <a:xfrm>
            <a:off x="8202168" y="2048256"/>
            <a:ext cx="640080" cy="237744"/>
          </a:xfrm>
          <a:prstGeom prst="roundRect">
            <a:avLst>
              <a:gd name="adj" fmla="val 19231"/>
            </a:avLst>
          </a:prstGeom>
          <a:solidFill>
            <a:srgbClr val="D1FAE5"/>
          </a:solidFill>
          <a:ln/>
        </p:spPr>
        <p:txBody>
          <a:bodyPr/>
          <a:lstStyle/>
          <a:p>
            <a:endParaRPr/>
          </a:p>
        </p:txBody>
      </p:sp>
      <p:sp>
        <p:nvSpPr>
          <p:cNvPr id="24" name="Text 22"/>
          <p:cNvSpPr/>
          <p:nvPr/>
        </p:nvSpPr>
        <p:spPr>
          <a:xfrm>
            <a:off x="8202168" y="2048256"/>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25" name="Shape 23"/>
          <p:cNvSpPr/>
          <p:nvPr/>
        </p:nvSpPr>
        <p:spPr>
          <a:xfrm>
            <a:off x="228600" y="2368296"/>
            <a:ext cx="8686800" cy="374904"/>
          </a:xfrm>
          <a:prstGeom prst="rect">
            <a:avLst/>
          </a:prstGeom>
          <a:solidFill>
            <a:srgbClr val="FFFFFF"/>
          </a:solidFill>
          <a:ln/>
        </p:spPr>
        <p:txBody>
          <a:bodyPr/>
          <a:lstStyle/>
          <a:p>
            <a:endParaRPr/>
          </a:p>
        </p:txBody>
      </p:sp>
      <p:sp>
        <p:nvSpPr>
          <p:cNvPr id="26" name="Text 24"/>
          <p:cNvSpPr/>
          <p:nvPr/>
        </p:nvSpPr>
        <p:spPr>
          <a:xfrm>
            <a:off x="320040" y="2368296"/>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Human-in-the-Loop Checkpoint</a:t>
            </a:r>
            <a:endParaRPr lang="en-US" sz="950" dirty="0"/>
          </a:p>
        </p:txBody>
      </p:sp>
      <p:sp>
        <p:nvSpPr>
          <p:cNvPr id="27" name="Text 25"/>
          <p:cNvSpPr/>
          <p:nvPr/>
        </p:nvSpPr>
        <p:spPr>
          <a:xfrm>
            <a:off x="3108960" y="2368296"/>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Approval required before report is generated</a:t>
            </a:r>
            <a:endParaRPr lang="en-US" sz="900" dirty="0"/>
          </a:p>
        </p:txBody>
      </p:sp>
      <p:sp>
        <p:nvSpPr>
          <p:cNvPr id="28" name="Shape 26"/>
          <p:cNvSpPr/>
          <p:nvPr/>
        </p:nvSpPr>
        <p:spPr>
          <a:xfrm>
            <a:off x="8202168" y="2441448"/>
            <a:ext cx="640080" cy="237744"/>
          </a:xfrm>
          <a:prstGeom prst="roundRect">
            <a:avLst>
              <a:gd name="adj" fmla="val 19231"/>
            </a:avLst>
          </a:prstGeom>
          <a:solidFill>
            <a:srgbClr val="D1FAE5"/>
          </a:solidFill>
          <a:ln/>
        </p:spPr>
        <p:txBody>
          <a:bodyPr/>
          <a:lstStyle/>
          <a:p>
            <a:endParaRPr/>
          </a:p>
        </p:txBody>
      </p:sp>
      <p:sp>
        <p:nvSpPr>
          <p:cNvPr id="29" name="Text 27"/>
          <p:cNvSpPr/>
          <p:nvPr/>
        </p:nvSpPr>
        <p:spPr>
          <a:xfrm>
            <a:off x="8202168" y="2441448"/>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30" name="Shape 28"/>
          <p:cNvSpPr/>
          <p:nvPr/>
        </p:nvSpPr>
        <p:spPr>
          <a:xfrm>
            <a:off x="228600" y="2761488"/>
            <a:ext cx="8686800" cy="374904"/>
          </a:xfrm>
          <a:prstGeom prst="rect">
            <a:avLst/>
          </a:prstGeom>
          <a:solidFill>
            <a:srgbClr val="F8FAFF"/>
          </a:solidFill>
          <a:ln/>
        </p:spPr>
        <p:txBody>
          <a:bodyPr/>
          <a:lstStyle/>
          <a:p>
            <a:endParaRPr/>
          </a:p>
        </p:txBody>
      </p:sp>
      <p:sp>
        <p:nvSpPr>
          <p:cNvPr id="31" name="Text 29"/>
          <p:cNvSpPr/>
          <p:nvPr/>
        </p:nvSpPr>
        <p:spPr>
          <a:xfrm>
            <a:off x="320040" y="2761488"/>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Streamlit Application</a:t>
            </a:r>
            <a:endParaRPr lang="en-US" sz="950" dirty="0"/>
          </a:p>
        </p:txBody>
      </p:sp>
      <p:sp>
        <p:nvSpPr>
          <p:cNvPr id="32" name="Text 30"/>
          <p:cNvSpPr/>
          <p:nvPr/>
        </p:nvSpPr>
        <p:spPr>
          <a:xfrm>
            <a:off x="3108960" y="2761488"/>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Interactive web UI with full review analysis interface</a:t>
            </a:r>
            <a:endParaRPr lang="en-US" sz="900" dirty="0"/>
          </a:p>
        </p:txBody>
      </p:sp>
      <p:sp>
        <p:nvSpPr>
          <p:cNvPr id="33" name="Shape 31"/>
          <p:cNvSpPr/>
          <p:nvPr/>
        </p:nvSpPr>
        <p:spPr>
          <a:xfrm>
            <a:off x="8202168" y="2834640"/>
            <a:ext cx="640080" cy="237744"/>
          </a:xfrm>
          <a:prstGeom prst="roundRect">
            <a:avLst>
              <a:gd name="adj" fmla="val 19231"/>
            </a:avLst>
          </a:prstGeom>
          <a:solidFill>
            <a:srgbClr val="D1FAE5"/>
          </a:solidFill>
          <a:ln/>
        </p:spPr>
        <p:txBody>
          <a:bodyPr/>
          <a:lstStyle/>
          <a:p>
            <a:endParaRPr/>
          </a:p>
        </p:txBody>
      </p:sp>
      <p:sp>
        <p:nvSpPr>
          <p:cNvPr id="34" name="Text 32"/>
          <p:cNvSpPr/>
          <p:nvPr/>
        </p:nvSpPr>
        <p:spPr>
          <a:xfrm>
            <a:off x="8202168" y="2834640"/>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35" name="Shape 33"/>
          <p:cNvSpPr/>
          <p:nvPr/>
        </p:nvSpPr>
        <p:spPr>
          <a:xfrm>
            <a:off x="228600" y="3154680"/>
            <a:ext cx="8686800" cy="374904"/>
          </a:xfrm>
          <a:prstGeom prst="rect">
            <a:avLst/>
          </a:prstGeom>
          <a:solidFill>
            <a:srgbClr val="FFFFFF"/>
          </a:solidFill>
          <a:ln/>
        </p:spPr>
        <p:txBody>
          <a:bodyPr/>
          <a:lstStyle/>
          <a:p>
            <a:endParaRPr/>
          </a:p>
        </p:txBody>
      </p:sp>
      <p:sp>
        <p:nvSpPr>
          <p:cNvPr id="36" name="Text 34"/>
          <p:cNvSpPr/>
          <p:nvPr/>
        </p:nvSpPr>
        <p:spPr>
          <a:xfrm>
            <a:off x="320040" y="3154680"/>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CrewAI Framework</a:t>
            </a:r>
            <a:endParaRPr lang="en-US" sz="950" dirty="0"/>
          </a:p>
        </p:txBody>
      </p:sp>
      <p:sp>
        <p:nvSpPr>
          <p:cNvPr id="37" name="Text 35"/>
          <p:cNvSpPr/>
          <p:nvPr/>
        </p:nvSpPr>
        <p:spPr>
          <a:xfrm>
            <a:off x="3108960" y="3154680"/>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Agents organized as a CrewAI crew with role-based tasks</a:t>
            </a:r>
            <a:endParaRPr lang="en-US" sz="900" dirty="0"/>
          </a:p>
        </p:txBody>
      </p:sp>
      <p:sp>
        <p:nvSpPr>
          <p:cNvPr id="38" name="Shape 36"/>
          <p:cNvSpPr/>
          <p:nvPr/>
        </p:nvSpPr>
        <p:spPr>
          <a:xfrm>
            <a:off x="8202168" y="3227832"/>
            <a:ext cx="640080" cy="237744"/>
          </a:xfrm>
          <a:prstGeom prst="roundRect">
            <a:avLst>
              <a:gd name="adj" fmla="val 19231"/>
            </a:avLst>
          </a:prstGeom>
          <a:solidFill>
            <a:srgbClr val="D1FAE5"/>
          </a:solidFill>
          <a:ln/>
        </p:spPr>
        <p:txBody>
          <a:bodyPr/>
          <a:lstStyle/>
          <a:p>
            <a:endParaRPr/>
          </a:p>
        </p:txBody>
      </p:sp>
      <p:sp>
        <p:nvSpPr>
          <p:cNvPr id="39" name="Text 37"/>
          <p:cNvSpPr/>
          <p:nvPr/>
        </p:nvSpPr>
        <p:spPr>
          <a:xfrm>
            <a:off x="8202168" y="3227832"/>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40" name="Shape 38"/>
          <p:cNvSpPr/>
          <p:nvPr/>
        </p:nvSpPr>
        <p:spPr>
          <a:xfrm>
            <a:off x="228600" y="3547872"/>
            <a:ext cx="8686800" cy="374904"/>
          </a:xfrm>
          <a:prstGeom prst="rect">
            <a:avLst/>
          </a:prstGeom>
          <a:solidFill>
            <a:srgbClr val="F8FAFF"/>
          </a:solidFill>
          <a:ln/>
        </p:spPr>
        <p:txBody>
          <a:bodyPr/>
          <a:lstStyle/>
          <a:p>
            <a:endParaRPr/>
          </a:p>
        </p:txBody>
      </p:sp>
      <p:sp>
        <p:nvSpPr>
          <p:cNvPr id="41" name="Text 39"/>
          <p:cNvSpPr/>
          <p:nvPr/>
        </p:nvSpPr>
        <p:spPr>
          <a:xfrm>
            <a:off x="320040" y="3547872"/>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Gemini API Integration</a:t>
            </a:r>
            <a:endParaRPr lang="en-US" sz="950" dirty="0"/>
          </a:p>
        </p:txBody>
      </p:sp>
      <p:sp>
        <p:nvSpPr>
          <p:cNvPr id="42" name="Text 40"/>
          <p:cNvSpPr/>
          <p:nvPr/>
        </p:nvSpPr>
        <p:spPr>
          <a:xfrm>
            <a:off x="3108960" y="3547872"/>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Insight &amp; Report agents powered by Gemini 2.5 Flash</a:t>
            </a:r>
            <a:endParaRPr lang="en-US" sz="900" dirty="0"/>
          </a:p>
        </p:txBody>
      </p:sp>
      <p:sp>
        <p:nvSpPr>
          <p:cNvPr id="43" name="Shape 41"/>
          <p:cNvSpPr/>
          <p:nvPr/>
        </p:nvSpPr>
        <p:spPr>
          <a:xfrm>
            <a:off x="8202168" y="3621024"/>
            <a:ext cx="640080" cy="237744"/>
          </a:xfrm>
          <a:prstGeom prst="roundRect">
            <a:avLst>
              <a:gd name="adj" fmla="val 19231"/>
            </a:avLst>
          </a:prstGeom>
          <a:solidFill>
            <a:srgbClr val="D1FAE5"/>
          </a:solidFill>
          <a:ln/>
        </p:spPr>
        <p:txBody>
          <a:bodyPr/>
          <a:lstStyle/>
          <a:p>
            <a:endParaRPr/>
          </a:p>
        </p:txBody>
      </p:sp>
      <p:sp>
        <p:nvSpPr>
          <p:cNvPr id="44" name="Text 42"/>
          <p:cNvSpPr/>
          <p:nvPr/>
        </p:nvSpPr>
        <p:spPr>
          <a:xfrm>
            <a:off x="8202168" y="3621024"/>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45" name="Shape 43"/>
          <p:cNvSpPr/>
          <p:nvPr/>
        </p:nvSpPr>
        <p:spPr>
          <a:xfrm>
            <a:off x="228600" y="3941064"/>
            <a:ext cx="8686800" cy="374904"/>
          </a:xfrm>
          <a:prstGeom prst="rect">
            <a:avLst/>
          </a:prstGeom>
          <a:solidFill>
            <a:srgbClr val="FFFFFF"/>
          </a:solidFill>
          <a:ln/>
        </p:spPr>
        <p:txBody>
          <a:bodyPr/>
          <a:lstStyle/>
          <a:p>
            <a:endParaRPr/>
          </a:p>
        </p:txBody>
      </p:sp>
      <p:sp>
        <p:nvSpPr>
          <p:cNvPr id="46" name="Text 44"/>
          <p:cNvSpPr/>
          <p:nvPr/>
        </p:nvSpPr>
        <p:spPr>
          <a:xfrm>
            <a:off x="320040" y="3941064"/>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JSON / JSONL Logging</a:t>
            </a:r>
            <a:endParaRPr lang="en-US" sz="950" dirty="0"/>
          </a:p>
        </p:txBody>
      </p:sp>
      <p:sp>
        <p:nvSpPr>
          <p:cNvPr id="47" name="Text 45"/>
          <p:cNvSpPr/>
          <p:nvPr/>
        </p:nvSpPr>
        <p:spPr>
          <a:xfrm>
            <a:off x="3108960" y="3941064"/>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Every agent action timestamped and logged to .jsonl file</a:t>
            </a:r>
            <a:endParaRPr lang="en-US" sz="900" dirty="0"/>
          </a:p>
        </p:txBody>
      </p:sp>
      <p:sp>
        <p:nvSpPr>
          <p:cNvPr id="48" name="Shape 46"/>
          <p:cNvSpPr/>
          <p:nvPr/>
        </p:nvSpPr>
        <p:spPr>
          <a:xfrm>
            <a:off x="8202168" y="4014216"/>
            <a:ext cx="640080" cy="237744"/>
          </a:xfrm>
          <a:prstGeom prst="roundRect">
            <a:avLst>
              <a:gd name="adj" fmla="val 19231"/>
            </a:avLst>
          </a:prstGeom>
          <a:solidFill>
            <a:srgbClr val="D1FAE5"/>
          </a:solidFill>
          <a:ln/>
        </p:spPr>
        <p:txBody>
          <a:bodyPr/>
          <a:lstStyle/>
          <a:p>
            <a:endParaRPr/>
          </a:p>
        </p:txBody>
      </p:sp>
      <p:sp>
        <p:nvSpPr>
          <p:cNvPr id="49" name="Text 47"/>
          <p:cNvSpPr/>
          <p:nvPr/>
        </p:nvSpPr>
        <p:spPr>
          <a:xfrm>
            <a:off x="8202168" y="4014216"/>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50" name="Shape 48"/>
          <p:cNvSpPr/>
          <p:nvPr/>
        </p:nvSpPr>
        <p:spPr>
          <a:xfrm>
            <a:off x="228600" y="4334256"/>
            <a:ext cx="8686800" cy="374904"/>
          </a:xfrm>
          <a:prstGeom prst="rect">
            <a:avLst/>
          </a:prstGeom>
          <a:solidFill>
            <a:srgbClr val="F8FAFF"/>
          </a:solidFill>
          <a:ln/>
        </p:spPr>
        <p:txBody>
          <a:bodyPr/>
          <a:lstStyle/>
          <a:p>
            <a:endParaRPr/>
          </a:p>
        </p:txBody>
      </p:sp>
      <p:sp>
        <p:nvSpPr>
          <p:cNvPr id="51" name="Text 49"/>
          <p:cNvSpPr/>
          <p:nvPr/>
        </p:nvSpPr>
        <p:spPr>
          <a:xfrm>
            <a:off x="320040" y="4334256"/>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Error Handling</a:t>
            </a:r>
            <a:endParaRPr lang="en-US" sz="950" dirty="0"/>
          </a:p>
        </p:txBody>
      </p:sp>
      <p:sp>
        <p:nvSpPr>
          <p:cNvPr id="52" name="Text 50"/>
          <p:cNvSpPr/>
          <p:nvPr/>
        </p:nvSpPr>
        <p:spPr>
          <a:xfrm>
            <a:off x="3108960" y="4334256"/>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Centralized exception capture with safe fallback mechanisms</a:t>
            </a:r>
            <a:endParaRPr lang="en-US" sz="900" dirty="0"/>
          </a:p>
        </p:txBody>
      </p:sp>
      <p:sp>
        <p:nvSpPr>
          <p:cNvPr id="53" name="Shape 51"/>
          <p:cNvSpPr/>
          <p:nvPr/>
        </p:nvSpPr>
        <p:spPr>
          <a:xfrm>
            <a:off x="8202168" y="4407408"/>
            <a:ext cx="640080" cy="237744"/>
          </a:xfrm>
          <a:prstGeom prst="roundRect">
            <a:avLst>
              <a:gd name="adj" fmla="val 19231"/>
            </a:avLst>
          </a:prstGeom>
          <a:solidFill>
            <a:srgbClr val="D1FAE5"/>
          </a:solidFill>
          <a:ln/>
        </p:spPr>
        <p:txBody>
          <a:bodyPr/>
          <a:lstStyle/>
          <a:p>
            <a:endParaRPr/>
          </a:p>
        </p:txBody>
      </p:sp>
      <p:sp>
        <p:nvSpPr>
          <p:cNvPr id="54" name="Text 52"/>
          <p:cNvSpPr/>
          <p:nvPr/>
        </p:nvSpPr>
        <p:spPr>
          <a:xfrm>
            <a:off x="8202168" y="4407408"/>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55" name="Shape 53"/>
          <p:cNvSpPr/>
          <p:nvPr/>
        </p:nvSpPr>
        <p:spPr>
          <a:xfrm>
            <a:off x="228600" y="4727448"/>
            <a:ext cx="8686800" cy="374904"/>
          </a:xfrm>
          <a:prstGeom prst="rect">
            <a:avLst/>
          </a:prstGeom>
          <a:solidFill>
            <a:srgbClr val="FFFFFF"/>
          </a:solidFill>
          <a:ln/>
        </p:spPr>
        <p:txBody>
          <a:bodyPr/>
          <a:lstStyle/>
          <a:p>
            <a:endParaRPr/>
          </a:p>
        </p:txBody>
      </p:sp>
      <p:sp>
        <p:nvSpPr>
          <p:cNvPr id="56" name="Text 54"/>
          <p:cNvSpPr/>
          <p:nvPr/>
        </p:nvSpPr>
        <p:spPr>
          <a:xfrm>
            <a:off x="320040" y="4727448"/>
            <a:ext cx="2743200" cy="393192"/>
          </a:xfrm>
          <a:prstGeom prst="rect">
            <a:avLst/>
          </a:prstGeom>
          <a:noFill/>
          <a:ln/>
        </p:spPr>
        <p:txBody>
          <a:bodyPr wrap="square" lIns="50800" tIns="50800" rIns="50800" bIns="50800" rtlCol="0" anchor="ctr"/>
          <a:lstStyle/>
          <a:p>
            <a:pPr marL="0" indent="0">
              <a:buNone/>
            </a:pPr>
            <a:r>
              <a:rPr lang="en-US" sz="950" b="1" dirty="0">
                <a:solidFill>
                  <a:srgbClr val="132040"/>
                </a:solidFill>
                <a:latin typeface="Calibri" pitchFamily="34" charset="0"/>
                <a:ea typeface="Calibri" pitchFamily="34" charset="-122"/>
                <a:cs typeface="Calibri" pitchFamily="34" charset="-120"/>
              </a:rPr>
              <a:t>GitHub Collaboration</a:t>
            </a:r>
            <a:endParaRPr lang="en-US" sz="950" dirty="0"/>
          </a:p>
        </p:txBody>
      </p:sp>
      <p:sp>
        <p:nvSpPr>
          <p:cNvPr id="57" name="Text 55"/>
          <p:cNvSpPr/>
          <p:nvPr/>
        </p:nvSpPr>
        <p:spPr>
          <a:xfrm>
            <a:off x="3108960" y="4727448"/>
            <a:ext cx="5029200" cy="393192"/>
          </a:xfrm>
          <a:prstGeom prst="rect">
            <a:avLst/>
          </a:prstGeom>
          <a:noFill/>
          <a:ln/>
        </p:spPr>
        <p:txBody>
          <a:bodyPr wrap="square" lIns="50800" tIns="50800" rIns="50800" bIns="50800" rtlCol="0" anchor="ctr"/>
          <a:lstStyle/>
          <a:p>
            <a:pPr marL="0" indent="0">
              <a:buNone/>
            </a:pPr>
            <a:r>
              <a:rPr lang="en-US" sz="900" dirty="0">
                <a:solidFill>
                  <a:srgbClr val="3A5070"/>
                </a:solidFill>
                <a:latin typeface="Calibri" pitchFamily="34" charset="0"/>
                <a:ea typeface="Calibri" pitchFamily="34" charset="-122"/>
                <a:cs typeface="Calibri" pitchFamily="34" charset="-120"/>
              </a:rPr>
              <a:t>Shared repository with branching and commit history</a:t>
            </a:r>
            <a:endParaRPr lang="en-US" sz="900" dirty="0"/>
          </a:p>
        </p:txBody>
      </p:sp>
      <p:sp>
        <p:nvSpPr>
          <p:cNvPr id="58" name="Shape 56"/>
          <p:cNvSpPr/>
          <p:nvPr/>
        </p:nvSpPr>
        <p:spPr>
          <a:xfrm>
            <a:off x="8202168" y="4800600"/>
            <a:ext cx="640080" cy="237744"/>
          </a:xfrm>
          <a:prstGeom prst="roundRect">
            <a:avLst>
              <a:gd name="adj" fmla="val 19231"/>
            </a:avLst>
          </a:prstGeom>
          <a:solidFill>
            <a:srgbClr val="D1FAE5"/>
          </a:solidFill>
          <a:ln/>
        </p:spPr>
        <p:txBody>
          <a:bodyPr/>
          <a:lstStyle/>
          <a:p>
            <a:endParaRPr/>
          </a:p>
        </p:txBody>
      </p:sp>
      <p:sp>
        <p:nvSpPr>
          <p:cNvPr id="59" name="Text 57"/>
          <p:cNvSpPr/>
          <p:nvPr/>
        </p:nvSpPr>
        <p:spPr>
          <a:xfrm>
            <a:off x="8202168" y="4800600"/>
            <a:ext cx="640080" cy="237744"/>
          </a:xfrm>
          <a:prstGeom prst="rect">
            <a:avLst/>
          </a:prstGeom>
          <a:noFill/>
          <a:ln/>
        </p:spPr>
        <p:txBody>
          <a:bodyPr wrap="square" lIns="0" tIns="0" rIns="0" bIns="0" rtlCol="0" anchor="ctr"/>
          <a:lstStyle/>
          <a:p>
            <a:pPr marL="0" indent="0" algn="ctr">
              <a:buNone/>
            </a:pPr>
            <a:r>
              <a:rPr lang="en-US" sz="800" b="1" dirty="0">
                <a:solidFill>
                  <a:srgbClr val="065F46"/>
                </a:solidFill>
              </a:rPr>
              <a:t>✓ DONE</a:t>
            </a:r>
            <a:endParaRPr lang="en-US" sz="800" dirty="0"/>
          </a:p>
        </p:txBody>
      </p:sp>
      <p:sp>
        <p:nvSpPr>
          <p:cNvPr id="60" name="TextBox 59"/>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gradFill>
            <a:gsLst>
              <a:gs pos="11000">
                <a:srgbClr val="0070C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sp>
        <p:nvSpPr>
          <p:cNvPr id="4" name="Text 2"/>
          <p:cNvSpPr/>
          <p:nvPr/>
        </p:nvSpPr>
        <p:spPr>
          <a:xfrm>
            <a:off x="365760" y="91440"/>
            <a:ext cx="64008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Global System Architecture</a:t>
            </a:r>
            <a:endParaRPr lang="en-US" sz="2400" dirty="0"/>
          </a:p>
        </p:txBody>
      </p:sp>
      <p:sp>
        <p:nvSpPr>
          <p:cNvPr id="5" name="Text 3"/>
          <p:cNvSpPr/>
          <p:nvPr/>
        </p:nvSpPr>
        <p:spPr>
          <a:xfrm>
            <a:off x="6858000" y="182880"/>
            <a:ext cx="2103120" cy="320040"/>
          </a:xfrm>
          <a:prstGeom prst="rect">
            <a:avLst/>
          </a:prstGeom>
          <a:noFill/>
          <a:ln/>
        </p:spPr>
        <p:txBody>
          <a:bodyPr wrap="square" lIns="0" tIns="0" rIns="0" bIns="0" rtlCol="0" anchor="ctr"/>
          <a:lstStyle/>
          <a:p>
            <a:pPr marL="0" indent="0" algn="r">
              <a:buNone/>
            </a:pPr>
            <a:r>
              <a:rPr lang="en-US" sz="1000" i="1" dirty="0">
                <a:solidFill>
                  <a:srgbClr val="00C8FF"/>
                </a:solidFill>
              </a:rPr>
              <a:t>End-to-End Agent Pipeline</a:t>
            </a:r>
            <a:endParaRPr lang="en-US" sz="1000" dirty="0"/>
          </a:p>
        </p:txBody>
      </p:sp>
      <p:sp>
        <p:nvSpPr>
          <p:cNvPr id="6" name="Shape 4"/>
          <p:cNvSpPr/>
          <p:nvPr/>
        </p:nvSpPr>
        <p:spPr>
          <a:xfrm>
            <a:off x="274320" y="777240"/>
            <a:ext cx="2286000" cy="1005840"/>
          </a:xfrm>
          <a:prstGeom prst="rect">
            <a:avLst/>
          </a:prstGeom>
          <a:solidFill>
            <a:srgbClr val="1E5EFF"/>
          </a:solidFill>
          <a:ln/>
          <a:effectLst>
            <a:outerShdw blurRad="101600" dist="25400" dir="8100000" algn="bl" rotWithShape="0">
              <a:srgbClr val="000000">
                <a:alpha val="20000"/>
              </a:srgbClr>
            </a:outerShdw>
          </a:effectLst>
        </p:spPr>
        <p:txBody>
          <a:bodyPr/>
          <a:lstStyle/>
          <a:p>
            <a:endParaRPr/>
          </a:p>
        </p:txBody>
      </p:sp>
      <p:sp>
        <p:nvSpPr>
          <p:cNvPr id="7" name="Shape 5"/>
          <p:cNvSpPr/>
          <p:nvPr/>
        </p:nvSpPr>
        <p:spPr>
          <a:xfrm>
            <a:off x="274320" y="777240"/>
            <a:ext cx="54864" cy="1005840"/>
          </a:xfrm>
          <a:prstGeom prst="rect">
            <a:avLst/>
          </a:prstGeom>
          <a:solidFill>
            <a:srgbClr val="00C8FF"/>
          </a:solidFill>
          <a:ln/>
        </p:spPr>
        <p:txBody>
          <a:bodyPr/>
          <a:lstStyle/>
          <a:p>
            <a:endParaRPr/>
          </a:p>
        </p:txBody>
      </p:sp>
      <p:pic>
        <p:nvPicPr>
          <p:cNvPr id="8" name="Image 0" descr="preencoded.png"/>
          <p:cNvPicPr>
            <a:picLocks noChangeAspect="1"/>
          </p:cNvPicPr>
          <p:nvPr/>
        </p:nvPicPr>
        <p:blipFill>
          <a:blip r:embed="rId3"/>
          <a:stretch>
            <a:fillRect/>
          </a:stretch>
        </p:blipFill>
        <p:spPr>
          <a:xfrm>
            <a:off x="411480" y="1033272"/>
            <a:ext cx="502920" cy="502920"/>
          </a:xfrm>
          <a:prstGeom prst="rect">
            <a:avLst/>
          </a:prstGeom>
        </p:spPr>
      </p:pic>
      <p:sp>
        <p:nvSpPr>
          <p:cNvPr id="9" name="Text 6"/>
          <p:cNvSpPr/>
          <p:nvPr/>
        </p:nvSpPr>
        <p:spPr>
          <a:xfrm>
            <a:off x="1024128" y="868680"/>
            <a:ext cx="1463040" cy="36576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10" name="Text 7"/>
          <p:cNvSpPr/>
          <p:nvPr/>
        </p:nvSpPr>
        <p:spPr>
          <a:xfrm>
            <a:off x="1024128" y="1216152"/>
            <a:ext cx="1463040" cy="457200"/>
          </a:xfrm>
          <a:prstGeom prst="rect">
            <a:avLst/>
          </a:prstGeom>
          <a:noFill/>
          <a:ln/>
        </p:spPr>
        <p:txBody>
          <a:bodyPr wrap="square" lIns="0" tIns="0" rIns="0" bIns="0" rtlCol="0" anchor="ctr"/>
          <a:lstStyle/>
          <a:p>
            <a:pPr marL="0" indent="0">
              <a:buNone/>
            </a:pPr>
            <a:r>
              <a:rPr lang="en-US" sz="800" dirty="0">
                <a:solidFill>
                  <a:srgbClr val="7A9CC0"/>
                </a:solidFill>
                <a:latin typeface="Calibri" pitchFamily="34" charset="0"/>
                <a:ea typeface="Calibri" pitchFamily="34" charset="-122"/>
                <a:cs typeface="Calibri" pitchFamily="34" charset="-120"/>
              </a:rPr>
              <a:t>Inputs product name</a:t>
            </a:r>
            <a:endParaRPr lang="en-US" sz="800" dirty="0"/>
          </a:p>
        </p:txBody>
      </p:sp>
      <p:sp>
        <p:nvSpPr>
          <p:cNvPr id="11" name="Text 8"/>
          <p:cNvSpPr/>
          <p:nvPr/>
        </p:nvSpPr>
        <p:spPr>
          <a:xfrm>
            <a:off x="1280160" y="1783080"/>
            <a:ext cx="274320" cy="292608"/>
          </a:xfrm>
          <a:prstGeom prst="rect">
            <a:avLst/>
          </a:prstGeom>
          <a:noFill/>
          <a:ln/>
        </p:spPr>
        <p:txBody>
          <a:bodyPr wrap="square" lIns="0" tIns="0" rIns="0" bIns="0" rtlCol="0" anchor="ctr"/>
          <a:lstStyle/>
          <a:p>
            <a:pPr marL="0" indent="0" algn="ctr">
              <a:buNone/>
            </a:pPr>
            <a:r>
              <a:rPr lang="en-US" sz="1400" dirty="0">
                <a:solidFill>
                  <a:srgbClr val="1E5EFF"/>
                </a:solidFill>
              </a:rPr>
              <a:t>↓</a:t>
            </a:r>
            <a:endParaRPr lang="en-US" sz="1400" dirty="0"/>
          </a:p>
        </p:txBody>
      </p:sp>
      <p:sp>
        <p:nvSpPr>
          <p:cNvPr id="12" name="Shape 9"/>
          <p:cNvSpPr/>
          <p:nvPr/>
        </p:nvSpPr>
        <p:spPr>
          <a:xfrm>
            <a:off x="274320" y="2075688"/>
            <a:ext cx="2286000" cy="1005840"/>
          </a:xfrm>
          <a:prstGeom prst="rect">
            <a:avLst/>
          </a:prstGeom>
          <a:solidFill>
            <a:srgbClr val="007BAA"/>
          </a:solidFill>
          <a:ln/>
          <a:effectLst>
            <a:outerShdw blurRad="101600" dist="25400" dir="8100000" algn="bl" rotWithShape="0">
              <a:srgbClr val="000000">
                <a:alpha val="20000"/>
              </a:srgbClr>
            </a:outerShdw>
          </a:effectLst>
        </p:spPr>
        <p:txBody>
          <a:bodyPr/>
          <a:lstStyle/>
          <a:p>
            <a:endParaRPr/>
          </a:p>
        </p:txBody>
      </p:sp>
      <p:sp>
        <p:nvSpPr>
          <p:cNvPr id="13" name="Shape 10"/>
          <p:cNvSpPr/>
          <p:nvPr/>
        </p:nvSpPr>
        <p:spPr>
          <a:xfrm>
            <a:off x="274320" y="2075688"/>
            <a:ext cx="54864" cy="1005840"/>
          </a:xfrm>
          <a:prstGeom prst="rect">
            <a:avLst/>
          </a:prstGeom>
          <a:solidFill>
            <a:srgbClr val="1E5EFF"/>
          </a:solidFill>
          <a:ln/>
        </p:spPr>
        <p:txBody>
          <a:bodyPr/>
          <a:lstStyle/>
          <a:p>
            <a:endParaRPr/>
          </a:p>
        </p:txBody>
      </p:sp>
      <p:pic>
        <p:nvPicPr>
          <p:cNvPr id="14" name="Image 1" descr="preencoded.png"/>
          <p:cNvPicPr>
            <a:picLocks noChangeAspect="1"/>
          </p:cNvPicPr>
          <p:nvPr/>
        </p:nvPicPr>
        <p:blipFill>
          <a:blip r:embed="rId4"/>
          <a:stretch>
            <a:fillRect/>
          </a:stretch>
        </p:blipFill>
        <p:spPr>
          <a:xfrm>
            <a:off x="411480" y="2331720"/>
            <a:ext cx="502920" cy="502920"/>
          </a:xfrm>
          <a:prstGeom prst="rect">
            <a:avLst/>
          </a:prstGeom>
        </p:spPr>
      </p:pic>
      <p:sp>
        <p:nvSpPr>
          <p:cNvPr id="15" name="Text 11"/>
          <p:cNvSpPr/>
          <p:nvPr/>
        </p:nvSpPr>
        <p:spPr>
          <a:xfrm>
            <a:off x="1024128" y="2167128"/>
            <a:ext cx="1463040" cy="36576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STREAMLIT APP</a:t>
            </a:r>
            <a:endParaRPr lang="en-US" sz="900" dirty="0"/>
          </a:p>
        </p:txBody>
      </p:sp>
      <p:sp>
        <p:nvSpPr>
          <p:cNvPr id="16" name="Text 12"/>
          <p:cNvSpPr/>
          <p:nvPr/>
        </p:nvSpPr>
        <p:spPr>
          <a:xfrm>
            <a:off x="1024128" y="2514600"/>
            <a:ext cx="1463040" cy="457200"/>
          </a:xfrm>
          <a:prstGeom prst="rect">
            <a:avLst/>
          </a:prstGeom>
          <a:noFill/>
          <a:ln/>
        </p:spPr>
        <p:txBody>
          <a:bodyPr wrap="square" lIns="0" tIns="0" rIns="0" bIns="0" rtlCol="0" anchor="ctr"/>
          <a:lstStyle/>
          <a:p>
            <a:pPr marL="0" indent="0">
              <a:buNone/>
            </a:pPr>
            <a:r>
              <a:rPr lang="en-US" sz="800" dirty="0">
                <a:solidFill>
                  <a:srgbClr val="7A9CC0"/>
                </a:solidFill>
                <a:latin typeface="Calibri" pitchFamily="34" charset="0"/>
                <a:ea typeface="Calibri" pitchFamily="34" charset="-122"/>
                <a:cs typeface="Calibri" pitchFamily="34" charset="-120"/>
              </a:rPr>
              <a:t>Interactive web interface</a:t>
            </a:r>
            <a:endParaRPr lang="en-US" sz="800" dirty="0"/>
          </a:p>
        </p:txBody>
      </p:sp>
      <p:sp>
        <p:nvSpPr>
          <p:cNvPr id="17" name="Text 13"/>
          <p:cNvSpPr/>
          <p:nvPr/>
        </p:nvSpPr>
        <p:spPr>
          <a:xfrm>
            <a:off x="1280160" y="3081528"/>
            <a:ext cx="274320" cy="292608"/>
          </a:xfrm>
          <a:prstGeom prst="rect">
            <a:avLst/>
          </a:prstGeom>
          <a:noFill/>
          <a:ln/>
        </p:spPr>
        <p:txBody>
          <a:bodyPr wrap="square" lIns="0" tIns="0" rIns="0" bIns="0" rtlCol="0" anchor="ctr"/>
          <a:lstStyle/>
          <a:p>
            <a:pPr marL="0" indent="0" algn="ctr">
              <a:buNone/>
            </a:pPr>
            <a:r>
              <a:rPr lang="en-US" sz="1400" dirty="0">
                <a:solidFill>
                  <a:srgbClr val="1E5EFF"/>
                </a:solidFill>
              </a:rPr>
              <a:t>↓</a:t>
            </a:r>
            <a:endParaRPr lang="en-US" sz="1400" dirty="0"/>
          </a:p>
        </p:txBody>
      </p:sp>
      <p:sp>
        <p:nvSpPr>
          <p:cNvPr id="18" name="Shape 14"/>
          <p:cNvSpPr/>
          <p:nvPr/>
        </p:nvSpPr>
        <p:spPr>
          <a:xfrm>
            <a:off x="274320" y="3374136"/>
            <a:ext cx="2286000" cy="1005840"/>
          </a:xfrm>
          <a:prstGeom prst="rect">
            <a:avLst/>
          </a:prstGeom>
          <a:solidFill>
            <a:srgbClr val="132040"/>
          </a:solidFill>
          <a:ln/>
          <a:effectLst>
            <a:outerShdw blurRad="101600" dist="25400" dir="8100000" algn="bl" rotWithShape="0">
              <a:srgbClr val="000000">
                <a:alpha val="20000"/>
              </a:srgbClr>
            </a:outerShdw>
          </a:effectLst>
        </p:spPr>
        <p:txBody>
          <a:bodyPr/>
          <a:lstStyle/>
          <a:p>
            <a:endParaRPr/>
          </a:p>
        </p:txBody>
      </p:sp>
      <p:sp>
        <p:nvSpPr>
          <p:cNvPr id="19" name="Shape 15"/>
          <p:cNvSpPr/>
          <p:nvPr/>
        </p:nvSpPr>
        <p:spPr>
          <a:xfrm>
            <a:off x="274320" y="3374136"/>
            <a:ext cx="54864" cy="1005840"/>
          </a:xfrm>
          <a:prstGeom prst="rect">
            <a:avLst/>
          </a:prstGeom>
          <a:solidFill>
            <a:srgbClr val="1E5EFF"/>
          </a:solidFill>
          <a:ln/>
        </p:spPr>
        <p:txBody>
          <a:bodyPr/>
          <a:lstStyle/>
          <a:p>
            <a:endParaRPr/>
          </a:p>
        </p:txBody>
      </p:sp>
      <p:pic>
        <p:nvPicPr>
          <p:cNvPr id="20" name="Image 2" descr="preencoded.png"/>
          <p:cNvPicPr>
            <a:picLocks noChangeAspect="1"/>
          </p:cNvPicPr>
          <p:nvPr/>
        </p:nvPicPr>
        <p:blipFill>
          <a:blip r:embed="rId5"/>
          <a:stretch>
            <a:fillRect/>
          </a:stretch>
        </p:blipFill>
        <p:spPr>
          <a:xfrm>
            <a:off x="411480" y="3630168"/>
            <a:ext cx="502920" cy="502920"/>
          </a:xfrm>
          <a:prstGeom prst="rect">
            <a:avLst/>
          </a:prstGeom>
        </p:spPr>
      </p:pic>
      <p:sp>
        <p:nvSpPr>
          <p:cNvPr id="21" name="Text 16"/>
          <p:cNvSpPr/>
          <p:nvPr/>
        </p:nvSpPr>
        <p:spPr>
          <a:xfrm>
            <a:off x="1024128" y="3465576"/>
            <a:ext cx="1463040" cy="36576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ORCHESTRATOR</a:t>
            </a:r>
            <a:endParaRPr lang="en-US" sz="900" dirty="0"/>
          </a:p>
        </p:txBody>
      </p:sp>
      <p:sp>
        <p:nvSpPr>
          <p:cNvPr id="22" name="Text 17"/>
          <p:cNvSpPr/>
          <p:nvPr/>
        </p:nvSpPr>
        <p:spPr>
          <a:xfrm>
            <a:off x="1024128" y="3813048"/>
            <a:ext cx="1463040" cy="457200"/>
          </a:xfrm>
          <a:prstGeom prst="rect">
            <a:avLst/>
          </a:prstGeom>
          <a:noFill/>
          <a:ln/>
        </p:spPr>
        <p:txBody>
          <a:bodyPr wrap="square" lIns="0" tIns="0" rIns="0" bIns="0" rtlCol="0" anchor="ctr"/>
          <a:lstStyle/>
          <a:p>
            <a:pPr marL="0" indent="0">
              <a:buNone/>
            </a:pPr>
            <a:r>
              <a:rPr lang="en-US" sz="800" dirty="0">
                <a:solidFill>
                  <a:srgbClr val="7A9CC0"/>
                </a:solidFill>
                <a:latin typeface="Calibri" pitchFamily="34" charset="0"/>
                <a:ea typeface="Calibri" pitchFamily="34" charset="-122"/>
                <a:cs typeface="Calibri" pitchFamily="34" charset="-120"/>
              </a:rPr>
              <a:t>Coordinates full workflow</a:t>
            </a:r>
            <a:endParaRPr lang="en-US" sz="800" dirty="0"/>
          </a:p>
        </p:txBody>
      </p:sp>
      <p:sp>
        <p:nvSpPr>
          <p:cNvPr id="23" name="Text 18"/>
          <p:cNvSpPr/>
          <p:nvPr/>
        </p:nvSpPr>
        <p:spPr>
          <a:xfrm>
            <a:off x="2578608" y="2286000"/>
            <a:ext cx="320040" cy="274320"/>
          </a:xfrm>
          <a:prstGeom prst="rect">
            <a:avLst/>
          </a:prstGeom>
          <a:noFill/>
          <a:ln/>
        </p:spPr>
        <p:txBody>
          <a:bodyPr wrap="square" lIns="0" tIns="0" rIns="0" bIns="0" rtlCol="0" anchor="ctr"/>
          <a:lstStyle/>
          <a:p>
            <a:pPr marL="0" indent="0" algn="ctr">
              <a:buNone/>
            </a:pPr>
            <a:r>
              <a:rPr lang="en-US" sz="1600" dirty="0">
                <a:solidFill>
                  <a:srgbClr val="1E5EFF"/>
                </a:solidFill>
              </a:rPr>
              <a:t>→</a:t>
            </a:r>
            <a:endParaRPr lang="en-US" sz="1600" dirty="0"/>
          </a:p>
        </p:txBody>
      </p:sp>
      <p:sp>
        <p:nvSpPr>
          <p:cNvPr id="24" name="Shape 19"/>
          <p:cNvSpPr/>
          <p:nvPr/>
        </p:nvSpPr>
        <p:spPr>
          <a:xfrm>
            <a:off x="2926080" y="777240"/>
            <a:ext cx="5852160" cy="685800"/>
          </a:xfrm>
          <a:prstGeom prst="rect">
            <a:avLst/>
          </a:prstGeom>
          <a:solidFill>
            <a:srgbClr val="102035"/>
          </a:solidFill>
          <a:ln/>
          <a:effectLst>
            <a:outerShdw blurRad="76200" dist="25400" dir="8100000" algn="bl" rotWithShape="0">
              <a:srgbClr val="000000">
                <a:alpha val="18000"/>
              </a:srgbClr>
            </a:outerShdw>
          </a:effectLst>
        </p:spPr>
        <p:txBody>
          <a:bodyPr/>
          <a:lstStyle/>
          <a:p>
            <a:endParaRPr/>
          </a:p>
        </p:txBody>
      </p:sp>
      <p:sp>
        <p:nvSpPr>
          <p:cNvPr id="25" name="Shape 20"/>
          <p:cNvSpPr/>
          <p:nvPr/>
        </p:nvSpPr>
        <p:spPr>
          <a:xfrm>
            <a:off x="2926080" y="777240"/>
            <a:ext cx="54864" cy="685800"/>
          </a:xfrm>
          <a:prstGeom prst="rect">
            <a:avLst/>
          </a:prstGeom>
          <a:solidFill>
            <a:srgbClr val="1E5EFF"/>
          </a:solidFill>
          <a:ln/>
        </p:spPr>
        <p:txBody>
          <a:bodyPr/>
          <a:lstStyle/>
          <a:p>
            <a:endParaRPr/>
          </a:p>
        </p:txBody>
      </p:sp>
      <p:pic>
        <p:nvPicPr>
          <p:cNvPr id="26" name="Image 3" descr="preencoded.png"/>
          <p:cNvPicPr>
            <a:picLocks noChangeAspect="1"/>
          </p:cNvPicPr>
          <p:nvPr/>
        </p:nvPicPr>
        <p:blipFill>
          <a:blip r:embed="rId6"/>
          <a:stretch>
            <a:fillRect/>
          </a:stretch>
        </p:blipFill>
        <p:spPr>
          <a:xfrm>
            <a:off x="3063240" y="886968"/>
            <a:ext cx="457200" cy="457200"/>
          </a:xfrm>
          <a:prstGeom prst="rect">
            <a:avLst/>
          </a:prstGeom>
        </p:spPr>
      </p:pic>
      <p:sp>
        <p:nvSpPr>
          <p:cNvPr id="27" name="Text 21"/>
          <p:cNvSpPr/>
          <p:nvPr/>
        </p:nvSpPr>
        <p:spPr>
          <a:xfrm>
            <a:off x="3675888" y="832104"/>
            <a:ext cx="2286000"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COLLECTOR AGENT</a:t>
            </a:r>
            <a:endParaRPr lang="en-US" sz="1000" dirty="0"/>
          </a:p>
        </p:txBody>
      </p:sp>
      <p:sp>
        <p:nvSpPr>
          <p:cNvPr id="28" name="Text 22"/>
          <p:cNvSpPr/>
          <p:nvPr/>
        </p:nvSpPr>
        <p:spPr>
          <a:xfrm>
            <a:off x="3675888" y="1124712"/>
            <a:ext cx="4572000" cy="274320"/>
          </a:xfrm>
          <a:prstGeom prst="rect">
            <a:avLst/>
          </a:prstGeom>
          <a:noFill/>
          <a:ln/>
        </p:spPr>
        <p:txBody>
          <a:bodyPr wrap="square" lIns="0" tIns="0" rIns="0" bIns="0" rtlCol="0" anchor="ctr"/>
          <a:lstStyle/>
          <a:p>
            <a:pPr marL="0" indent="0">
              <a:buNone/>
            </a:pPr>
            <a:r>
              <a:rPr lang="en-US" sz="850" dirty="0">
                <a:solidFill>
                  <a:srgbClr val="7A9CC0"/>
                </a:solidFill>
                <a:latin typeface="Calibri" pitchFamily="34" charset="0"/>
                <a:ea typeface="Calibri" pitchFamily="34" charset="-122"/>
                <a:cs typeface="Calibri" pitchFamily="34" charset="-120"/>
              </a:rPr>
              <a:t>Fetches reviews from Amazon Reviews 2023</a:t>
            </a:r>
            <a:endParaRPr lang="en-US" sz="850" dirty="0"/>
          </a:p>
        </p:txBody>
      </p:sp>
      <p:sp>
        <p:nvSpPr>
          <p:cNvPr id="29" name="Text 23"/>
          <p:cNvSpPr/>
          <p:nvPr/>
        </p:nvSpPr>
        <p:spPr>
          <a:xfrm>
            <a:off x="5577840" y="1463040"/>
            <a:ext cx="274320" cy="137160"/>
          </a:xfrm>
          <a:prstGeom prst="rect">
            <a:avLst/>
          </a:prstGeom>
          <a:noFill/>
          <a:ln/>
        </p:spPr>
        <p:txBody>
          <a:bodyPr wrap="square" lIns="0" tIns="0" rIns="0" bIns="0" rtlCol="0" anchor="ctr"/>
          <a:lstStyle/>
          <a:p>
            <a:pPr marL="0" indent="0" algn="ctr">
              <a:buNone/>
            </a:pPr>
            <a:r>
              <a:rPr lang="en-US" sz="1100" dirty="0">
                <a:solidFill>
                  <a:srgbClr val="1E5EFF"/>
                </a:solidFill>
              </a:rPr>
              <a:t>↓</a:t>
            </a:r>
            <a:endParaRPr lang="en-US" sz="1100" dirty="0"/>
          </a:p>
        </p:txBody>
      </p:sp>
      <p:sp>
        <p:nvSpPr>
          <p:cNvPr id="30" name="Shape 24"/>
          <p:cNvSpPr/>
          <p:nvPr/>
        </p:nvSpPr>
        <p:spPr>
          <a:xfrm>
            <a:off x="2926080" y="1600200"/>
            <a:ext cx="5852160" cy="685800"/>
          </a:xfrm>
          <a:prstGeom prst="rect">
            <a:avLst/>
          </a:prstGeom>
          <a:solidFill>
            <a:srgbClr val="102035"/>
          </a:solidFill>
          <a:ln/>
          <a:effectLst>
            <a:outerShdw blurRad="76200" dist="25400" dir="8100000" algn="bl" rotWithShape="0">
              <a:srgbClr val="000000">
                <a:alpha val="18000"/>
              </a:srgbClr>
            </a:outerShdw>
          </a:effectLst>
        </p:spPr>
        <p:txBody>
          <a:bodyPr/>
          <a:lstStyle/>
          <a:p>
            <a:endParaRPr/>
          </a:p>
        </p:txBody>
      </p:sp>
      <p:sp>
        <p:nvSpPr>
          <p:cNvPr id="31" name="Shape 25"/>
          <p:cNvSpPr/>
          <p:nvPr/>
        </p:nvSpPr>
        <p:spPr>
          <a:xfrm>
            <a:off x="2926080" y="1600200"/>
            <a:ext cx="54864" cy="685800"/>
          </a:xfrm>
          <a:prstGeom prst="rect">
            <a:avLst/>
          </a:prstGeom>
          <a:solidFill>
            <a:srgbClr val="1E5EFF"/>
          </a:solidFill>
          <a:ln/>
        </p:spPr>
        <p:txBody>
          <a:bodyPr/>
          <a:lstStyle/>
          <a:p>
            <a:endParaRPr/>
          </a:p>
        </p:txBody>
      </p:sp>
      <p:pic>
        <p:nvPicPr>
          <p:cNvPr id="32" name="Image 4" descr="preencoded.png"/>
          <p:cNvPicPr>
            <a:picLocks noChangeAspect="1"/>
          </p:cNvPicPr>
          <p:nvPr/>
        </p:nvPicPr>
        <p:blipFill>
          <a:blip r:embed="rId7"/>
          <a:stretch>
            <a:fillRect/>
          </a:stretch>
        </p:blipFill>
        <p:spPr>
          <a:xfrm>
            <a:off x="3063240" y="1709928"/>
            <a:ext cx="457200" cy="457200"/>
          </a:xfrm>
          <a:prstGeom prst="rect">
            <a:avLst/>
          </a:prstGeom>
        </p:spPr>
      </p:pic>
      <p:sp>
        <p:nvSpPr>
          <p:cNvPr id="33" name="Text 26"/>
          <p:cNvSpPr/>
          <p:nvPr/>
        </p:nvSpPr>
        <p:spPr>
          <a:xfrm>
            <a:off x="3675888" y="1655064"/>
            <a:ext cx="2286000"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SENTIMENT AGENT</a:t>
            </a:r>
            <a:endParaRPr lang="en-US" sz="1000" dirty="0"/>
          </a:p>
        </p:txBody>
      </p:sp>
      <p:sp>
        <p:nvSpPr>
          <p:cNvPr id="34" name="Text 27"/>
          <p:cNvSpPr/>
          <p:nvPr/>
        </p:nvSpPr>
        <p:spPr>
          <a:xfrm>
            <a:off x="3675888" y="1947672"/>
            <a:ext cx="4572000" cy="274320"/>
          </a:xfrm>
          <a:prstGeom prst="rect">
            <a:avLst/>
          </a:prstGeom>
          <a:noFill/>
          <a:ln/>
        </p:spPr>
        <p:txBody>
          <a:bodyPr wrap="square" lIns="0" tIns="0" rIns="0" bIns="0" rtlCol="0" anchor="ctr"/>
          <a:lstStyle/>
          <a:p>
            <a:pPr marL="0" indent="0">
              <a:buNone/>
            </a:pPr>
            <a:r>
              <a:rPr lang="en-US" sz="850" dirty="0">
                <a:solidFill>
                  <a:srgbClr val="7A9CC0"/>
                </a:solidFill>
                <a:latin typeface="Calibri" pitchFamily="34" charset="0"/>
                <a:ea typeface="Calibri" pitchFamily="34" charset="-122"/>
                <a:cs typeface="Calibri" pitchFamily="34" charset="-120"/>
              </a:rPr>
              <a:t>DistilBERT sentiment classification</a:t>
            </a:r>
            <a:endParaRPr lang="en-US" sz="850" dirty="0"/>
          </a:p>
        </p:txBody>
      </p:sp>
      <p:sp>
        <p:nvSpPr>
          <p:cNvPr id="35" name="Text 28"/>
          <p:cNvSpPr/>
          <p:nvPr/>
        </p:nvSpPr>
        <p:spPr>
          <a:xfrm>
            <a:off x="5577840" y="2286000"/>
            <a:ext cx="274320" cy="137160"/>
          </a:xfrm>
          <a:prstGeom prst="rect">
            <a:avLst/>
          </a:prstGeom>
          <a:noFill/>
          <a:ln/>
        </p:spPr>
        <p:txBody>
          <a:bodyPr wrap="square" lIns="0" tIns="0" rIns="0" bIns="0" rtlCol="0" anchor="ctr"/>
          <a:lstStyle/>
          <a:p>
            <a:pPr marL="0" indent="0" algn="ctr">
              <a:buNone/>
            </a:pPr>
            <a:r>
              <a:rPr lang="en-US" sz="1100" dirty="0">
                <a:solidFill>
                  <a:srgbClr val="1E5EFF"/>
                </a:solidFill>
              </a:rPr>
              <a:t>↓</a:t>
            </a:r>
            <a:endParaRPr lang="en-US" sz="1100" dirty="0"/>
          </a:p>
        </p:txBody>
      </p:sp>
      <p:sp>
        <p:nvSpPr>
          <p:cNvPr id="36" name="Shape 29"/>
          <p:cNvSpPr/>
          <p:nvPr/>
        </p:nvSpPr>
        <p:spPr>
          <a:xfrm>
            <a:off x="2926080" y="2423160"/>
            <a:ext cx="5852160" cy="685800"/>
          </a:xfrm>
          <a:prstGeom prst="rect">
            <a:avLst/>
          </a:prstGeom>
          <a:solidFill>
            <a:srgbClr val="102035"/>
          </a:solidFill>
          <a:ln/>
          <a:effectLst>
            <a:outerShdw blurRad="76200" dist="25400" dir="8100000" algn="bl" rotWithShape="0">
              <a:srgbClr val="000000">
                <a:alpha val="18000"/>
              </a:srgbClr>
            </a:outerShdw>
          </a:effectLst>
        </p:spPr>
        <p:txBody>
          <a:bodyPr/>
          <a:lstStyle/>
          <a:p>
            <a:endParaRPr/>
          </a:p>
        </p:txBody>
      </p:sp>
      <p:sp>
        <p:nvSpPr>
          <p:cNvPr id="37" name="Shape 30"/>
          <p:cNvSpPr/>
          <p:nvPr/>
        </p:nvSpPr>
        <p:spPr>
          <a:xfrm>
            <a:off x="2926080" y="2423160"/>
            <a:ext cx="54864" cy="685800"/>
          </a:xfrm>
          <a:prstGeom prst="rect">
            <a:avLst/>
          </a:prstGeom>
          <a:solidFill>
            <a:srgbClr val="1E5EFF"/>
          </a:solidFill>
          <a:ln/>
        </p:spPr>
        <p:txBody>
          <a:bodyPr/>
          <a:lstStyle/>
          <a:p>
            <a:endParaRPr/>
          </a:p>
        </p:txBody>
      </p:sp>
      <p:pic>
        <p:nvPicPr>
          <p:cNvPr id="38" name="Image 5" descr="preencoded.png"/>
          <p:cNvPicPr>
            <a:picLocks noChangeAspect="1"/>
          </p:cNvPicPr>
          <p:nvPr/>
        </p:nvPicPr>
        <p:blipFill>
          <a:blip r:embed="rId8"/>
          <a:stretch>
            <a:fillRect/>
          </a:stretch>
        </p:blipFill>
        <p:spPr>
          <a:xfrm>
            <a:off x="3063240" y="2532888"/>
            <a:ext cx="457200" cy="457200"/>
          </a:xfrm>
          <a:prstGeom prst="rect">
            <a:avLst/>
          </a:prstGeom>
        </p:spPr>
      </p:pic>
      <p:sp>
        <p:nvSpPr>
          <p:cNvPr id="39" name="Text 31"/>
          <p:cNvSpPr/>
          <p:nvPr/>
        </p:nvSpPr>
        <p:spPr>
          <a:xfrm>
            <a:off x="3675888" y="2478024"/>
            <a:ext cx="2286000"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INSIGHT AGENT</a:t>
            </a:r>
            <a:endParaRPr lang="en-US" sz="1000" dirty="0"/>
          </a:p>
        </p:txBody>
      </p:sp>
      <p:sp>
        <p:nvSpPr>
          <p:cNvPr id="40" name="Text 32"/>
          <p:cNvSpPr/>
          <p:nvPr/>
        </p:nvSpPr>
        <p:spPr>
          <a:xfrm>
            <a:off x="3675888" y="2770632"/>
            <a:ext cx="4572000" cy="274320"/>
          </a:xfrm>
          <a:prstGeom prst="rect">
            <a:avLst/>
          </a:prstGeom>
          <a:noFill/>
          <a:ln/>
        </p:spPr>
        <p:txBody>
          <a:bodyPr wrap="square" lIns="0" tIns="0" rIns="0" bIns="0" rtlCol="0" anchor="ctr"/>
          <a:lstStyle/>
          <a:p>
            <a:r>
              <a:rPr lang="en-US" sz="900" dirty="0">
                <a:solidFill>
                  <a:schemeClr val="accent1">
                    <a:lumMod val="60000"/>
                    <a:lumOff val="40000"/>
                  </a:schemeClr>
                </a:solidFill>
              </a:rPr>
              <a:t>Extracts business insights from sentiment results</a:t>
            </a:r>
            <a:endParaRPr lang="en-US" sz="850" dirty="0">
              <a:solidFill>
                <a:schemeClr val="accent1">
                  <a:lumMod val="60000"/>
                  <a:lumOff val="40000"/>
                </a:schemeClr>
              </a:solidFill>
            </a:endParaRPr>
          </a:p>
        </p:txBody>
      </p:sp>
      <p:sp>
        <p:nvSpPr>
          <p:cNvPr id="41" name="Text 33"/>
          <p:cNvSpPr/>
          <p:nvPr/>
        </p:nvSpPr>
        <p:spPr>
          <a:xfrm>
            <a:off x="5577840" y="3108960"/>
            <a:ext cx="274320" cy="137160"/>
          </a:xfrm>
          <a:prstGeom prst="rect">
            <a:avLst/>
          </a:prstGeom>
          <a:noFill/>
          <a:ln/>
        </p:spPr>
        <p:txBody>
          <a:bodyPr wrap="square" lIns="0" tIns="0" rIns="0" bIns="0" rtlCol="0" anchor="ctr"/>
          <a:lstStyle/>
          <a:p>
            <a:pPr marL="0" indent="0" algn="ctr">
              <a:buNone/>
            </a:pPr>
            <a:r>
              <a:rPr lang="en-US" sz="1100" dirty="0">
                <a:solidFill>
                  <a:srgbClr val="1E5EFF"/>
                </a:solidFill>
              </a:rPr>
              <a:t>↓</a:t>
            </a:r>
            <a:endParaRPr lang="en-US" sz="1100" dirty="0"/>
          </a:p>
        </p:txBody>
      </p:sp>
      <p:sp>
        <p:nvSpPr>
          <p:cNvPr id="42" name="Shape 34"/>
          <p:cNvSpPr/>
          <p:nvPr/>
        </p:nvSpPr>
        <p:spPr>
          <a:xfrm>
            <a:off x="2926080" y="3246120"/>
            <a:ext cx="5852160" cy="685800"/>
          </a:xfrm>
          <a:prstGeom prst="rect">
            <a:avLst/>
          </a:prstGeom>
          <a:solidFill>
            <a:srgbClr val="F59E0B"/>
          </a:solidFill>
          <a:ln/>
          <a:effectLst>
            <a:outerShdw blurRad="76200" dist="25400" dir="8100000" algn="bl" rotWithShape="0">
              <a:srgbClr val="000000">
                <a:alpha val="18000"/>
              </a:srgbClr>
            </a:outerShdw>
          </a:effectLst>
        </p:spPr>
        <p:txBody>
          <a:bodyPr/>
          <a:lstStyle/>
          <a:p>
            <a:endParaRPr/>
          </a:p>
        </p:txBody>
      </p:sp>
      <p:sp>
        <p:nvSpPr>
          <p:cNvPr id="43" name="Shape 35"/>
          <p:cNvSpPr/>
          <p:nvPr/>
        </p:nvSpPr>
        <p:spPr>
          <a:xfrm>
            <a:off x="2926080" y="3246120"/>
            <a:ext cx="54864" cy="685800"/>
          </a:xfrm>
          <a:prstGeom prst="rect">
            <a:avLst/>
          </a:prstGeom>
          <a:solidFill>
            <a:srgbClr val="F59E0B"/>
          </a:solidFill>
          <a:ln/>
        </p:spPr>
        <p:txBody>
          <a:bodyPr/>
          <a:lstStyle/>
          <a:p>
            <a:endParaRPr/>
          </a:p>
        </p:txBody>
      </p:sp>
      <p:pic>
        <p:nvPicPr>
          <p:cNvPr id="44" name="Image 6" descr="preencoded.png"/>
          <p:cNvPicPr>
            <a:picLocks noChangeAspect="1"/>
          </p:cNvPicPr>
          <p:nvPr/>
        </p:nvPicPr>
        <p:blipFill>
          <a:blip r:embed="rId9"/>
          <a:stretch>
            <a:fillRect/>
          </a:stretch>
        </p:blipFill>
        <p:spPr>
          <a:xfrm>
            <a:off x="3063240" y="3355848"/>
            <a:ext cx="457200" cy="457200"/>
          </a:xfrm>
          <a:prstGeom prst="rect">
            <a:avLst/>
          </a:prstGeom>
        </p:spPr>
      </p:pic>
      <p:sp>
        <p:nvSpPr>
          <p:cNvPr id="45" name="Text 36"/>
          <p:cNvSpPr/>
          <p:nvPr/>
        </p:nvSpPr>
        <p:spPr>
          <a:xfrm>
            <a:off x="3675888" y="3300984"/>
            <a:ext cx="2286000" cy="292608"/>
          </a:xfrm>
          <a:prstGeom prst="rect">
            <a:avLst/>
          </a:prstGeom>
          <a:noFill/>
          <a:ln/>
        </p:spPr>
        <p:txBody>
          <a:bodyPr wrap="square" lIns="0" tIns="0" rIns="0" bIns="0" rtlCol="0" anchor="ctr"/>
          <a:lstStyle/>
          <a:p>
            <a:pPr marL="0" indent="0">
              <a:buNone/>
            </a:pPr>
            <a:r>
              <a:rPr lang="en-US" sz="1000" b="1" dirty="0">
                <a:solidFill>
                  <a:srgbClr val="132040"/>
                </a:solidFill>
                <a:latin typeface="Calibri" pitchFamily="34" charset="0"/>
                <a:ea typeface="Calibri" pitchFamily="34" charset="-122"/>
                <a:cs typeface="Calibri" pitchFamily="34" charset="-120"/>
              </a:rPr>
              <a:t>HUMAN APPROVAL</a:t>
            </a:r>
            <a:endParaRPr lang="en-US" sz="1000" dirty="0"/>
          </a:p>
        </p:txBody>
      </p:sp>
      <p:sp>
        <p:nvSpPr>
          <p:cNvPr id="46" name="Text 37"/>
          <p:cNvSpPr/>
          <p:nvPr/>
        </p:nvSpPr>
        <p:spPr>
          <a:xfrm>
            <a:off x="3675888" y="3593592"/>
            <a:ext cx="4572000" cy="274320"/>
          </a:xfrm>
          <a:prstGeom prst="rect">
            <a:avLst/>
          </a:prstGeom>
          <a:noFill/>
          <a:ln/>
        </p:spPr>
        <p:txBody>
          <a:bodyPr wrap="square" lIns="0" tIns="0" rIns="0" bIns="0" rtlCol="0" anchor="ctr"/>
          <a:lstStyle/>
          <a:p>
            <a:r>
              <a:rPr lang="fr-FR" sz="900" dirty="0" err="1"/>
              <a:t>Validates</a:t>
            </a:r>
            <a:r>
              <a:rPr lang="fr-FR" sz="900" dirty="0"/>
              <a:t> </a:t>
            </a:r>
            <a:r>
              <a:rPr lang="fr-FR" sz="900" dirty="0" err="1"/>
              <a:t>analysis</a:t>
            </a:r>
            <a:r>
              <a:rPr lang="fr-FR" sz="900" dirty="0"/>
              <a:t> </a:t>
            </a:r>
            <a:r>
              <a:rPr lang="fr-FR" sz="900" dirty="0" err="1"/>
              <a:t>before</a:t>
            </a:r>
            <a:r>
              <a:rPr lang="fr-FR" sz="900" dirty="0"/>
              <a:t> final report </a:t>
            </a:r>
            <a:r>
              <a:rPr lang="fr-FR" sz="900" dirty="0" err="1"/>
              <a:t>generation</a:t>
            </a:r>
            <a:endParaRPr lang="en-US" sz="850" dirty="0"/>
          </a:p>
        </p:txBody>
      </p:sp>
      <p:sp>
        <p:nvSpPr>
          <p:cNvPr id="47" name="Text 38"/>
          <p:cNvSpPr/>
          <p:nvPr/>
        </p:nvSpPr>
        <p:spPr>
          <a:xfrm>
            <a:off x="5577840" y="3931920"/>
            <a:ext cx="274320" cy="137160"/>
          </a:xfrm>
          <a:prstGeom prst="rect">
            <a:avLst/>
          </a:prstGeom>
          <a:noFill/>
          <a:ln/>
        </p:spPr>
        <p:txBody>
          <a:bodyPr wrap="square" lIns="0" tIns="0" rIns="0" bIns="0" rtlCol="0" anchor="ctr"/>
          <a:lstStyle/>
          <a:p>
            <a:pPr marL="0" indent="0" algn="ctr">
              <a:buNone/>
            </a:pPr>
            <a:r>
              <a:rPr lang="en-US" sz="1100" dirty="0">
                <a:solidFill>
                  <a:srgbClr val="1E5EFF"/>
                </a:solidFill>
              </a:rPr>
              <a:t>↓</a:t>
            </a:r>
            <a:endParaRPr lang="en-US" sz="1100" dirty="0"/>
          </a:p>
        </p:txBody>
      </p:sp>
      <p:sp>
        <p:nvSpPr>
          <p:cNvPr id="48" name="Shape 39"/>
          <p:cNvSpPr/>
          <p:nvPr/>
        </p:nvSpPr>
        <p:spPr>
          <a:xfrm>
            <a:off x="2926080" y="4069080"/>
            <a:ext cx="5852160" cy="685800"/>
          </a:xfrm>
          <a:prstGeom prst="rect">
            <a:avLst/>
          </a:prstGeom>
          <a:solidFill>
            <a:srgbClr val="102035"/>
          </a:solidFill>
          <a:ln/>
          <a:effectLst>
            <a:outerShdw blurRad="76200" dist="25400" dir="8100000" algn="bl" rotWithShape="0">
              <a:srgbClr val="000000">
                <a:alpha val="18000"/>
              </a:srgbClr>
            </a:outerShdw>
          </a:effectLst>
        </p:spPr>
        <p:txBody>
          <a:bodyPr/>
          <a:lstStyle/>
          <a:p>
            <a:endParaRPr/>
          </a:p>
        </p:txBody>
      </p:sp>
      <p:sp>
        <p:nvSpPr>
          <p:cNvPr id="49" name="Shape 40"/>
          <p:cNvSpPr/>
          <p:nvPr/>
        </p:nvSpPr>
        <p:spPr>
          <a:xfrm>
            <a:off x="2926080" y="4069080"/>
            <a:ext cx="54864" cy="685800"/>
          </a:xfrm>
          <a:prstGeom prst="rect">
            <a:avLst/>
          </a:prstGeom>
          <a:solidFill>
            <a:srgbClr val="1E5EFF"/>
          </a:solidFill>
          <a:ln/>
        </p:spPr>
        <p:txBody>
          <a:bodyPr/>
          <a:lstStyle/>
          <a:p>
            <a:endParaRPr/>
          </a:p>
        </p:txBody>
      </p:sp>
      <p:pic>
        <p:nvPicPr>
          <p:cNvPr id="50" name="Image 7" descr="preencoded.png"/>
          <p:cNvPicPr>
            <a:picLocks noChangeAspect="1"/>
          </p:cNvPicPr>
          <p:nvPr/>
        </p:nvPicPr>
        <p:blipFill>
          <a:blip r:embed="rId10"/>
          <a:stretch>
            <a:fillRect/>
          </a:stretch>
        </p:blipFill>
        <p:spPr>
          <a:xfrm>
            <a:off x="3063240" y="4178808"/>
            <a:ext cx="457200" cy="457200"/>
          </a:xfrm>
          <a:prstGeom prst="rect">
            <a:avLst/>
          </a:prstGeom>
        </p:spPr>
      </p:pic>
      <p:sp>
        <p:nvSpPr>
          <p:cNvPr id="51" name="Text 41"/>
          <p:cNvSpPr/>
          <p:nvPr/>
        </p:nvSpPr>
        <p:spPr>
          <a:xfrm>
            <a:off x="3675888" y="4123944"/>
            <a:ext cx="2286000"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REPORT AGENT</a:t>
            </a:r>
            <a:endParaRPr lang="en-US" sz="1000" dirty="0"/>
          </a:p>
        </p:txBody>
      </p:sp>
      <p:sp>
        <p:nvSpPr>
          <p:cNvPr id="52" name="Text 42"/>
          <p:cNvSpPr/>
          <p:nvPr/>
        </p:nvSpPr>
        <p:spPr>
          <a:xfrm>
            <a:off x="3675888" y="4416552"/>
            <a:ext cx="4572000" cy="274320"/>
          </a:xfrm>
          <a:prstGeom prst="rect">
            <a:avLst/>
          </a:prstGeom>
          <a:noFill/>
          <a:ln/>
        </p:spPr>
        <p:txBody>
          <a:bodyPr wrap="square" lIns="0" tIns="0" rIns="0" bIns="0" rtlCol="0" anchor="ctr"/>
          <a:lstStyle/>
          <a:p>
            <a:r>
              <a:rPr lang="en-US" sz="900" dirty="0">
                <a:solidFill>
                  <a:schemeClr val="accent1">
                    <a:lumMod val="60000"/>
                    <a:lumOff val="40000"/>
                  </a:schemeClr>
                </a:solidFill>
              </a:rPr>
              <a:t>Generates the final report using Gemini API</a:t>
            </a:r>
            <a:endParaRPr lang="en-US" sz="850" dirty="0">
              <a:solidFill>
                <a:schemeClr val="accent1">
                  <a:lumMod val="60000"/>
                  <a:lumOff val="40000"/>
                </a:schemeClr>
              </a:solidFill>
            </a:endParaRPr>
          </a:p>
        </p:txBody>
      </p:sp>
      <p:sp>
        <p:nvSpPr>
          <p:cNvPr id="55" name="TextBox 54"/>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040"/>
          </a:solidFill>
          <a:ln/>
        </p:spPr>
        <p:txBody>
          <a:bodyPr/>
          <a:lstStyle/>
          <a:p>
            <a:endParaRPr/>
          </a:p>
        </p:txBody>
      </p:sp>
      <p:sp>
        <p:nvSpPr>
          <p:cNvPr id="3" name="Shape 1"/>
          <p:cNvSpPr/>
          <p:nvPr/>
        </p:nvSpPr>
        <p:spPr>
          <a:xfrm>
            <a:off x="0" y="0"/>
            <a:ext cx="9144000" cy="54864"/>
          </a:xfrm>
          <a:prstGeom prst="rect">
            <a:avLst/>
          </a:prstGeom>
          <a:solidFill>
            <a:srgbClr val="A78BFA"/>
          </a:solidFill>
          <a:ln/>
        </p:spPr>
        <p:txBody>
          <a:bodyPr/>
          <a:lstStyle/>
          <a:p>
            <a:endParaRPr/>
          </a:p>
        </p:txBody>
      </p:sp>
      <p:sp>
        <p:nvSpPr>
          <p:cNvPr id="4" name="Text 2"/>
          <p:cNvSpPr/>
          <p:nvPr/>
        </p:nvSpPr>
        <p:spPr>
          <a:xfrm>
            <a:off x="365760" y="91440"/>
            <a:ext cx="64008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Machine Learning Pipeline</a:t>
            </a:r>
            <a:endParaRPr lang="en-US" sz="2400" dirty="0"/>
          </a:p>
        </p:txBody>
      </p:sp>
      <p:pic>
        <p:nvPicPr>
          <p:cNvPr id="5" name="Image 0" descr="preencoded.png"/>
          <p:cNvPicPr>
            <a:picLocks noChangeAspect="1"/>
          </p:cNvPicPr>
          <p:nvPr/>
        </p:nvPicPr>
        <p:blipFill>
          <a:blip r:embed="rId3"/>
          <a:stretch>
            <a:fillRect/>
          </a:stretch>
        </p:blipFill>
        <p:spPr>
          <a:xfrm>
            <a:off x="7863840" y="91440"/>
            <a:ext cx="502920" cy="502920"/>
          </a:xfrm>
          <a:prstGeom prst="rect">
            <a:avLst/>
          </a:prstGeom>
        </p:spPr>
      </p:pic>
      <p:sp>
        <p:nvSpPr>
          <p:cNvPr id="6" name="Shape 3"/>
          <p:cNvSpPr/>
          <p:nvPr/>
        </p:nvSpPr>
        <p:spPr>
          <a:xfrm>
            <a:off x="182880" y="868680"/>
            <a:ext cx="1371600" cy="2377440"/>
          </a:xfrm>
          <a:prstGeom prst="rect">
            <a:avLst/>
          </a:prstGeom>
          <a:solidFill>
            <a:srgbClr val="FFFFFF"/>
          </a:solidFill>
          <a:ln/>
          <a:effectLst>
            <a:outerShdw blurRad="88900" dist="25400" dir="8100000" algn="bl" rotWithShape="0">
              <a:srgbClr val="000000">
                <a:alpha val="10000"/>
              </a:srgbClr>
            </a:outerShdw>
          </a:effectLst>
        </p:spPr>
        <p:txBody>
          <a:bodyPr/>
          <a:lstStyle/>
          <a:p>
            <a:endParaRPr/>
          </a:p>
        </p:txBody>
      </p:sp>
      <p:sp>
        <p:nvSpPr>
          <p:cNvPr id="7" name="Shape 4"/>
          <p:cNvSpPr/>
          <p:nvPr/>
        </p:nvSpPr>
        <p:spPr>
          <a:xfrm>
            <a:off x="182880" y="868680"/>
            <a:ext cx="1371600" cy="64008"/>
          </a:xfrm>
          <a:prstGeom prst="rect">
            <a:avLst/>
          </a:prstGeom>
          <a:solidFill>
            <a:srgbClr val="1E5EFF"/>
          </a:solidFill>
          <a:ln/>
        </p:spPr>
        <p:txBody>
          <a:bodyPr/>
          <a:lstStyle/>
          <a:p>
            <a:endParaRPr/>
          </a:p>
        </p:txBody>
      </p:sp>
      <p:sp>
        <p:nvSpPr>
          <p:cNvPr id="8" name="Shape 5"/>
          <p:cNvSpPr/>
          <p:nvPr/>
        </p:nvSpPr>
        <p:spPr>
          <a:xfrm>
            <a:off x="640080" y="1051560"/>
            <a:ext cx="457200" cy="457200"/>
          </a:xfrm>
          <a:prstGeom prst="ellipse">
            <a:avLst/>
          </a:prstGeom>
          <a:solidFill>
            <a:srgbClr val="1E5EFF">
              <a:alpha val="85000"/>
            </a:srgbClr>
          </a:solidFill>
          <a:ln/>
        </p:spPr>
        <p:txBody>
          <a:bodyPr/>
          <a:lstStyle/>
          <a:p>
            <a:endParaRPr/>
          </a:p>
        </p:txBody>
      </p:sp>
      <p:sp>
        <p:nvSpPr>
          <p:cNvPr id="9" name="Text 6"/>
          <p:cNvSpPr/>
          <p:nvPr/>
        </p:nvSpPr>
        <p:spPr>
          <a:xfrm>
            <a:off x="640080" y="1051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7"/>
          <p:cNvSpPr/>
          <p:nvPr/>
        </p:nvSpPr>
        <p:spPr>
          <a:xfrm>
            <a:off x="228600" y="1618488"/>
            <a:ext cx="1280160" cy="365760"/>
          </a:xfrm>
          <a:prstGeom prst="rect">
            <a:avLst/>
          </a:prstGeom>
          <a:noFill/>
          <a:ln/>
        </p:spPr>
        <p:txBody>
          <a:bodyPr wrap="square" lIns="0" tIns="0" rIns="0" bIns="0" rtlCol="0" anchor="ctr"/>
          <a:lstStyle/>
          <a:p>
            <a:pPr marL="0" indent="0" algn="ctr">
              <a:buNone/>
            </a:pPr>
            <a:r>
              <a:rPr lang="en-US" sz="1000" b="1" dirty="0">
                <a:solidFill>
                  <a:srgbClr val="132040"/>
                </a:solidFill>
                <a:latin typeface="Calibri" pitchFamily="34" charset="0"/>
                <a:ea typeface="Calibri" pitchFamily="34" charset="-122"/>
                <a:cs typeface="Calibri" pitchFamily="34" charset="-120"/>
              </a:rPr>
              <a:t>Dataset</a:t>
            </a:r>
            <a:endParaRPr lang="en-US" sz="1000" dirty="0"/>
          </a:p>
        </p:txBody>
      </p:sp>
      <p:sp>
        <p:nvSpPr>
          <p:cNvPr id="11" name="Text 8"/>
          <p:cNvSpPr/>
          <p:nvPr/>
        </p:nvSpPr>
        <p:spPr>
          <a:xfrm>
            <a:off x="237744" y="2011680"/>
            <a:ext cx="1261872" cy="1097280"/>
          </a:xfrm>
          <a:prstGeom prst="rect">
            <a:avLst/>
          </a:prstGeom>
          <a:noFill/>
          <a:ln/>
        </p:spPr>
        <p:txBody>
          <a:bodyPr wrap="square" lIns="0" tIns="0" rIns="0" bIns="0" rtlCol="0" anchor="ctr"/>
          <a:lstStyle/>
          <a:p>
            <a:pPr marL="0" indent="0" algn="ctr">
              <a:buNone/>
            </a:pPr>
            <a:r>
              <a:rPr lang="en-US" sz="900" dirty="0">
                <a:solidFill>
                  <a:srgbClr val="3A5070"/>
                </a:solidFill>
                <a:latin typeface="Calibri" pitchFamily="34" charset="0"/>
                <a:ea typeface="Calibri" pitchFamily="34" charset="-122"/>
                <a:cs typeface="Calibri" pitchFamily="34" charset="-120"/>
              </a:rPr>
              <a:t>amazon_polarity</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20,000 reviews</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(balanced)</a:t>
            </a:r>
            <a:endParaRPr lang="en-US" sz="900" dirty="0"/>
          </a:p>
        </p:txBody>
      </p:sp>
      <p:sp>
        <p:nvSpPr>
          <p:cNvPr id="12" name="Text 9"/>
          <p:cNvSpPr/>
          <p:nvPr/>
        </p:nvSpPr>
        <p:spPr>
          <a:xfrm>
            <a:off x="1591056" y="1920240"/>
            <a:ext cx="109728" cy="274320"/>
          </a:xfrm>
          <a:prstGeom prst="rect">
            <a:avLst/>
          </a:prstGeom>
          <a:noFill/>
          <a:ln/>
        </p:spPr>
        <p:txBody>
          <a:bodyPr wrap="square" lIns="0" tIns="0" rIns="0" bIns="0" rtlCol="0" anchor="ctr"/>
          <a:lstStyle/>
          <a:p>
            <a:pPr marL="0" indent="0" algn="ctr">
              <a:buNone/>
            </a:pPr>
            <a:r>
              <a:rPr lang="en-US" sz="1100" dirty="0">
                <a:solidFill>
                  <a:srgbClr val="1E5EFF"/>
                </a:solidFill>
              </a:rPr>
              <a:t>→</a:t>
            </a:r>
            <a:endParaRPr lang="en-US" sz="1100" dirty="0"/>
          </a:p>
        </p:txBody>
      </p:sp>
      <p:sp>
        <p:nvSpPr>
          <p:cNvPr id="13" name="Shape 10"/>
          <p:cNvSpPr/>
          <p:nvPr/>
        </p:nvSpPr>
        <p:spPr>
          <a:xfrm>
            <a:off x="1673352" y="868680"/>
            <a:ext cx="1371600" cy="2377440"/>
          </a:xfrm>
          <a:prstGeom prst="rect">
            <a:avLst/>
          </a:prstGeom>
          <a:solidFill>
            <a:srgbClr val="FFFFFF"/>
          </a:solidFill>
          <a:ln/>
          <a:effectLst>
            <a:outerShdw blurRad="88900" dist="25400" dir="8100000" algn="bl" rotWithShape="0">
              <a:srgbClr val="000000">
                <a:alpha val="10000"/>
              </a:srgbClr>
            </a:outerShdw>
          </a:effectLst>
        </p:spPr>
        <p:txBody>
          <a:bodyPr/>
          <a:lstStyle/>
          <a:p>
            <a:endParaRPr/>
          </a:p>
        </p:txBody>
      </p:sp>
      <p:sp>
        <p:nvSpPr>
          <p:cNvPr id="14" name="Shape 11"/>
          <p:cNvSpPr/>
          <p:nvPr/>
        </p:nvSpPr>
        <p:spPr>
          <a:xfrm>
            <a:off x="1673352" y="868680"/>
            <a:ext cx="1371600" cy="64008"/>
          </a:xfrm>
          <a:prstGeom prst="rect">
            <a:avLst/>
          </a:prstGeom>
          <a:solidFill>
            <a:srgbClr val="A78BFA"/>
          </a:solidFill>
          <a:ln/>
        </p:spPr>
        <p:txBody>
          <a:bodyPr/>
          <a:lstStyle/>
          <a:p>
            <a:endParaRPr/>
          </a:p>
        </p:txBody>
      </p:sp>
      <p:sp>
        <p:nvSpPr>
          <p:cNvPr id="15" name="Shape 12"/>
          <p:cNvSpPr/>
          <p:nvPr/>
        </p:nvSpPr>
        <p:spPr>
          <a:xfrm>
            <a:off x="2130552" y="1051560"/>
            <a:ext cx="457200" cy="457200"/>
          </a:xfrm>
          <a:prstGeom prst="ellipse">
            <a:avLst/>
          </a:prstGeom>
          <a:solidFill>
            <a:srgbClr val="A78BFA">
              <a:alpha val="85000"/>
            </a:srgbClr>
          </a:solidFill>
          <a:ln/>
        </p:spPr>
        <p:txBody>
          <a:bodyPr/>
          <a:lstStyle/>
          <a:p>
            <a:endParaRPr/>
          </a:p>
        </p:txBody>
      </p:sp>
      <p:sp>
        <p:nvSpPr>
          <p:cNvPr id="16" name="Text 13"/>
          <p:cNvSpPr/>
          <p:nvPr/>
        </p:nvSpPr>
        <p:spPr>
          <a:xfrm>
            <a:off x="2130552" y="1051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7" name="Text 14"/>
          <p:cNvSpPr/>
          <p:nvPr/>
        </p:nvSpPr>
        <p:spPr>
          <a:xfrm>
            <a:off x="1719072" y="1618488"/>
            <a:ext cx="1280160" cy="365760"/>
          </a:xfrm>
          <a:prstGeom prst="rect">
            <a:avLst/>
          </a:prstGeom>
          <a:noFill/>
          <a:ln/>
        </p:spPr>
        <p:txBody>
          <a:bodyPr wrap="square" lIns="0" tIns="0" rIns="0" bIns="0" rtlCol="0" anchor="ctr"/>
          <a:lstStyle/>
          <a:p>
            <a:pPr marL="0" indent="0" algn="ctr">
              <a:buNone/>
            </a:pPr>
            <a:r>
              <a:rPr lang="en-US" sz="1000" b="1" dirty="0">
                <a:solidFill>
                  <a:srgbClr val="132040"/>
                </a:solidFill>
                <a:latin typeface="Calibri" pitchFamily="34" charset="0"/>
                <a:ea typeface="Calibri" pitchFamily="34" charset="-122"/>
                <a:cs typeface="Calibri" pitchFamily="34" charset="-120"/>
              </a:rPr>
              <a:t>Preprocessing</a:t>
            </a:r>
            <a:endParaRPr lang="en-US" sz="1000" dirty="0"/>
          </a:p>
        </p:txBody>
      </p:sp>
      <p:sp>
        <p:nvSpPr>
          <p:cNvPr id="18" name="Text 15"/>
          <p:cNvSpPr/>
          <p:nvPr/>
        </p:nvSpPr>
        <p:spPr>
          <a:xfrm>
            <a:off x="1728216" y="2011680"/>
            <a:ext cx="1261872" cy="1097280"/>
          </a:xfrm>
          <a:prstGeom prst="rect">
            <a:avLst/>
          </a:prstGeom>
          <a:noFill/>
          <a:ln/>
        </p:spPr>
        <p:txBody>
          <a:bodyPr wrap="square" lIns="0" tIns="0" rIns="0" bIns="0" rtlCol="0" anchor="ctr"/>
          <a:lstStyle/>
          <a:p>
            <a:pPr marL="0" indent="0" algn="ctr">
              <a:buNone/>
            </a:pPr>
            <a:r>
              <a:rPr lang="en-US" sz="900" dirty="0">
                <a:solidFill>
                  <a:srgbClr val="3A5070"/>
                </a:solidFill>
                <a:latin typeface="Calibri" pitchFamily="34" charset="0"/>
                <a:ea typeface="Calibri" pitchFamily="34" charset="-122"/>
                <a:cs typeface="Calibri" pitchFamily="34" charset="-120"/>
              </a:rPr>
              <a:t>title + content</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 review_text</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field merged</a:t>
            </a:r>
            <a:endParaRPr lang="en-US" sz="900" dirty="0"/>
          </a:p>
        </p:txBody>
      </p:sp>
      <p:sp>
        <p:nvSpPr>
          <p:cNvPr id="19" name="Text 16"/>
          <p:cNvSpPr/>
          <p:nvPr/>
        </p:nvSpPr>
        <p:spPr>
          <a:xfrm>
            <a:off x="3081528" y="1920240"/>
            <a:ext cx="109728" cy="274320"/>
          </a:xfrm>
          <a:prstGeom prst="rect">
            <a:avLst/>
          </a:prstGeom>
          <a:noFill/>
          <a:ln/>
        </p:spPr>
        <p:txBody>
          <a:bodyPr wrap="square" lIns="0" tIns="0" rIns="0" bIns="0" rtlCol="0" anchor="ctr"/>
          <a:lstStyle/>
          <a:p>
            <a:pPr marL="0" indent="0" algn="ctr">
              <a:buNone/>
            </a:pPr>
            <a:r>
              <a:rPr lang="en-US" sz="1100" dirty="0">
                <a:solidFill>
                  <a:srgbClr val="A78BFA"/>
                </a:solidFill>
              </a:rPr>
              <a:t>→</a:t>
            </a:r>
            <a:endParaRPr lang="en-US" sz="1100" dirty="0"/>
          </a:p>
        </p:txBody>
      </p:sp>
      <p:sp>
        <p:nvSpPr>
          <p:cNvPr id="20" name="Shape 17"/>
          <p:cNvSpPr/>
          <p:nvPr/>
        </p:nvSpPr>
        <p:spPr>
          <a:xfrm>
            <a:off x="3163824" y="868680"/>
            <a:ext cx="1371600" cy="2377440"/>
          </a:xfrm>
          <a:prstGeom prst="rect">
            <a:avLst/>
          </a:prstGeom>
          <a:solidFill>
            <a:srgbClr val="FFFFFF"/>
          </a:solidFill>
          <a:ln/>
          <a:effectLst>
            <a:outerShdw blurRad="88900" dist="25400" dir="8100000" algn="bl" rotWithShape="0">
              <a:srgbClr val="000000">
                <a:alpha val="10000"/>
              </a:srgbClr>
            </a:outerShdw>
          </a:effectLst>
        </p:spPr>
        <p:txBody>
          <a:bodyPr/>
          <a:lstStyle/>
          <a:p>
            <a:endParaRPr/>
          </a:p>
        </p:txBody>
      </p:sp>
      <p:sp>
        <p:nvSpPr>
          <p:cNvPr id="21" name="Shape 18"/>
          <p:cNvSpPr/>
          <p:nvPr/>
        </p:nvSpPr>
        <p:spPr>
          <a:xfrm>
            <a:off x="3163824" y="868680"/>
            <a:ext cx="1371600" cy="64008"/>
          </a:xfrm>
          <a:prstGeom prst="rect">
            <a:avLst/>
          </a:prstGeom>
          <a:solidFill>
            <a:srgbClr val="00C8FF"/>
          </a:solidFill>
          <a:ln/>
        </p:spPr>
        <p:txBody>
          <a:bodyPr/>
          <a:lstStyle/>
          <a:p>
            <a:endParaRPr/>
          </a:p>
        </p:txBody>
      </p:sp>
      <p:sp>
        <p:nvSpPr>
          <p:cNvPr id="22" name="Shape 19"/>
          <p:cNvSpPr/>
          <p:nvPr/>
        </p:nvSpPr>
        <p:spPr>
          <a:xfrm>
            <a:off x="3621024" y="1051560"/>
            <a:ext cx="457200" cy="457200"/>
          </a:xfrm>
          <a:prstGeom prst="ellipse">
            <a:avLst/>
          </a:prstGeom>
          <a:solidFill>
            <a:srgbClr val="00C8FF">
              <a:alpha val="85000"/>
            </a:srgbClr>
          </a:solidFill>
          <a:ln/>
        </p:spPr>
        <p:txBody>
          <a:bodyPr/>
          <a:lstStyle/>
          <a:p>
            <a:endParaRPr/>
          </a:p>
        </p:txBody>
      </p:sp>
      <p:sp>
        <p:nvSpPr>
          <p:cNvPr id="23" name="Text 20"/>
          <p:cNvSpPr/>
          <p:nvPr/>
        </p:nvSpPr>
        <p:spPr>
          <a:xfrm>
            <a:off x="3621024" y="1051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4" name="Text 21"/>
          <p:cNvSpPr/>
          <p:nvPr/>
        </p:nvSpPr>
        <p:spPr>
          <a:xfrm>
            <a:off x="3209544" y="1618488"/>
            <a:ext cx="1280160" cy="365760"/>
          </a:xfrm>
          <a:prstGeom prst="rect">
            <a:avLst/>
          </a:prstGeom>
          <a:noFill/>
          <a:ln/>
        </p:spPr>
        <p:txBody>
          <a:bodyPr wrap="square" lIns="0" tIns="0" rIns="0" bIns="0" rtlCol="0" anchor="ctr"/>
          <a:lstStyle/>
          <a:p>
            <a:pPr marL="0" indent="0" algn="ctr">
              <a:buNone/>
            </a:pPr>
            <a:r>
              <a:rPr lang="en-US" sz="1000" b="1" dirty="0">
                <a:solidFill>
                  <a:srgbClr val="132040"/>
                </a:solidFill>
                <a:latin typeface="Calibri" pitchFamily="34" charset="0"/>
                <a:ea typeface="Calibri" pitchFamily="34" charset="-122"/>
                <a:cs typeface="Calibri" pitchFamily="34" charset="-120"/>
              </a:rPr>
              <a:t>Train / Val Split</a:t>
            </a:r>
            <a:endParaRPr lang="en-US" sz="1000" dirty="0"/>
          </a:p>
        </p:txBody>
      </p:sp>
      <p:sp>
        <p:nvSpPr>
          <p:cNvPr id="25" name="Text 22"/>
          <p:cNvSpPr/>
          <p:nvPr/>
        </p:nvSpPr>
        <p:spPr>
          <a:xfrm>
            <a:off x="3218688" y="2011680"/>
            <a:ext cx="1261872" cy="1097280"/>
          </a:xfrm>
          <a:prstGeom prst="rect">
            <a:avLst/>
          </a:prstGeom>
          <a:noFill/>
          <a:ln/>
        </p:spPr>
        <p:txBody>
          <a:bodyPr wrap="square" lIns="0" tIns="0" rIns="0" bIns="0" rtlCol="0" anchor="ctr"/>
          <a:lstStyle/>
          <a:p>
            <a:pPr marL="0" indent="0" algn="ctr">
              <a:buNone/>
            </a:pPr>
            <a:r>
              <a:rPr lang="en-US" sz="900" dirty="0">
                <a:solidFill>
                  <a:srgbClr val="3A5070"/>
                </a:solidFill>
                <a:latin typeface="Calibri" pitchFamily="34" charset="0"/>
                <a:ea typeface="Calibri" pitchFamily="34" charset="-122"/>
                <a:cs typeface="Calibri" pitchFamily="34" charset="-120"/>
              </a:rPr>
              <a:t>80% train</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(16,000)</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20% val (4,000)</a:t>
            </a:r>
            <a:endParaRPr lang="en-US" sz="900" dirty="0"/>
          </a:p>
        </p:txBody>
      </p:sp>
      <p:sp>
        <p:nvSpPr>
          <p:cNvPr id="26" name="Text 23"/>
          <p:cNvSpPr/>
          <p:nvPr/>
        </p:nvSpPr>
        <p:spPr>
          <a:xfrm>
            <a:off x="4572000" y="1920240"/>
            <a:ext cx="109728" cy="274320"/>
          </a:xfrm>
          <a:prstGeom prst="rect">
            <a:avLst/>
          </a:prstGeom>
          <a:noFill/>
          <a:ln/>
        </p:spPr>
        <p:txBody>
          <a:bodyPr wrap="square" lIns="0" tIns="0" rIns="0" bIns="0" rtlCol="0" anchor="ctr"/>
          <a:lstStyle/>
          <a:p>
            <a:pPr marL="0" indent="0" algn="ctr">
              <a:buNone/>
            </a:pPr>
            <a:r>
              <a:rPr lang="en-US" sz="1100" dirty="0">
                <a:solidFill>
                  <a:srgbClr val="00C8FF"/>
                </a:solidFill>
              </a:rPr>
              <a:t>→</a:t>
            </a:r>
            <a:endParaRPr lang="en-US" sz="1100" dirty="0"/>
          </a:p>
        </p:txBody>
      </p:sp>
      <p:sp>
        <p:nvSpPr>
          <p:cNvPr id="27" name="Shape 24"/>
          <p:cNvSpPr/>
          <p:nvPr/>
        </p:nvSpPr>
        <p:spPr>
          <a:xfrm>
            <a:off x="4608578" y="868680"/>
            <a:ext cx="1371600" cy="2377440"/>
          </a:xfrm>
          <a:prstGeom prst="rect">
            <a:avLst/>
          </a:prstGeom>
          <a:solidFill>
            <a:srgbClr val="FFFFFF"/>
          </a:solidFill>
          <a:ln/>
          <a:effectLst>
            <a:outerShdw blurRad="88900" dist="25400" dir="8100000" algn="bl" rotWithShape="0">
              <a:srgbClr val="000000">
                <a:alpha val="10000"/>
              </a:srgbClr>
            </a:outerShdw>
          </a:effectLst>
        </p:spPr>
        <p:txBody>
          <a:bodyPr/>
          <a:lstStyle/>
          <a:p>
            <a:endParaRPr/>
          </a:p>
        </p:txBody>
      </p:sp>
      <p:sp>
        <p:nvSpPr>
          <p:cNvPr id="28" name="Shape 25"/>
          <p:cNvSpPr/>
          <p:nvPr/>
        </p:nvSpPr>
        <p:spPr>
          <a:xfrm>
            <a:off x="4654296" y="868680"/>
            <a:ext cx="1371600" cy="64008"/>
          </a:xfrm>
          <a:prstGeom prst="rect">
            <a:avLst/>
          </a:prstGeom>
          <a:solidFill>
            <a:srgbClr val="F59E0B"/>
          </a:solidFill>
          <a:ln/>
        </p:spPr>
        <p:txBody>
          <a:bodyPr/>
          <a:lstStyle/>
          <a:p>
            <a:endParaRPr/>
          </a:p>
        </p:txBody>
      </p:sp>
      <p:sp>
        <p:nvSpPr>
          <p:cNvPr id="29" name="Shape 26"/>
          <p:cNvSpPr/>
          <p:nvPr/>
        </p:nvSpPr>
        <p:spPr>
          <a:xfrm>
            <a:off x="5111496" y="1051560"/>
            <a:ext cx="457200" cy="457200"/>
          </a:xfrm>
          <a:prstGeom prst="ellipse">
            <a:avLst/>
          </a:prstGeom>
          <a:solidFill>
            <a:srgbClr val="F59E0B">
              <a:alpha val="85000"/>
            </a:srgbClr>
          </a:solidFill>
          <a:ln/>
        </p:spPr>
        <p:txBody>
          <a:bodyPr/>
          <a:lstStyle/>
          <a:p>
            <a:endParaRPr/>
          </a:p>
        </p:txBody>
      </p:sp>
      <p:sp>
        <p:nvSpPr>
          <p:cNvPr id="30" name="Text 27"/>
          <p:cNvSpPr/>
          <p:nvPr/>
        </p:nvSpPr>
        <p:spPr>
          <a:xfrm>
            <a:off x="5111496" y="1051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31" name="Text 28"/>
          <p:cNvSpPr/>
          <p:nvPr/>
        </p:nvSpPr>
        <p:spPr>
          <a:xfrm>
            <a:off x="4700016" y="1618488"/>
            <a:ext cx="1280160" cy="365760"/>
          </a:xfrm>
          <a:prstGeom prst="rect">
            <a:avLst/>
          </a:prstGeom>
          <a:noFill/>
          <a:ln/>
        </p:spPr>
        <p:txBody>
          <a:bodyPr wrap="square" lIns="0" tIns="0" rIns="0" bIns="0" rtlCol="0" anchor="ctr"/>
          <a:lstStyle/>
          <a:p>
            <a:pPr marL="0" indent="0" algn="ctr">
              <a:buNone/>
            </a:pPr>
            <a:r>
              <a:rPr lang="en-US" sz="1000" b="1" dirty="0">
                <a:solidFill>
                  <a:srgbClr val="132040"/>
                </a:solidFill>
                <a:latin typeface="Calibri" pitchFamily="34" charset="0"/>
                <a:ea typeface="Calibri" pitchFamily="34" charset="-122"/>
                <a:cs typeface="Calibri" pitchFamily="34" charset="-120"/>
              </a:rPr>
              <a:t>Tokenisation</a:t>
            </a:r>
            <a:endParaRPr lang="en-US" sz="1000" dirty="0"/>
          </a:p>
        </p:txBody>
      </p:sp>
      <p:sp>
        <p:nvSpPr>
          <p:cNvPr id="32" name="Text 29"/>
          <p:cNvSpPr/>
          <p:nvPr/>
        </p:nvSpPr>
        <p:spPr>
          <a:xfrm>
            <a:off x="4709160" y="2011680"/>
            <a:ext cx="1261872" cy="1097280"/>
          </a:xfrm>
          <a:prstGeom prst="rect">
            <a:avLst/>
          </a:prstGeom>
          <a:noFill/>
          <a:ln/>
        </p:spPr>
        <p:txBody>
          <a:bodyPr wrap="square" lIns="0" tIns="0" rIns="0" bIns="0" rtlCol="0" anchor="ctr"/>
          <a:lstStyle/>
          <a:p>
            <a:pPr marL="0" indent="0" algn="ctr">
              <a:buNone/>
            </a:pPr>
            <a:r>
              <a:rPr lang="en-US" sz="900" dirty="0">
                <a:solidFill>
                  <a:srgbClr val="3A5070"/>
                </a:solidFill>
                <a:latin typeface="Calibri" pitchFamily="34" charset="0"/>
                <a:ea typeface="Calibri" pitchFamily="34" charset="-122"/>
                <a:cs typeface="Calibri" pitchFamily="34" charset="-120"/>
              </a:rPr>
              <a:t>DistilBERT</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tokenizer</a:t>
            </a:r>
            <a:endParaRPr lang="en-US" sz="900" dirty="0"/>
          </a:p>
          <a:p>
            <a:pPr algn="ctr"/>
            <a:r>
              <a:rPr lang="fr-FR" sz="900" dirty="0" err="1"/>
              <a:t>max_length</a:t>
            </a:r>
            <a:r>
              <a:rPr lang="fr-FR" sz="900" dirty="0"/>
              <a:t> = 128 </a:t>
            </a:r>
            <a:endParaRPr lang="en-US" sz="900" dirty="0"/>
          </a:p>
        </p:txBody>
      </p:sp>
      <p:sp>
        <p:nvSpPr>
          <p:cNvPr id="33" name="Text 30"/>
          <p:cNvSpPr/>
          <p:nvPr/>
        </p:nvSpPr>
        <p:spPr>
          <a:xfrm>
            <a:off x="6062472" y="1920240"/>
            <a:ext cx="109728" cy="274320"/>
          </a:xfrm>
          <a:prstGeom prst="rect">
            <a:avLst/>
          </a:prstGeom>
          <a:noFill/>
          <a:ln/>
        </p:spPr>
        <p:txBody>
          <a:bodyPr wrap="square" lIns="0" tIns="0" rIns="0" bIns="0" rtlCol="0" anchor="ctr"/>
          <a:lstStyle/>
          <a:p>
            <a:pPr marL="0" indent="0" algn="ctr">
              <a:buNone/>
            </a:pPr>
            <a:r>
              <a:rPr lang="en-US" sz="1100" dirty="0">
                <a:solidFill>
                  <a:srgbClr val="F59E0B"/>
                </a:solidFill>
              </a:rPr>
              <a:t>→</a:t>
            </a:r>
            <a:endParaRPr lang="en-US" sz="1100" dirty="0"/>
          </a:p>
        </p:txBody>
      </p:sp>
      <p:sp>
        <p:nvSpPr>
          <p:cNvPr id="34" name="Shape 31"/>
          <p:cNvSpPr/>
          <p:nvPr/>
        </p:nvSpPr>
        <p:spPr>
          <a:xfrm>
            <a:off x="6144768" y="868680"/>
            <a:ext cx="1371600" cy="2377440"/>
          </a:xfrm>
          <a:prstGeom prst="rect">
            <a:avLst/>
          </a:prstGeom>
          <a:solidFill>
            <a:srgbClr val="FFFFFF"/>
          </a:solidFill>
          <a:ln/>
          <a:effectLst>
            <a:outerShdw blurRad="88900" dist="25400" dir="8100000" algn="bl" rotWithShape="0">
              <a:srgbClr val="000000">
                <a:alpha val="10000"/>
              </a:srgbClr>
            </a:outerShdw>
          </a:effectLst>
        </p:spPr>
        <p:txBody>
          <a:bodyPr/>
          <a:lstStyle/>
          <a:p>
            <a:endParaRPr/>
          </a:p>
        </p:txBody>
      </p:sp>
      <p:sp>
        <p:nvSpPr>
          <p:cNvPr id="35" name="Shape 32"/>
          <p:cNvSpPr/>
          <p:nvPr/>
        </p:nvSpPr>
        <p:spPr>
          <a:xfrm>
            <a:off x="6144768" y="868680"/>
            <a:ext cx="1371600" cy="64008"/>
          </a:xfrm>
          <a:prstGeom prst="rect">
            <a:avLst/>
          </a:prstGeom>
          <a:solidFill>
            <a:srgbClr val="22C55E"/>
          </a:solidFill>
          <a:ln/>
        </p:spPr>
        <p:txBody>
          <a:bodyPr/>
          <a:lstStyle/>
          <a:p>
            <a:endParaRPr/>
          </a:p>
        </p:txBody>
      </p:sp>
      <p:sp>
        <p:nvSpPr>
          <p:cNvPr id="36" name="Shape 33"/>
          <p:cNvSpPr/>
          <p:nvPr/>
        </p:nvSpPr>
        <p:spPr>
          <a:xfrm>
            <a:off x="6601968" y="1051560"/>
            <a:ext cx="457200" cy="457200"/>
          </a:xfrm>
          <a:prstGeom prst="ellipse">
            <a:avLst/>
          </a:prstGeom>
          <a:solidFill>
            <a:srgbClr val="22C55E">
              <a:alpha val="85000"/>
            </a:srgbClr>
          </a:solidFill>
          <a:ln/>
        </p:spPr>
        <p:txBody>
          <a:bodyPr/>
          <a:lstStyle/>
          <a:p>
            <a:endParaRPr/>
          </a:p>
        </p:txBody>
      </p:sp>
      <p:sp>
        <p:nvSpPr>
          <p:cNvPr id="37" name="Text 34"/>
          <p:cNvSpPr/>
          <p:nvPr/>
        </p:nvSpPr>
        <p:spPr>
          <a:xfrm>
            <a:off x="6601968" y="1051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38" name="Text 35"/>
          <p:cNvSpPr/>
          <p:nvPr/>
        </p:nvSpPr>
        <p:spPr>
          <a:xfrm>
            <a:off x="6190488" y="1618488"/>
            <a:ext cx="1280160" cy="365760"/>
          </a:xfrm>
          <a:prstGeom prst="rect">
            <a:avLst/>
          </a:prstGeom>
          <a:noFill/>
          <a:ln/>
        </p:spPr>
        <p:txBody>
          <a:bodyPr wrap="square" lIns="0" tIns="0" rIns="0" bIns="0" rtlCol="0" anchor="ctr"/>
          <a:lstStyle/>
          <a:p>
            <a:pPr marL="0" indent="0" algn="ctr">
              <a:buNone/>
            </a:pPr>
            <a:r>
              <a:rPr lang="en-US" sz="1000" b="1" dirty="0">
                <a:solidFill>
                  <a:srgbClr val="132040"/>
                </a:solidFill>
                <a:latin typeface="Calibri" pitchFamily="34" charset="0"/>
                <a:ea typeface="Calibri" pitchFamily="34" charset="-122"/>
                <a:cs typeface="Calibri" pitchFamily="34" charset="-120"/>
              </a:rPr>
              <a:t>Fine-Tuning</a:t>
            </a:r>
            <a:endParaRPr lang="en-US" sz="1000" dirty="0"/>
          </a:p>
        </p:txBody>
      </p:sp>
      <p:sp>
        <p:nvSpPr>
          <p:cNvPr id="39" name="Text 36"/>
          <p:cNvSpPr/>
          <p:nvPr/>
        </p:nvSpPr>
        <p:spPr>
          <a:xfrm>
            <a:off x="6199632" y="2011680"/>
            <a:ext cx="1261872" cy="1097280"/>
          </a:xfrm>
          <a:prstGeom prst="rect">
            <a:avLst/>
          </a:prstGeom>
          <a:noFill/>
          <a:ln/>
        </p:spPr>
        <p:txBody>
          <a:bodyPr wrap="square" lIns="0" tIns="0" rIns="0" bIns="0" rtlCol="0" anchor="ctr"/>
          <a:lstStyle/>
          <a:p>
            <a:pPr marL="0" indent="0" algn="ctr">
              <a:buNone/>
            </a:pPr>
            <a:r>
              <a:rPr lang="en-US" sz="900" dirty="0">
                <a:solidFill>
                  <a:srgbClr val="3A5070"/>
                </a:solidFill>
                <a:latin typeface="Calibri" pitchFamily="34" charset="0"/>
                <a:ea typeface="Calibri" pitchFamily="34" charset="-122"/>
                <a:cs typeface="Calibri" pitchFamily="34" charset="-120"/>
              </a:rPr>
              <a:t>2 epochs</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AdamW optimizer</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LR: 2e-5</a:t>
            </a:r>
            <a:endParaRPr lang="en-US" sz="900" dirty="0"/>
          </a:p>
        </p:txBody>
      </p:sp>
      <p:sp>
        <p:nvSpPr>
          <p:cNvPr id="40" name="Text 37"/>
          <p:cNvSpPr/>
          <p:nvPr/>
        </p:nvSpPr>
        <p:spPr>
          <a:xfrm>
            <a:off x="7552944" y="1920240"/>
            <a:ext cx="109728" cy="274320"/>
          </a:xfrm>
          <a:prstGeom prst="rect">
            <a:avLst/>
          </a:prstGeom>
          <a:noFill/>
          <a:ln/>
        </p:spPr>
        <p:txBody>
          <a:bodyPr wrap="square" lIns="0" tIns="0" rIns="0" bIns="0" rtlCol="0" anchor="ctr"/>
          <a:lstStyle/>
          <a:p>
            <a:pPr marL="0" indent="0" algn="ctr">
              <a:buNone/>
            </a:pPr>
            <a:r>
              <a:rPr lang="en-US" sz="1100" dirty="0">
                <a:solidFill>
                  <a:srgbClr val="22C55E"/>
                </a:solidFill>
              </a:rPr>
              <a:t>→</a:t>
            </a:r>
            <a:endParaRPr lang="en-US" sz="1100" dirty="0"/>
          </a:p>
        </p:txBody>
      </p:sp>
      <p:sp>
        <p:nvSpPr>
          <p:cNvPr id="41" name="Shape 38"/>
          <p:cNvSpPr/>
          <p:nvPr/>
        </p:nvSpPr>
        <p:spPr>
          <a:xfrm>
            <a:off x="7635240" y="868680"/>
            <a:ext cx="1371600" cy="2377440"/>
          </a:xfrm>
          <a:prstGeom prst="rect">
            <a:avLst/>
          </a:prstGeom>
          <a:solidFill>
            <a:srgbClr val="FFFFFF"/>
          </a:solidFill>
          <a:ln/>
          <a:effectLst>
            <a:outerShdw blurRad="88900" dist="25400" dir="8100000" algn="bl" rotWithShape="0">
              <a:srgbClr val="000000">
                <a:alpha val="10000"/>
              </a:srgbClr>
            </a:outerShdw>
          </a:effectLst>
        </p:spPr>
        <p:txBody>
          <a:bodyPr/>
          <a:lstStyle/>
          <a:p>
            <a:endParaRPr/>
          </a:p>
        </p:txBody>
      </p:sp>
      <p:sp>
        <p:nvSpPr>
          <p:cNvPr id="42" name="Shape 39"/>
          <p:cNvSpPr/>
          <p:nvPr/>
        </p:nvSpPr>
        <p:spPr>
          <a:xfrm>
            <a:off x="7635240" y="868680"/>
            <a:ext cx="1371600" cy="64008"/>
          </a:xfrm>
          <a:prstGeom prst="rect">
            <a:avLst/>
          </a:prstGeom>
          <a:solidFill>
            <a:srgbClr val="1E5EFF"/>
          </a:solidFill>
          <a:ln/>
        </p:spPr>
        <p:txBody>
          <a:bodyPr/>
          <a:lstStyle/>
          <a:p>
            <a:endParaRPr/>
          </a:p>
        </p:txBody>
      </p:sp>
      <p:sp>
        <p:nvSpPr>
          <p:cNvPr id="43" name="Shape 40"/>
          <p:cNvSpPr/>
          <p:nvPr/>
        </p:nvSpPr>
        <p:spPr>
          <a:xfrm>
            <a:off x="8092440" y="1051560"/>
            <a:ext cx="457200" cy="457200"/>
          </a:xfrm>
          <a:prstGeom prst="ellipse">
            <a:avLst/>
          </a:prstGeom>
          <a:solidFill>
            <a:srgbClr val="1E5EFF">
              <a:alpha val="85000"/>
            </a:srgbClr>
          </a:solidFill>
          <a:ln/>
        </p:spPr>
        <p:txBody>
          <a:bodyPr/>
          <a:lstStyle/>
          <a:p>
            <a:endParaRPr/>
          </a:p>
        </p:txBody>
      </p:sp>
      <p:sp>
        <p:nvSpPr>
          <p:cNvPr id="44" name="Text 41"/>
          <p:cNvSpPr/>
          <p:nvPr/>
        </p:nvSpPr>
        <p:spPr>
          <a:xfrm>
            <a:off x="8092440" y="1051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45" name="Text 42"/>
          <p:cNvSpPr/>
          <p:nvPr/>
        </p:nvSpPr>
        <p:spPr>
          <a:xfrm>
            <a:off x="7680960" y="1618488"/>
            <a:ext cx="1280160" cy="365760"/>
          </a:xfrm>
          <a:prstGeom prst="rect">
            <a:avLst/>
          </a:prstGeom>
          <a:noFill/>
          <a:ln/>
        </p:spPr>
        <p:txBody>
          <a:bodyPr wrap="square" lIns="0" tIns="0" rIns="0" bIns="0" rtlCol="0" anchor="ctr"/>
          <a:lstStyle/>
          <a:p>
            <a:pPr marL="0" indent="0" algn="ctr">
              <a:buNone/>
            </a:pPr>
            <a:r>
              <a:rPr lang="en-US" sz="1000" b="1" dirty="0">
                <a:solidFill>
                  <a:srgbClr val="132040"/>
                </a:solidFill>
                <a:latin typeface="Calibri" pitchFamily="34" charset="0"/>
                <a:ea typeface="Calibri" pitchFamily="34" charset="-122"/>
                <a:cs typeface="Calibri" pitchFamily="34" charset="-120"/>
              </a:rPr>
              <a:t>Evaluation</a:t>
            </a:r>
            <a:endParaRPr lang="en-US" sz="1000" dirty="0"/>
          </a:p>
        </p:txBody>
      </p:sp>
      <p:sp>
        <p:nvSpPr>
          <p:cNvPr id="46" name="Text 43"/>
          <p:cNvSpPr/>
          <p:nvPr/>
        </p:nvSpPr>
        <p:spPr>
          <a:xfrm>
            <a:off x="7690104" y="2011680"/>
            <a:ext cx="1261872" cy="1097280"/>
          </a:xfrm>
          <a:prstGeom prst="rect">
            <a:avLst/>
          </a:prstGeom>
          <a:noFill/>
          <a:ln/>
        </p:spPr>
        <p:txBody>
          <a:bodyPr wrap="square" lIns="0" tIns="0" rIns="0" bIns="0" rtlCol="0" anchor="ctr"/>
          <a:lstStyle/>
          <a:p>
            <a:pPr marL="0" indent="0" algn="ctr">
              <a:buNone/>
            </a:pPr>
            <a:r>
              <a:rPr lang="en-US" sz="900" dirty="0">
                <a:solidFill>
                  <a:srgbClr val="3A5070"/>
                </a:solidFill>
                <a:latin typeface="Calibri" pitchFamily="34" charset="0"/>
                <a:ea typeface="Calibri" pitchFamily="34" charset="-122"/>
                <a:cs typeface="Calibri" pitchFamily="34" charset="-120"/>
              </a:rPr>
              <a:t>92.97% acc</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Precision 0.93</a:t>
            </a:r>
            <a:endParaRPr lang="en-US" sz="900" dirty="0"/>
          </a:p>
          <a:p>
            <a:pPr marL="0" indent="0" algn="ctr">
              <a:buNone/>
            </a:pPr>
            <a:r>
              <a:rPr lang="en-US" sz="900" dirty="0">
                <a:solidFill>
                  <a:srgbClr val="3A5070"/>
                </a:solidFill>
                <a:latin typeface="Calibri" pitchFamily="34" charset="0"/>
                <a:ea typeface="Calibri" pitchFamily="34" charset="-122"/>
                <a:cs typeface="Calibri" pitchFamily="34" charset="-120"/>
              </a:rPr>
              <a:t>Recall 0.93</a:t>
            </a:r>
            <a:endParaRPr lang="en-US" sz="900" dirty="0"/>
          </a:p>
        </p:txBody>
      </p:sp>
      <p:sp>
        <p:nvSpPr>
          <p:cNvPr id="47" name="Shape 44"/>
          <p:cNvSpPr/>
          <p:nvPr/>
        </p:nvSpPr>
        <p:spPr>
          <a:xfrm>
            <a:off x="274320" y="3429000"/>
            <a:ext cx="8595360" cy="1508760"/>
          </a:xfrm>
          <a:prstGeom prst="rect">
            <a:avLst/>
          </a:prstGeom>
          <a:solidFill>
            <a:srgbClr val="132040"/>
          </a:solidFill>
          <a:ln/>
          <a:effectLst>
            <a:outerShdw blurRad="127000" dist="38100" dir="8100000" algn="bl" rotWithShape="0">
              <a:srgbClr val="000000">
                <a:alpha val="20000"/>
              </a:srgbClr>
            </a:outerShdw>
          </a:effectLst>
        </p:spPr>
        <p:txBody>
          <a:bodyPr/>
          <a:lstStyle/>
          <a:p>
            <a:endParaRPr/>
          </a:p>
        </p:txBody>
      </p:sp>
      <p:sp>
        <p:nvSpPr>
          <p:cNvPr id="48" name="Shape 45"/>
          <p:cNvSpPr/>
          <p:nvPr/>
        </p:nvSpPr>
        <p:spPr>
          <a:xfrm>
            <a:off x="274320" y="3429000"/>
            <a:ext cx="54864" cy="1508760"/>
          </a:xfrm>
          <a:prstGeom prst="rect">
            <a:avLst/>
          </a:prstGeom>
          <a:solidFill>
            <a:srgbClr val="A78BFA"/>
          </a:solidFill>
          <a:ln/>
        </p:spPr>
        <p:txBody>
          <a:bodyPr/>
          <a:lstStyle/>
          <a:p>
            <a:endParaRPr/>
          </a:p>
        </p:txBody>
      </p:sp>
      <p:pic>
        <p:nvPicPr>
          <p:cNvPr id="49" name="Image 1" descr="preencoded.png"/>
          <p:cNvPicPr>
            <a:picLocks noChangeAspect="1"/>
          </p:cNvPicPr>
          <p:nvPr/>
        </p:nvPicPr>
        <p:blipFill>
          <a:blip r:embed="rId3"/>
          <a:stretch>
            <a:fillRect/>
          </a:stretch>
        </p:blipFill>
        <p:spPr>
          <a:xfrm>
            <a:off x="475488" y="3593592"/>
            <a:ext cx="685800" cy="685800"/>
          </a:xfrm>
          <a:prstGeom prst="rect">
            <a:avLst/>
          </a:prstGeom>
        </p:spPr>
      </p:pic>
      <p:sp>
        <p:nvSpPr>
          <p:cNvPr id="50" name="Text 46"/>
          <p:cNvSpPr/>
          <p:nvPr/>
        </p:nvSpPr>
        <p:spPr>
          <a:xfrm>
            <a:off x="1298448" y="3520440"/>
            <a:ext cx="36576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DistilBERT Architecture</a:t>
            </a:r>
            <a:endParaRPr lang="en-US" sz="1400" dirty="0"/>
          </a:p>
        </p:txBody>
      </p:sp>
      <p:sp>
        <p:nvSpPr>
          <p:cNvPr id="51" name="Text 47"/>
          <p:cNvSpPr/>
          <p:nvPr/>
        </p:nvSpPr>
        <p:spPr>
          <a:xfrm>
            <a:off x="1298448" y="3931920"/>
            <a:ext cx="7406640" cy="22860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 6 transformer layers — 40% smaller than BERT-base</a:t>
            </a:r>
            <a:endParaRPr lang="en-US" sz="950" dirty="0"/>
          </a:p>
        </p:txBody>
      </p:sp>
      <p:sp>
        <p:nvSpPr>
          <p:cNvPr id="52" name="Text 48"/>
          <p:cNvSpPr/>
          <p:nvPr/>
        </p:nvSpPr>
        <p:spPr>
          <a:xfrm>
            <a:off x="1298448" y="4160520"/>
            <a:ext cx="7406640" cy="22860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 66M parameters — fast inference, low memory</a:t>
            </a:r>
            <a:endParaRPr lang="en-US" sz="950" dirty="0"/>
          </a:p>
        </p:txBody>
      </p:sp>
      <p:sp>
        <p:nvSpPr>
          <p:cNvPr id="53" name="Text 49"/>
          <p:cNvSpPr/>
          <p:nvPr/>
        </p:nvSpPr>
        <p:spPr>
          <a:xfrm>
            <a:off x="1298448" y="4389120"/>
            <a:ext cx="7406640" cy="22860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 Retains 97% of BERT performance via knowledge distillation</a:t>
            </a:r>
            <a:endParaRPr lang="en-US" sz="950" dirty="0"/>
          </a:p>
        </p:txBody>
      </p:sp>
      <p:sp>
        <p:nvSpPr>
          <p:cNvPr id="54" name="Text 50"/>
          <p:cNvSpPr/>
          <p:nvPr/>
        </p:nvSpPr>
        <p:spPr>
          <a:xfrm>
            <a:off x="1298448" y="4617720"/>
            <a:ext cx="7406640" cy="22860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 Binary classification head: Positive / Negative</a:t>
            </a:r>
            <a:endParaRPr lang="en-US" sz="950" dirty="0"/>
          </a:p>
        </p:txBody>
      </p:sp>
      <p:sp>
        <p:nvSpPr>
          <p:cNvPr id="55" name="TextBox 54"/>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040"/>
          </a:solidFill>
          <a:ln/>
        </p:spPr>
        <p:txBody>
          <a:bodyPr/>
          <a:lstStyle/>
          <a:p>
            <a:endParaRPr/>
          </a:p>
        </p:txBody>
      </p:sp>
      <p:sp>
        <p:nvSpPr>
          <p:cNvPr id="3" name="Shape 1"/>
          <p:cNvSpPr/>
          <p:nvPr/>
        </p:nvSpPr>
        <p:spPr>
          <a:xfrm>
            <a:off x="0" y="0"/>
            <a:ext cx="9144000" cy="54864"/>
          </a:xfrm>
          <a:prstGeom prst="rect">
            <a:avLst/>
          </a:prstGeom>
          <a:solidFill>
            <a:srgbClr val="22C55E"/>
          </a:solidFill>
          <a:ln/>
        </p:spPr>
        <p:txBody>
          <a:bodyPr/>
          <a:lstStyle/>
          <a:p>
            <a:endParaRPr/>
          </a:p>
        </p:txBody>
      </p:sp>
      <p:sp>
        <p:nvSpPr>
          <p:cNvPr id="4" name="Text 2"/>
          <p:cNvSpPr/>
          <p:nvPr/>
        </p:nvSpPr>
        <p:spPr>
          <a:xfrm>
            <a:off x="365760" y="91440"/>
            <a:ext cx="73152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Model Choice &amp; Evaluation Results</a:t>
            </a:r>
            <a:endParaRPr lang="en-US" sz="2400" dirty="0"/>
          </a:p>
        </p:txBody>
      </p:sp>
      <p:sp>
        <p:nvSpPr>
          <p:cNvPr id="5" name="Text 3"/>
          <p:cNvSpPr/>
          <p:nvPr/>
        </p:nvSpPr>
        <p:spPr>
          <a:xfrm>
            <a:off x="274320" y="804672"/>
            <a:ext cx="3657600" cy="384048"/>
          </a:xfrm>
          <a:prstGeom prst="rect">
            <a:avLst/>
          </a:prstGeom>
          <a:noFill/>
          <a:ln/>
        </p:spPr>
        <p:txBody>
          <a:bodyPr wrap="square" lIns="0" tIns="0" rIns="0" bIns="0" rtlCol="0" anchor="ctr"/>
          <a:lstStyle/>
          <a:p>
            <a:pPr marL="0" indent="0">
              <a:buNone/>
            </a:pPr>
            <a:r>
              <a:rPr lang="en-US" sz="1600" b="1" dirty="0">
                <a:solidFill>
                  <a:srgbClr val="00C8FF"/>
                </a:solidFill>
                <a:latin typeface="Calibri" pitchFamily="34" charset="0"/>
                <a:ea typeface="Calibri" pitchFamily="34" charset="-122"/>
                <a:cs typeface="Calibri" pitchFamily="34" charset="-120"/>
              </a:rPr>
              <a:t>Why DistilBERT?</a:t>
            </a:r>
            <a:endParaRPr lang="en-US" sz="1600" dirty="0"/>
          </a:p>
        </p:txBody>
      </p:sp>
      <p:sp>
        <p:nvSpPr>
          <p:cNvPr id="6" name="Shape 4"/>
          <p:cNvSpPr/>
          <p:nvPr/>
        </p:nvSpPr>
        <p:spPr>
          <a:xfrm>
            <a:off x="274320" y="1280160"/>
            <a:ext cx="3657600" cy="713232"/>
          </a:xfrm>
          <a:prstGeom prst="rect">
            <a:avLst/>
          </a:prstGeom>
          <a:solidFill>
            <a:srgbClr val="102035"/>
          </a:solidFill>
          <a:ln/>
          <a:effectLst>
            <a:outerShdw blurRad="76200" dist="25400" dir="8100000" algn="bl" rotWithShape="0">
              <a:srgbClr val="000000">
                <a:alpha val="20000"/>
              </a:srgbClr>
            </a:outerShdw>
          </a:effectLst>
        </p:spPr>
        <p:txBody>
          <a:bodyPr/>
          <a:lstStyle/>
          <a:p>
            <a:endParaRPr/>
          </a:p>
        </p:txBody>
      </p:sp>
      <p:sp>
        <p:nvSpPr>
          <p:cNvPr id="7" name="Shape 5"/>
          <p:cNvSpPr/>
          <p:nvPr/>
        </p:nvSpPr>
        <p:spPr>
          <a:xfrm>
            <a:off x="274320" y="1280160"/>
            <a:ext cx="54864" cy="713232"/>
          </a:xfrm>
          <a:prstGeom prst="rect">
            <a:avLst/>
          </a:prstGeom>
          <a:solidFill>
            <a:srgbClr val="1E5EFF"/>
          </a:solidFill>
          <a:ln/>
        </p:spPr>
        <p:txBody>
          <a:bodyPr/>
          <a:lstStyle/>
          <a:p>
            <a:endParaRPr/>
          </a:p>
        </p:txBody>
      </p:sp>
      <p:sp>
        <p:nvSpPr>
          <p:cNvPr id="8" name="Text 6"/>
          <p:cNvSpPr/>
          <p:nvPr/>
        </p:nvSpPr>
        <p:spPr>
          <a:xfrm>
            <a:off x="457200" y="1325880"/>
            <a:ext cx="3383280" cy="329184"/>
          </a:xfrm>
          <a:prstGeom prst="rect">
            <a:avLst/>
          </a:prstGeom>
          <a:noFill/>
          <a:ln/>
        </p:spPr>
        <p:txBody>
          <a:bodyPr wrap="square" lIns="0" tIns="0" rIns="0" bIns="0" rtlCol="0" anchor="ctr"/>
          <a:lstStyle/>
          <a:p>
            <a:pPr marL="0" indent="0">
              <a:buNone/>
            </a:pPr>
            <a:r>
              <a:rPr lang="en-US" sz="1300" b="1" dirty="0">
                <a:solidFill>
                  <a:srgbClr val="1E5EFF"/>
                </a:solidFill>
                <a:latin typeface="Calibri" pitchFamily="34" charset="0"/>
                <a:ea typeface="Calibri" pitchFamily="34" charset="-122"/>
                <a:cs typeface="Calibri" pitchFamily="34" charset="-120"/>
              </a:rPr>
              <a:t>40% Smaller</a:t>
            </a:r>
            <a:endParaRPr lang="en-US" sz="1300" dirty="0"/>
          </a:p>
        </p:txBody>
      </p:sp>
      <p:sp>
        <p:nvSpPr>
          <p:cNvPr id="9" name="Text 7"/>
          <p:cNvSpPr/>
          <p:nvPr/>
        </p:nvSpPr>
        <p:spPr>
          <a:xfrm>
            <a:off x="457200" y="1645920"/>
            <a:ext cx="3383280" cy="2743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vs BERT-base — fits project constraints</a:t>
            </a:r>
            <a:endParaRPr lang="en-US" sz="950" dirty="0"/>
          </a:p>
        </p:txBody>
      </p:sp>
      <p:sp>
        <p:nvSpPr>
          <p:cNvPr id="10" name="Shape 8"/>
          <p:cNvSpPr/>
          <p:nvPr/>
        </p:nvSpPr>
        <p:spPr>
          <a:xfrm>
            <a:off x="274320" y="2121408"/>
            <a:ext cx="3657600" cy="713232"/>
          </a:xfrm>
          <a:prstGeom prst="rect">
            <a:avLst/>
          </a:prstGeom>
          <a:solidFill>
            <a:srgbClr val="102035"/>
          </a:solidFill>
          <a:ln/>
          <a:effectLst>
            <a:outerShdw blurRad="76200" dist="25400" dir="8100000" algn="bl" rotWithShape="0">
              <a:srgbClr val="000000">
                <a:alpha val="20000"/>
              </a:srgbClr>
            </a:outerShdw>
          </a:effectLst>
        </p:spPr>
        <p:txBody>
          <a:bodyPr/>
          <a:lstStyle/>
          <a:p>
            <a:endParaRPr/>
          </a:p>
        </p:txBody>
      </p:sp>
      <p:sp>
        <p:nvSpPr>
          <p:cNvPr id="11" name="Shape 9"/>
          <p:cNvSpPr/>
          <p:nvPr/>
        </p:nvSpPr>
        <p:spPr>
          <a:xfrm>
            <a:off x="274320" y="2121408"/>
            <a:ext cx="54864" cy="713232"/>
          </a:xfrm>
          <a:prstGeom prst="rect">
            <a:avLst/>
          </a:prstGeom>
          <a:solidFill>
            <a:srgbClr val="A78BFA"/>
          </a:solidFill>
          <a:ln/>
        </p:spPr>
        <p:txBody>
          <a:bodyPr/>
          <a:lstStyle/>
          <a:p>
            <a:endParaRPr/>
          </a:p>
        </p:txBody>
      </p:sp>
      <p:sp>
        <p:nvSpPr>
          <p:cNvPr id="12" name="Text 10"/>
          <p:cNvSpPr/>
          <p:nvPr/>
        </p:nvSpPr>
        <p:spPr>
          <a:xfrm>
            <a:off x="457200" y="2167128"/>
            <a:ext cx="3383280" cy="329184"/>
          </a:xfrm>
          <a:prstGeom prst="rect">
            <a:avLst/>
          </a:prstGeom>
          <a:noFill/>
          <a:ln/>
        </p:spPr>
        <p:txBody>
          <a:bodyPr wrap="square" lIns="0" tIns="0" rIns="0" bIns="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2× Faster</a:t>
            </a:r>
            <a:endParaRPr lang="en-US" sz="1300" dirty="0"/>
          </a:p>
        </p:txBody>
      </p:sp>
      <p:sp>
        <p:nvSpPr>
          <p:cNvPr id="13" name="Text 11"/>
          <p:cNvSpPr/>
          <p:nvPr/>
        </p:nvSpPr>
        <p:spPr>
          <a:xfrm>
            <a:off x="457200" y="2487168"/>
            <a:ext cx="3383280" cy="2743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inference speed for real-time analysis</a:t>
            </a:r>
            <a:endParaRPr lang="en-US" sz="950" dirty="0"/>
          </a:p>
        </p:txBody>
      </p:sp>
      <p:sp>
        <p:nvSpPr>
          <p:cNvPr id="14" name="Shape 12"/>
          <p:cNvSpPr/>
          <p:nvPr/>
        </p:nvSpPr>
        <p:spPr>
          <a:xfrm>
            <a:off x="274320" y="2962656"/>
            <a:ext cx="3657600" cy="713232"/>
          </a:xfrm>
          <a:prstGeom prst="rect">
            <a:avLst/>
          </a:prstGeom>
          <a:solidFill>
            <a:srgbClr val="102035"/>
          </a:solidFill>
          <a:ln/>
          <a:effectLst>
            <a:outerShdw blurRad="76200" dist="25400" dir="8100000" algn="bl" rotWithShape="0">
              <a:srgbClr val="000000">
                <a:alpha val="20000"/>
              </a:srgbClr>
            </a:outerShdw>
          </a:effectLst>
        </p:spPr>
        <p:txBody>
          <a:bodyPr/>
          <a:lstStyle/>
          <a:p>
            <a:endParaRPr/>
          </a:p>
        </p:txBody>
      </p:sp>
      <p:sp>
        <p:nvSpPr>
          <p:cNvPr id="15" name="Shape 13"/>
          <p:cNvSpPr/>
          <p:nvPr/>
        </p:nvSpPr>
        <p:spPr>
          <a:xfrm>
            <a:off x="274320" y="2962656"/>
            <a:ext cx="54864" cy="713232"/>
          </a:xfrm>
          <a:prstGeom prst="rect">
            <a:avLst/>
          </a:prstGeom>
          <a:solidFill>
            <a:srgbClr val="00C8FF"/>
          </a:solidFill>
          <a:ln/>
        </p:spPr>
        <p:txBody>
          <a:bodyPr/>
          <a:lstStyle/>
          <a:p>
            <a:endParaRPr/>
          </a:p>
        </p:txBody>
      </p:sp>
      <p:sp>
        <p:nvSpPr>
          <p:cNvPr id="16" name="Text 14"/>
          <p:cNvSpPr/>
          <p:nvPr/>
        </p:nvSpPr>
        <p:spPr>
          <a:xfrm>
            <a:off x="457200" y="3008376"/>
            <a:ext cx="3383280" cy="329184"/>
          </a:xfrm>
          <a:prstGeom prst="rect">
            <a:avLst/>
          </a:prstGeom>
          <a:noFill/>
          <a:ln/>
        </p:spPr>
        <p:txBody>
          <a:bodyPr wrap="square" lIns="0" tIns="0" rIns="0" bIns="0" rtlCol="0" anchor="ctr"/>
          <a:lstStyle/>
          <a:p>
            <a:pPr marL="0" indent="0">
              <a:buNone/>
            </a:pPr>
            <a:r>
              <a:rPr lang="en-US" sz="1300" b="1" dirty="0">
                <a:solidFill>
                  <a:srgbClr val="00C8FF"/>
                </a:solidFill>
                <a:latin typeface="Calibri" pitchFamily="34" charset="0"/>
                <a:ea typeface="Calibri" pitchFamily="34" charset="-122"/>
                <a:cs typeface="Calibri" pitchFamily="34" charset="-120"/>
              </a:rPr>
              <a:t>97% BERT perf</a:t>
            </a:r>
            <a:endParaRPr lang="en-US" sz="1300" dirty="0"/>
          </a:p>
        </p:txBody>
      </p:sp>
      <p:sp>
        <p:nvSpPr>
          <p:cNvPr id="17" name="Text 15"/>
          <p:cNvSpPr/>
          <p:nvPr/>
        </p:nvSpPr>
        <p:spPr>
          <a:xfrm>
            <a:off x="457200" y="3328416"/>
            <a:ext cx="3383280" cy="2743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retains performance via distillation</a:t>
            </a:r>
            <a:endParaRPr lang="en-US" sz="950" dirty="0"/>
          </a:p>
        </p:txBody>
      </p:sp>
      <p:sp>
        <p:nvSpPr>
          <p:cNvPr id="18" name="Shape 16"/>
          <p:cNvSpPr/>
          <p:nvPr/>
        </p:nvSpPr>
        <p:spPr>
          <a:xfrm>
            <a:off x="274320" y="3803904"/>
            <a:ext cx="3657600" cy="713232"/>
          </a:xfrm>
          <a:prstGeom prst="rect">
            <a:avLst/>
          </a:prstGeom>
          <a:solidFill>
            <a:srgbClr val="102035"/>
          </a:solidFill>
          <a:ln/>
          <a:effectLst>
            <a:outerShdw blurRad="76200" dist="25400" dir="8100000" algn="bl" rotWithShape="0">
              <a:srgbClr val="000000">
                <a:alpha val="20000"/>
              </a:srgbClr>
            </a:outerShdw>
          </a:effectLst>
        </p:spPr>
        <p:txBody>
          <a:bodyPr/>
          <a:lstStyle/>
          <a:p>
            <a:endParaRPr/>
          </a:p>
        </p:txBody>
      </p:sp>
      <p:sp>
        <p:nvSpPr>
          <p:cNvPr id="19" name="Shape 17"/>
          <p:cNvSpPr/>
          <p:nvPr/>
        </p:nvSpPr>
        <p:spPr>
          <a:xfrm>
            <a:off x="274320" y="3803904"/>
            <a:ext cx="54864" cy="713232"/>
          </a:xfrm>
          <a:prstGeom prst="rect">
            <a:avLst/>
          </a:prstGeom>
          <a:solidFill>
            <a:srgbClr val="22C55E"/>
          </a:solidFill>
          <a:ln/>
        </p:spPr>
        <p:txBody>
          <a:bodyPr/>
          <a:lstStyle/>
          <a:p>
            <a:endParaRPr/>
          </a:p>
        </p:txBody>
      </p:sp>
      <p:sp>
        <p:nvSpPr>
          <p:cNvPr id="20" name="Text 18"/>
          <p:cNvSpPr/>
          <p:nvPr/>
        </p:nvSpPr>
        <p:spPr>
          <a:xfrm>
            <a:off x="457200" y="3849624"/>
            <a:ext cx="3383280" cy="329184"/>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GPU-friendly</a:t>
            </a:r>
            <a:endParaRPr lang="en-US" sz="1300" dirty="0"/>
          </a:p>
        </p:txBody>
      </p:sp>
      <p:sp>
        <p:nvSpPr>
          <p:cNvPr id="21" name="Text 19"/>
          <p:cNvSpPr/>
          <p:nvPr/>
        </p:nvSpPr>
        <p:spPr>
          <a:xfrm>
            <a:off x="457200" y="4169664"/>
            <a:ext cx="3383280" cy="2743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trains effectively on limited resources</a:t>
            </a:r>
            <a:endParaRPr lang="en-US" sz="950" dirty="0"/>
          </a:p>
        </p:txBody>
      </p:sp>
      <p:sp>
        <p:nvSpPr>
          <p:cNvPr id="22" name="TextBox 21"/>
          <p:cNvSpPr txBox="1"/>
          <p:nvPr/>
        </p:nvSpPr>
        <p:spPr>
          <a:xfrm>
            <a:off x="4069080" y="768096"/>
            <a:ext cx="2331720" cy="256032"/>
          </a:xfrm>
          <a:prstGeom prst="rect">
            <a:avLst/>
          </a:prstGeom>
          <a:noFill/>
        </p:spPr>
        <p:txBody>
          <a:bodyPr wrap="square" anchor="ctr">
            <a:spAutoFit/>
          </a:bodyPr>
          <a:lstStyle/>
          <a:p>
            <a:pPr algn="l">
              <a:defRPr sz="1200" b="1">
                <a:solidFill>
                  <a:srgbClr val="00CFFF"/>
                </a:solidFill>
              </a:defRPr>
            </a:pPr>
            <a:r>
              <a:t>Performance Metrics</a:t>
            </a:r>
          </a:p>
        </p:txBody>
      </p:sp>
      <p:sp>
        <p:nvSpPr>
          <p:cNvPr id="23" name="Rounded Rectangle 22"/>
          <p:cNvSpPr/>
          <p:nvPr/>
        </p:nvSpPr>
        <p:spPr>
          <a:xfrm>
            <a:off x="4069080" y="1143000"/>
            <a:ext cx="1152144" cy="530352"/>
          </a:xfrm>
          <a:prstGeom prst="roundRect">
            <a:avLst/>
          </a:prstGeom>
          <a:solidFill>
            <a:srgbClr val="122840"/>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42232" y="1188720"/>
            <a:ext cx="1005840" cy="228600"/>
          </a:xfrm>
          <a:prstGeom prst="rect">
            <a:avLst/>
          </a:prstGeom>
          <a:noFill/>
        </p:spPr>
        <p:txBody>
          <a:bodyPr wrap="square" anchor="ctr">
            <a:spAutoFit/>
          </a:bodyPr>
          <a:lstStyle/>
          <a:p>
            <a:pPr algn="ctr">
              <a:defRPr sz="1700" b="1">
                <a:solidFill>
                  <a:srgbClr val="F5F7FA"/>
                </a:solidFill>
              </a:defRPr>
            </a:pPr>
            <a:r>
              <a:t>92.45%</a:t>
            </a:r>
          </a:p>
        </p:txBody>
      </p:sp>
      <p:sp>
        <p:nvSpPr>
          <p:cNvPr id="25" name="TextBox 24"/>
          <p:cNvSpPr txBox="1"/>
          <p:nvPr/>
        </p:nvSpPr>
        <p:spPr>
          <a:xfrm>
            <a:off x="4142232" y="1435608"/>
            <a:ext cx="1005840" cy="164592"/>
          </a:xfrm>
          <a:prstGeom prst="rect">
            <a:avLst/>
          </a:prstGeom>
          <a:noFill/>
        </p:spPr>
        <p:txBody>
          <a:bodyPr wrap="square" anchor="ctr">
            <a:spAutoFit/>
          </a:bodyPr>
          <a:lstStyle/>
          <a:p>
            <a:pPr algn="ctr">
              <a:defRPr sz="670" b="0">
                <a:solidFill>
                  <a:srgbClr val="BECDDC"/>
                </a:solidFill>
              </a:defRPr>
            </a:pPr>
            <a:r>
              <a:t>Epoch 1 Accuracy</a:t>
            </a:r>
          </a:p>
        </p:txBody>
      </p:sp>
      <p:sp>
        <p:nvSpPr>
          <p:cNvPr id="26" name="Rounded Rectangle 25"/>
          <p:cNvSpPr/>
          <p:nvPr/>
        </p:nvSpPr>
        <p:spPr>
          <a:xfrm>
            <a:off x="5385816" y="1143000"/>
            <a:ext cx="1152144" cy="530352"/>
          </a:xfrm>
          <a:prstGeom prst="roundRect">
            <a:avLst/>
          </a:prstGeom>
          <a:solidFill>
            <a:srgbClr val="122840"/>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58968" y="1188720"/>
            <a:ext cx="1005840" cy="228600"/>
          </a:xfrm>
          <a:prstGeom prst="rect">
            <a:avLst/>
          </a:prstGeom>
          <a:noFill/>
        </p:spPr>
        <p:txBody>
          <a:bodyPr wrap="square" anchor="ctr">
            <a:spAutoFit/>
          </a:bodyPr>
          <a:lstStyle/>
          <a:p>
            <a:pPr algn="ctr">
              <a:defRPr sz="1700" b="1">
                <a:solidFill>
                  <a:srgbClr val="F5F7FA"/>
                </a:solidFill>
              </a:defRPr>
            </a:pPr>
            <a:r>
              <a:t>92.98%</a:t>
            </a:r>
          </a:p>
        </p:txBody>
      </p:sp>
      <p:sp>
        <p:nvSpPr>
          <p:cNvPr id="28" name="TextBox 27"/>
          <p:cNvSpPr txBox="1"/>
          <p:nvPr/>
        </p:nvSpPr>
        <p:spPr>
          <a:xfrm>
            <a:off x="5458968" y="1435608"/>
            <a:ext cx="1005840" cy="164592"/>
          </a:xfrm>
          <a:prstGeom prst="rect">
            <a:avLst/>
          </a:prstGeom>
          <a:noFill/>
        </p:spPr>
        <p:txBody>
          <a:bodyPr wrap="square" anchor="ctr">
            <a:spAutoFit/>
          </a:bodyPr>
          <a:lstStyle/>
          <a:p>
            <a:pPr algn="ctr">
              <a:defRPr sz="670" b="0">
                <a:solidFill>
                  <a:srgbClr val="BECDDC"/>
                </a:solidFill>
              </a:defRPr>
            </a:pPr>
            <a:r>
              <a:t>Epoch 2 Accuracy</a:t>
            </a:r>
          </a:p>
        </p:txBody>
      </p:sp>
      <p:sp>
        <p:nvSpPr>
          <p:cNvPr id="29" name="Rounded Rectangle 28"/>
          <p:cNvSpPr/>
          <p:nvPr/>
        </p:nvSpPr>
        <p:spPr>
          <a:xfrm>
            <a:off x="4069080" y="1837944"/>
            <a:ext cx="1152144" cy="530352"/>
          </a:xfrm>
          <a:prstGeom prst="roundRect">
            <a:avLst/>
          </a:prstGeom>
          <a:solidFill>
            <a:srgbClr val="122840"/>
          </a:solidFill>
          <a:ln w="15240">
            <a:solidFill>
              <a:srgbClr val="F5B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42232" y="1883664"/>
            <a:ext cx="1005840" cy="228600"/>
          </a:xfrm>
          <a:prstGeom prst="rect">
            <a:avLst/>
          </a:prstGeom>
          <a:noFill/>
        </p:spPr>
        <p:txBody>
          <a:bodyPr wrap="square" anchor="ctr">
            <a:spAutoFit/>
          </a:bodyPr>
          <a:lstStyle/>
          <a:p>
            <a:pPr algn="ctr">
              <a:defRPr sz="1700" b="1">
                <a:solidFill>
                  <a:srgbClr val="F5F7FA"/>
                </a:solidFill>
              </a:defRPr>
            </a:pPr>
            <a:r>
              <a:t>92.97%</a:t>
            </a:r>
          </a:p>
        </p:txBody>
      </p:sp>
      <p:sp>
        <p:nvSpPr>
          <p:cNvPr id="31" name="TextBox 30"/>
          <p:cNvSpPr txBox="1"/>
          <p:nvPr/>
        </p:nvSpPr>
        <p:spPr>
          <a:xfrm>
            <a:off x="4142232" y="2130552"/>
            <a:ext cx="1005840" cy="164592"/>
          </a:xfrm>
          <a:prstGeom prst="rect">
            <a:avLst/>
          </a:prstGeom>
          <a:noFill/>
        </p:spPr>
        <p:txBody>
          <a:bodyPr wrap="square" anchor="ctr">
            <a:spAutoFit/>
          </a:bodyPr>
          <a:lstStyle/>
          <a:p>
            <a:pPr algn="ctr">
              <a:defRPr sz="670" b="0">
                <a:solidFill>
                  <a:srgbClr val="BECDDC"/>
                </a:solidFill>
              </a:defRPr>
            </a:pPr>
            <a:r>
              <a:t>Final Accuracy</a:t>
            </a:r>
          </a:p>
        </p:txBody>
      </p:sp>
      <p:sp>
        <p:nvSpPr>
          <p:cNvPr id="32" name="Rounded Rectangle 31"/>
          <p:cNvSpPr/>
          <p:nvPr/>
        </p:nvSpPr>
        <p:spPr>
          <a:xfrm>
            <a:off x="5385816" y="1837944"/>
            <a:ext cx="1152144" cy="530352"/>
          </a:xfrm>
          <a:prstGeom prst="roundRect">
            <a:avLst/>
          </a:prstGeom>
          <a:solidFill>
            <a:srgbClr val="122840"/>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58968" y="1883664"/>
            <a:ext cx="1005840" cy="228600"/>
          </a:xfrm>
          <a:prstGeom prst="rect">
            <a:avLst/>
          </a:prstGeom>
          <a:noFill/>
        </p:spPr>
        <p:txBody>
          <a:bodyPr wrap="square" anchor="ctr">
            <a:spAutoFit/>
          </a:bodyPr>
          <a:lstStyle/>
          <a:p>
            <a:pPr algn="ctr">
              <a:defRPr sz="1700" b="1">
                <a:solidFill>
                  <a:srgbClr val="F5F7FA"/>
                </a:solidFill>
              </a:defRPr>
            </a:pPr>
            <a:r>
              <a:t>0.198</a:t>
            </a:r>
          </a:p>
        </p:txBody>
      </p:sp>
      <p:sp>
        <p:nvSpPr>
          <p:cNvPr id="34" name="TextBox 33"/>
          <p:cNvSpPr txBox="1"/>
          <p:nvPr/>
        </p:nvSpPr>
        <p:spPr>
          <a:xfrm>
            <a:off x="5458968" y="2130552"/>
            <a:ext cx="1005840" cy="164592"/>
          </a:xfrm>
          <a:prstGeom prst="rect">
            <a:avLst/>
          </a:prstGeom>
          <a:noFill/>
        </p:spPr>
        <p:txBody>
          <a:bodyPr wrap="square" anchor="ctr">
            <a:spAutoFit/>
          </a:bodyPr>
          <a:lstStyle/>
          <a:p>
            <a:pPr algn="ctr">
              <a:defRPr sz="670" b="0">
                <a:solidFill>
                  <a:srgbClr val="BECDDC"/>
                </a:solidFill>
              </a:defRPr>
            </a:pPr>
            <a:r>
              <a:t>Loss</a:t>
            </a:r>
          </a:p>
        </p:txBody>
      </p:sp>
      <p:sp>
        <p:nvSpPr>
          <p:cNvPr id="35" name="Rounded Rectangle 34"/>
          <p:cNvSpPr/>
          <p:nvPr/>
        </p:nvSpPr>
        <p:spPr>
          <a:xfrm>
            <a:off x="4069080" y="2532888"/>
            <a:ext cx="1152144" cy="530352"/>
          </a:xfrm>
          <a:prstGeom prst="roundRect">
            <a:avLst/>
          </a:prstGeom>
          <a:solidFill>
            <a:srgbClr val="122840"/>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42232" y="2578608"/>
            <a:ext cx="1005840" cy="228600"/>
          </a:xfrm>
          <a:prstGeom prst="rect">
            <a:avLst/>
          </a:prstGeom>
          <a:noFill/>
        </p:spPr>
        <p:txBody>
          <a:bodyPr wrap="square" anchor="ctr">
            <a:spAutoFit/>
          </a:bodyPr>
          <a:lstStyle/>
          <a:p>
            <a:pPr algn="ctr">
              <a:defRPr sz="1700" b="1">
                <a:solidFill>
                  <a:srgbClr val="F5F7FA"/>
                </a:solidFill>
              </a:defRPr>
            </a:pPr>
            <a:r>
              <a:t>0.93</a:t>
            </a:r>
          </a:p>
        </p:txBody>
      </p:sp>
      <p:sp>
        <p:nvSpPr>
          <p:cNvPr id="37" name="TextBox 36"/>
          <p:cNvSpPr txBox="1"/>
          <p:nvPr/>
        </p:nvSpPr>
        <p:spPr>
          <a:xfrm>
            <a:off x="4142232" y="2825496"/>
            <a:ext cx="1005840" cy="164592"/>
          </a:xfrm>
          <a:prstGeom prst="rect">
            <a:avLst/>
          </a:prstGeom>
          <a:noFill/>
        </p:spPr>
        <p:txBody>
          <a:bodyPr wrap="square" anchor="ctr">
            <a:spAutoFit/>
          </a:bodyPr>
          <a:lstStyle/>
          <a:p>
            <a:pPr algn="ctr">
              <a:defRPr sz="670" b="0">
                <a:solidFill>
                  <a:srgbClr val="BECDDC"/>
                </a:solidFill>
              </a:defRPr>
            </a:pPr>
            <a:r>
              <a:t>Precision</a:t>
            </a:r>
          </a:p>
        </p:txBody>
      </p:sp>
      <p:sp>
        <p:nvSpPr>
          <p:cNvPr id="38" name="Rounded Rectangle 37"/>
          <p:cNvSpPr/>
          <p:nvPr/>
        </p:nvSpPr>
        <p:spPr>
          <a:xfrm>
            <a:off x="5385816" y="2532888"/>
            <a:ext cx="1152144" cy="530352"/>
          </a:xfrm>
          <a:prstGeom prst="roundRect">
            <a:avLst/>
          </a:prstGeom>
          <a:solidFill>
            <a:srgbClr val="122840"/>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58968" y="2578608"/>
            <a:ext cx="1005840" cy="228600"/>
          </a:xfrm>
          <a:prstGeom prst="rect">
            <a:avLst/>
          </a:prstGeom>
          <a:noFill/>
        </p:spPr>
        <p:txBody>
          <a:bodyPr wrap="square" anchor="ctr">
            <a:spAutoFit/>
          </a:bodyPr>
          <a:lstStyle/>
          <a:p>
            <a:pPr algn="ctr">
              <a:defRPr sz="1700" b="1">
                <a:solidFill>
                  <a:srgbClr val="F5F7FA"/>
                </a:solidFill>
              </a:defRPr>
            </a:pPr>
            <a:r>
              <a:t>0.93</a:t>
            </a:r>
          </a:p>
        </p:txBody>
      </p:sp>
      <p:sp>
        <p:nvSpPr>
          <p:cNvPr id="40" name="TextBox 39"/>
          <p:cNvSpPr txBox="1"/>
          <p:nvPr/>
        </p:nvSpPr>
        <p:spPr>
          <a:xfrm>
            <a:off x="5458968" y="2825496"/>
            <a:ext cx="1005840" cy="164592"/>
          </a:xfrm>
          <a:prstGeom prst="rect">
            <a:avLst/>
          </a:prstGeom>
          <a:noFill/>
        </p:spPr>
        <p:txBody>
          <a:bodyPr wrap="square" anchor="ctr">
            <a:spAutoFit/>
          </a:bodyPr>
          <a:lstStyle/>
          <a:p>
            <a:pPr algn="ctr">
              <a:defRPr sz="670" b="0">
                <a:solidFill>
                  <a:srgbClr val="BECDDC"/>
                </a:solidFill>
              </a:defRPr>
            </a:pPr>
            <a:r>
              <a:t>Recall</a:t>
            </a:r>
          </a:p>
        </p:txBody>
      </p:sp>
      <p:sp>
        <p:nvSpPr>
          <p:cNvPr id="41" name="Rounded Rectangle 40"/>
          <p:cNvSpPr/>
          <p:nvPr/>
        </p:nvSpPr>
        <p:spPr>
          <a:xfrm>
            <a:off x="4069080" y="3227832"/>
            <a:ext cx="2468880" cy="530352"/>
          </a:xfrm>
          <a:prstGeom prst="roundRect">
            <a:avLst/>
          </a:prstGeom>
          <a:solidFill>
            <a:srgbClr val="122840"/>
          </a:solidFill>
          <a:ln w="15240">
            <a:solidFill>
              <a:srgbClr val="F5B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42232" y="3273552"/>
            <a:ext cx="2322576" cy="228600"/>
          </a:xfrm>
          <a:prstGeom prst="rect">
            <a:avLst/>
          </a:prstGeom>
          <a:noFill/>
        </p:spPr>
        <p:txBody>
          <a:bodyPr wrap="square" anchor="ctr">
            <a:spAutoFit/>
          </a:bodyPr>
          <a:lstStyle/>
          <a:p>
            <a:pPr algn="ctr">
              <a:defRPr sz="1700" b="1">
                <a:solidFill>
                  <a:srgbClr val="F5F7FA"/>
                </a:solidFill>
              </a:defRPr>
            </a:pPr>
            <a:r>
              <a:t>0.93</a:t>
            </a:r>
          </a:p>
        </p:txBody>
      </p:sp>
      <p:sp>
        <p:nvSpPr>
          <p:cNvPr id="43" name="TextBox 42"/>
          <p:cNvSpPr txBox="1"/>
          <p:nvPr/>
        </p:nvSpPr>
        <p:spPr>
          <a:xfrm>
            <a:off x="4142232" y="3520440"/>
            <a:ext cx="2322576" cy="164592"/>
          </a:xfrm>
          <a:prstGeom prst="rect">
            <a:avLst/>
          </a:prstGeom>
          <a:noFill/>
        </p:spPr>
        <p:txBody>
          <a:bodyPr wrap="square" anchor="ctr">
            <a:spAutoFit/>
          </a:bodyPr>
          <a:lstStyle/>
          <a:p>
            <a:pPr algn="ctr">
              <a:defRPr sz="670" b="0">
                <a:solidFill>
                  <a:srgbClr val="BECDDC"/>
                </a:solidFill>
              </a:defRPr>
            </a:pPr>
            <a:r>
              <a:t>F1 Score</a:t>
            </a:r>
          </a:p>
        </p:txBody>
      </p:sp>
      <p:sp>
        <p:nvSpPr>
          <p:cNvPr id="44" name="TextBox 43"/>
          <p:cNvSpPr txBox="1"/>
          <p:nvPr/>
        </p:nvSpPr>
        <p:spPr>
          <a:xfrm>
            <a:off x="7132320" y="1097279"/>
            <a:ext cx="2011680" cy="256032"/>
          </a:xfrm>
          <a:prstGeom prst="rect">
            <a:avLst/>
          </a:prstGeom>
          <a:noFill/>
        </p:spPr>
        <p:txBody>
          <a:bodyPr wrap="square" anchor="ctr">
            <a:spAutoFit/>
          </a:bodyPr>
          <a:lstStyle/>
          <a:p>
            <a:pPr algn="l">
              <a:defRPr sz="1200" b="1">
                <a:solidFill>
                  <a:srgbClr val="00CFFF"/>
                </a:solidFill>
              </a:defRPr>
            </a:pPr>
            <a:r>
              <a:rPr dirty="0"/>
              <a:t>Confusion Matrix</a:t>
            </a:r>
          </a:p>
        </p:txBody>
      </p:sp>
      <p:pic>
        <p:nvPicPr>
          <p:cNvPr id="46" name="Picture 45" descr="image.jpg"/>
          <p:cNvPicPr>
            <a:picLocks noChangeAspect="1"/>
          </p:cNvPicPr>
          <p:nvPr/>
        </p:nvPicPr>
        <p:blipFill>
          <a:blip r:embed="rId3"/>
          <a:stretch>
            <a:fillRect/>
          </a:stretch>
        </p:blipFill>
        <p:spPr>
          <a:xfrm>
            <a:off x="6740929" y="1417320"/>
            <a:ext cx="2278380" cy="2185416"/>
          </a:xfrm>
          <a:prstGeom prst="rect">
            <a:avLst/>
          </a:prstGeom>
        </p:spPr>
      </p:pic>
      <p:sp>
        <p:nvSpPr>
          <p:cNvPr id="47" name="Rounded Rectangle 46"/>
          <p:cNvSpPr/>
          <p:nvPr/>
        </p:nvSpPr>
        <p:spPr>
          <a:xfrm>
            <a:off x="4069080" y="3977639"/>
            <a:ext cx="4736592" cy="438912"/>
          </a:xfrm>
          <a:prstGeom prst="roundRect">
            <a:avLst/>
          </a:prstGeom>
          <a:solidFill>
            <a:srgbClr val="09182B"/>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87952" y="4041648"/>
            <a:ext cx="4498848" cy="274320"/>
          </a:xfrm>
          <a:prstGeom prst="rect">
            <a:avLst/>
          </a:prstGeom>
          <a:noFill/>
        </p:spPr>
        <p:txBody>
          <a:bodyPr wrap="square" anchor="ctr">
            <a:spAutoFit/>
          </a:bodyPr>
          <a:lstStyle/>
          <a:p>
            <a:pPr algn="ctr">
              <a:defRPr sz="1050" b="1">
                <a:solidFill>
                  <a:srgbClr val="F5F7FA"/>
                </a:solidFill>
              </a:defRPr>
            </a:pPr>
            <a:r>
              <a:t>Strong balanced performance for binary sentiment classification</a:t>
            </a:r>
          </a:p>
        </p:txBody>
      </p:sp>
      <p:sp>
        <p:nvSpPr>
          <p:cNvPr id="49" name="TextBox 48"/>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a:p>
        </p:txBody>
      </p:sp>
      <p:sp>
        <p:nvSpPr>
          <p:cNvPr id="3" name="Shape 1"/>
          <p:cNvSpPr/>
          <p:nvPr/>
        </p:nvSpPr>
        <p:spPr>
          <a:xfrm>
            <a:off x="0" y="0"/>
            <a:ext cx="9144000" cy="54864"/>
          </a:xfrm>
          <a:prstGeom prst="rect">
            <a:avLst/>
          </a:prstGeom>
          <a:solidFill>
            <a:srgbClr val="00C8FF"/>
          </a:solidFill>
          <a:ln/>
        </p:spPr>
        <p:txBody>
          <a:bodyPr/>
          <a:lstStyle/>
          <a:p>
            <a:endParaRPr/>
          </a:p>
        </p:txBody>
      </p:sp>
      <p:sp>
        <p:nvSpPr>
          <p:cNvPr id="4" name="Text 2"/>
          <p:cNvSpPr/>
          <p:nvPr/>
        </p:nvSpPr>
        <p:spPr>
          <a:xfrm>
            <a:off x="365760" y="91440"/>
            <a:ext cx="73152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Multi-Agent Application Layer</a:t>
            </a:r>
            <a:endParaRPr lang="en-US" sz="2400" dirty="0"/>
          </a:p>
        </p:txBody>
      </p:sp>
      <p:sp>
        <p:nvSpPr>
          <p:cNvPr id="5" name="Shape 3"/>
          <p:cNvSpPr/>
          <p:nvPr/>
        </p:nvSpPr>
        <p:spPr>
          <a:xfrm>
            <a:off x="3017520" y="804672"/>
            <a:ext cx="3108960" cy="685800"/>
          </a:xfrm>
          <a:prstGeom prst="rect">
            <a:avLst/>
          </a:prstGeom>
          <a:solidFill>
            <a:srgbClr val="1E5EFF"/>
          </a:solidFill>
          <a:ln/>
          <a:effectLst>
            <a:outerShdw blurRad="152400" dist="38100" dir="8100000" algn="bl" rotWithShape="0">
              <a:srgbClr val="000000">
                <a:alpha val="30000"/>
              </a:srgbClr>
            </a:outerShdw>
          </a:effectLst>
        </p:spPr>
        <p:txBody>
          <a:bodyPr/>
          <a:lstStyle/>
          <a:p>
            <a:endParaRPr/>
          </a:p>
        </p:txBody>
      </p:sp>
      <p:pic>
        <p:nvPicPr>
          <p:cNvPr id="6" name="Image 0" descr="preencoded.png"/>
          <p:cNvPicPr>
            <a:picLocks noChangeAspect="1"/>
          </p:cNvPicPr>
          <p:nvPr/>
        </p:nvPicPr>
        <p:blipFill>
          <a:blip r:embed="rId3"/>
          <a:stretch>
            <a:fillRect/>
          </a:stretch>
        </p:blipFill>
        <p:spPr>
          <a:xfrm>
            <a:off x="3182112" y="886968"/>
            <a:ext cx="457200" cy="457200"/>
          </a:xfrm>
          <a:prstGeom prst="rect">
            <a:avLst/>
          </a:prstGeom>
        </p:spPr>
      </p:pic>
      <p:sp>
        <p:nvSpPr>
          <p:cNvPr id="7" name="Text 4"/>
          <p:cNvSpPr/>
          <p:nvPr/>
        </p:nvSpPr>
        <p:spPr>
          <a:xfrm>
            <a:off x="3657600" y="859536"/>
            <a:ext cx="23774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ORCHESTRATOR</a:t>
            </a:r>
            <a:endParaRPr lang="en-US" sz="1300" dirty="0"/>
          </a:p>
        </p:txBody>
      </p:sp>
      <p:sp>
        <p:nvSpPr>
          <p:cNvPr id="8" name="Text 5"/>
          <p:cNvSpPr/>
          <p:nvPr/>
        </p:nvSpPr>
        <p:spPr>
          <a:xfrm>
            <a:off x="3657600" y="1133856"/>
            <a:ext cx="2377440" cy="256032"/>
          </a:xfrm>
          <a:prstGeom prst="rect">
            <a:avLst/>
          </a:prstGeom>
          <a:noFill/>
          <a:ln/>
        </p:spPr>
        <p:txBody>
          <a:bodyPr wrap="square" lIns="0" tIns="0" rIns="0" bIns="0" rtlCol="0" anchor="ctr"/>
          <a:lstStyle/>
          <a:p>
            <a:pPr marL="0" indent="0">
              <a:buNone/>
            </a:pPr>
            <a:r>
              <a:rPr lang="en-US" sz="850" dirty="0">
                <a:solidFill>
                  <a:srgbClr val="E8F0FF"/>
                </a:solidFill>
                <a:latin typeface="Calibri" pitchFamily="34" charset="0"/>
                <a:ea typeface="Calibri" pitchFamily="34" charset="-122"/>
                <a:cs typeface="Calibri" pitchFamily="34" charset="-120"/>
              </a:rPr>
              <a:t>Coordinates all agent execution</a:t>
            </a:r>
            <a:endParaRPr lang="en-US" sz="850" dirty="0"/>
          </a:p>
        </p:txBody>
      </p:sp>
      <p:sp>
        <p:nvSpPr>
          <p:cNvPr id="9" name="Shape 6"/>
          <p:cNvSpPr/>
          <p:nvPr/>
        </p:nvSpPr>
        <p:spPr>
          <a:xfrm>
            <a:off x="182880" y="1737360"/>
            <a:ext cx="2103120" cy="30632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a:p>
        </p:txBody>
      </p:sp>
      <p:sp>
        <p:nvSpPr>
          <p:cNvPr id="10" name="Shape 7"/>
          <p:cNvSpPr/>
          <p:nvPr/>
        </p:nvSpPr>
        <p:spPr>
          <a:xfrm>
            <a:off x="182880" y="1737360"/>
            <a:ext cx="2103120" cy="54864"/>
          </a:xfrm>
          <a:prstGeom prst="rect">
            <a:avLst/>
          </a:prstGeom>
          <a:solidFill>
            <a:srgbClr val="1E5EFF"/>
          </a:solidFill>
          <a:ln/>
        </p:spPr>
        <p:txBody>
          <a:bodyPr/>
          <a:lstStyle/>
          <a:p>
            <a:endParaRPr/>
          </a:p>
        </p:txBody>
      </p:sp>
      <p:pic>
        <p:nvPicPr>
          <p:cNvPr id="12" name="Image 1" descr="preencoded.png"/>
          <p:cNvPicPr>
            <a:picLocks noChangeAspect="1"/>
          </p:cNvPicPr>
          <p:nvPr/>
        </p:nvPicPr>
        <p:blipFill>
          <a:blip r:embed="rId4"/>
          <a:stretch>
            <a:fillRect/>
          </a:stretch>
        </p:blipFill>
        <p:spPr>
          <a:xfrm>
            <a:off x="978408" y="1938528"/>
            <a:ext cx="502920" cy="502920"/>
          </a:xfrm>
          <a:prstGeom prst="rect">
            <a:avLst/>
          </a:prstGeom>
        </p:spPr>
      </p:pic>
      <p:sp>
        <p:nvSpPr>
          <p:cNvPr id="13" name="Text 9"/>
          <p:cNvSpPr/>
          <p:nvPr/>
        </p:nvSpPr>
        <p:spPr>
          <a:xfrm>
            <a:off x="274320" y="2651760"/>
            <a:ext cx="1920240" cy="365760"/>
          </a:xfrm>
          <a:prstGeom prst="rect">
            <a:avLst/>
          </a:prstGeom>
          <a:noFill/>
          <a:ln/>
        </p:spPr>
        <p:txBody>
          <a:bodyPr wrap="square" lIns="0" tIns="0" rIns="0" bIns="0" rtlCol="0" anchor="ctr"/>
          <a:lstStyle/>
          <a:p>
            <a:pPr marL="0" indent="0" algn="ctr">
              <a:buNone/>
            </a:pPr>
            <a:r>
              <a:rPr lang="en-US" sz="1100" b="1" dirty="0">
                <a:solidFill>
                  <a:srgbClr val="132040"/>
                </a:solidFill>
                <a:latin typeface="Calibri" pitchFamily="34" charset="0"/>
                <a:ea typeface="Calibri" pitchFamily="34" charset="-122"/>
                <a:cs typeface="Calibri" pitchFamily="34" charset="-120"/>
              </a:rPr>
              <a:t>Collector Agent</a:t>
            </a:r>
            <a:endParaRPr lang="en-US" sz="1100" dirty="0"/>
          </a:p>
        </p:txBody>
      </p:sp>
      <p:sp>
        <p:nvSpPr>
          <p:cNvPr id="15" name="Text 11"/>
          <p:cNvSpPr/>
          <p:nvPr/>
        </p:nvSpPr>
        <p:spPr>
          <a:xfrm>
            <a:off x="502920" y="2999232"/>
            <a:ext cx="1463040" cy="237744"/>
          </a:xfrm>
          <a:prstGeom prst="rect">
            <a:avLst/>
          </a:prstGeom>
          <a:noFill/>
          <a:ln/>
        </p:spPr>
        <p:txBody>
          <a:bodyPr wrap="square" lIns="0" tIns="0" rIns="0" bIns="0" rtlCol="0" anchor="ctr"/>
          <a:lstStyle/>
          <a:p>
            <a:pPr marL="0" indent="0" algn="ctr">
              <a:buNone/>
            </a:pPr>
            <a:r>
              <a:rPr lang="en-US" sz="800" b="1" dirty="0">
                <a:solidFill>
                  <a:srgbClr val="1E5EFF"/>
                </a:solidFill>
              </a:rPr>
              <a:t>CrewAI Agent</a:t>
            </a:r>
            <a:endParaRPr lang="en-US" sz="800" dirty="0"/>
          </a:p>
        </p:txBody>
      </p:sp>
      <p:sp>
        <p:nvSpPr>
          <p:cNvPr id="16" name="Text 12"/>
          <p:cNvSpPr/>
          <p:nvPr/>
        </p:nvSpPr>
        <p:spPr>
          <a:xfrm>
            <a:off x="292608" y="3364992"/>
            <a:ext cx="1874520" cy="402336"/>
          </a:xfrm>
          <a:prstGeom prst="rect">
            <a:avLst/>
          </a:prstGeom>
          <a:noFill/>
          <a:ln/>
        </p:spPr>
        <p:txBody>
          <a:bodyPr wrap="square" lIns="0" tIns="0" rIns="0" bIns="0" rtlCol="0" anchor="ctr"/>
          <a:lstStyle/>
          <a:p>
            <a:r>
              <a:rPr lang="en-US" sz="850" dirty="0">
                <a:solidFill>
                  <a:srgbClr val="3A5070"/>
                </a:solidFill>
                <a:latin typeface="Calibri" pitchFamily="34" charset="0"/>
                <a:ea typeface="Calibri" pitchFamily="34" charset="-122"/>
                <a:cs typeface="Calibri" pitchFamily="34" charset="-120"/>
              </a:rPr>
              <a:t>• </a:t>
            </a:r>
            <a:r>
              <a:rPr lang="en-US" sz="900" dirty="0">
                <a:solidFill>
                  <a:schemeClr val="tx2"/>
                </a:solidFill>
              </a:rPr>
              <a:t>Collects reviews from available sources</a:t>
            </a:r>
            <a:endParaRPr lang="en-US" sz="850" dirty="0">
              <a:solidFill>
                <a:schemeClr val="tx2"/>
              </a:solidFill>
            </a:endParaRPr>
          </a:p>
        </p:txBody>
      </p:sp>
      <p:sp>
        <p:nvSpPr>
          <p:cNvPr id="17" name="Text 13"/>
          <p:cNvSpPr/>
          <p:nvPr/>
        </p:nvSpPr>
        <p:spPr>
          <a:xfrm>
            <a:off x="292608" y="3785616"/>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Accepts manual user-provided input</a:t>
            </a:r>
            <a:endParaRPr lang="en-US" sz="850" dirty="0"/>
          </a:p>
        </p:txBody>
      </p:sp>
      <p:sp>
        <p:nvSpPr>
          <p:cNvPr id="18" name="Text 14"/>
          <p:cNvSpPr/>
          <p:nvPr/>
        </p:nvSpPr>
        <p:spPr>
          <a:xfrm>
            <a:off x="292608" y="4206240"/>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Validates &amp; normalises raw data</a:t>
            </a:r>
            <a:endParaRPr lang="en-US" sz="850" dirty="0"/>
          </a:p>
        </p:txBody>
      </p:sp>
      <p:sp>
        <p:nvSpPr>
          <p:cNvPr id="19" name="Text 15"/>
          <p:cNvSpPr/>
          <p:nvPr/>
        </p:nvSpPr>
        <p:spPr>
          <a:xfrm>
            <a:off x="1051560" y="1463040"/>
            <a:ext cx="365760" cy="292608"/>
          </a:xfrm>
          <a:prstGeom prst="rect">
            <a:avLst/>
          </a:prstGeom>
          <a:noFill/>
          <a:ln/>
        </p:spPr>
        <p:txBody>
          <a:bodyPr wrap="square" lIns="0" tIns="0" rIns="0" bIns="0" rtlCol="0" anchor="ctr"/>
          <a:lstStyle/>
          <a:p>
            <a:pPr marL="0" indent="0" algn="ctr">
              <a:buNone/>
            </a:pPr>
            <a:r>
              <a:rPr lang="en-US" sz="1300" dirty="0">
                <a:solidFill>
                  <a:srgbClr val="1E5EFF"/>
                </a:solidFill>
              </a:rPr>
              <a:t>↓</a:t>
            </a:r>
            <a:endParaRPr lang="en-US" sz="1300" dirty="0"/>
          </a:p>
        </p:txBody>
      </p:sp>
      <p:sp>
        <p:nvSpPr>
          <p:cNvPr id="20" name="Shape 16"/>
          <p:cNvSpPr/>
          <p:nvPr/>
        </p:nvSpPr>
        <p:spPr>
          <a:xfrm>
            <a:off x="2468880" y="1737360"/>
            <a:ext cx="2103120" cy="30632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a:p>
        </p:txBody>
      </p:sp>
      <p:sp>
        <p:nvSpPr>
          <p:cNvPr id="21" name="Shape 17"/>
          <p:cNvSpPr/>
          <p:nvPr/>
        </p:nvSpPr>
        <p:spPr>
          <a:xfrm>
            <a:off x="2468880" y="1737360"/>
            <a:ext cx="2103120" cy="54864"/>
          </a:xfrm>
          <a:prstGeom prst="rect">
            <a:avLst/>
          </a:prstGeom>
          <a:solidFill>
            <a:srgbClr val="A78BFA"/>
          </a:solidFill>
          <a:ln/>
        </p:spPr>
        <p:txBody>
          <a:bodyPr/>
          <a:lstStyle/>
          <a:p>
            <a:endParaRPr/>
          </a:p>
        </p:txBody>
      </p:sp>
      <p:sp>
        <p:nvSpPr>
          <p:cNvPr id="22" name="Shape 18"/>
          <p:cNvSpPr/>
          <p:nvPr/>
        </p:nvSpPr>
        <p:spPr>
          <a:xfrm>
            <a:off x="3218688" y="1901952"/>
            <a:ext cx="594360" cy="594360"/>
          </a:xfrm>
          <a:prstGeom prst="ellipse">
            <a:avLst/>
          </a:prstGeom>
          <a:gradFill>
            <a:gsLst>
              <a:gs pos="11000">
                <a:srgbClr val="0070C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ln/>
        </p:spPr>
        <p:txBody>
          <a:bodyPr/>
          <a:lstStyle/>
          <a:p>
            <a:endParaRPr/>
          </a:p>
        </p:txBody>
      </p:sp>
      <p:pic>
        <p:nvPicPr>
          <p:cNvPr id="23" name="Image 2" descr="preencoded.png"/>
          <p:cNvPicPr>
            <a:picLocks noChangeAspect="1"/>
          </p:cNvPicPr>
          <p:nvPr/>
        </p:nvPicPr>
        <p:blipFill>
          <a:blip r:embed="rId5"/>
          <a:stretch>
            <a:fillRect/>
          </a:stretch>
        </p:blipFill>
        <p:spPr>
          <a:xfrm>
            <a:off x="3218688" y="1906524"/>
            <a:ext cx="594360" cy="594360"/>
          </a:xfrm>
          <a:prstGeom prst="rect">
            <a:avLst/>
          </a:prstGeom>
          <a:solidFill>
            <a:srgbClr val="FFFFFF"/>
          </a:solidFill>
        </p:spPr>
      </p:pic>
      <p:sp>
        <p:nvSpPr>
          <p:cNvPr id="24" name="Text 19"/>
          <p:cNvSpPr/>
          <p:nvPr/>
        </p:nvSpPr>
        <p:spPr>
          <a:xfrm>
            <a:off x="2560320" y="2651760"/>
            <a:ext cx="1920240" cy="365760"/>
          </a:xfrm>
          <a:prstGeom prst="rect">
            <a:avLst/>
          </a:prstGeom>
          <a:noFill/>
          <a:ln/>
        </p:spPr>
        <p:txBody>
          <a:bodyPr wrap="square" lIns="0" tIns="0" rIns="0" bIns="0" rtlCol="0" anchor="ctr"/>
          <a:lstStyle/>
          <a:p>
            <a:pPr marL="0" indent="0" algn="ctr">
              <a:buNone/>
            </a:pPr>
            <a:r>
              <a:rPr lang="en-US" sz="1100" b="1" dirty="0">
                <a:solidFill>
                  <a:srgbClr val="132040"/>
                </a:solidFill>
                <a:latin typeface="Calibri" pitchFamily="34" charset="0"/>
                <a:ea typeface="Calibri" pitchFamily="34" charset="-122"/>
                <a:cs typeface="Calibri" pitchFamily="34" charset="-120"/>
              </a:rPr>
              <a:t>Sentiment Agent</a:t>
            </a:r>
            <a:endParaRPr lang="en-US" sz="1100" dirty="0"/>
          </a:p>
        </p:txBody>
      </p:sp>
      <p:sp>
        <p:nvSpPr>
          <p:cNvPr id="25" name="Shape 20"/>
          <p:cNvSpPr/>
          <p:nvPr/>
        </p:nvSpPr>
        <p:spPr>
          <a:xfrm>
            <a:off x="2788920" y="2999232"/>
            <a:ext cx="1463040" cy="237744"/>
          </a:xfrm>
          <a:prstGeom prst="roundRect">
            <a:avLst>
              <a:gd name="adj" fmla="val 19231"/>
            </a:avLst>
          </a:prstGeom>
          <a:noFill/>
          <a:ln/>
        </p:spPr>
        <p:txBody>
          <a:bodyPr/>
          <a:lstStyle/>
          <a:p>
            <a:endParaRPr/>
          </a:p>
        </p:txBody>
      </p:sp>
      <p:sp>
        <p:nvSpPr>
          <p:cNvPr id="26" name="Text 21"/>
          <p:cNvSpPr/>
          <p:nvPr/>
        </p:nvSpPr>
        <p:spPr>
          <a:xfrm>
            <a:off x="2788920" y="2999232"/>
            <a:ext cx="1463040" cy="237744"/>
          </a:xfrm>
          <a:prstGeom prst="rect">
            <a:avLst/>
          </a:prstGeom>
          <a:noFill/>
          <a:ln/>
        </p:spPr>
        <p:txBody>
          <a:bodyPr wrap="square" lIns="0" tIns="0" rIns="0" bIns="0" rtlCol="0" anchor="ctr"/>
          <a:lstStyle/>
          <a:p>
            <a:pPr marL="0" indent="0" algn="ctr">
              <a:buNone/>
            </a:pPr>
            <a:r>
              <a:rPr lang="en-US" sz="800" b="1" dirty="0">
                <a:solidFill>
                  <a:srgbClr val="A78BFA"/>
                </a:solidFill>
              </a:rPr>
              <a:t>ML Inference Agent</a:t>
            </a:r>
            <a:endParaRPr lang="en-US" sz="800" dirty="0"/>
          </a:p>
        </p:txBody>
      </p:sp>
      <p:sp>
        <p:nvSpPr>
          <p:cNvPr id="27" name="Text 22"/>
          <p:cNvSpPr/>
          <p:nvPr/>
        </p:nvSpPr>
        <p:spPr>
          <a:xfrm>
            <a:off x="2578608" y="3364992"/>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Loads fine-tuned DistilBERT</a:t>
            </a:r>
            <a:endParaRPr lang="en-US" sz="850" dirty="0"/>
          </a:p>
        </p:txBody>
      </p:sp>
      <p:sp>
        <p:nvSpPr>
          <p:cNvPr id="28" name="Text 23"/>
          <p:cNvSpPr/>
          <p:nvPr/>
        </p:nvSpPr>
        <p:spPr>
          <a:xfrm>
            <a:off x="2578608" y="3785616"/>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Classifies each review</a:t>
            </a:r>
            <a:endParaRPr lang="en-US" sz="850" dirty="0"/>
          </a:p>
        </p:txBody>
      </p:sp>
      <p:sp>
        <p:nvSpPr>
          <p:cNvPr id="29" name="Text 24"/>
          <p:cNvSpPr/>
          <p:nvPr/>
        </p:nvSpPr>
        <p:spPr>
          <a:xfrm>
            <a:off x="2578608" y="4206240"/>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Returns confidence scores</a:t>
            </a:r>
            <a:endParaRPr lang="en-US" sz="850" dirty="0"/>
          </a:p>
        </p:txBody>
      </p:sp>
      <p:sp>
        <p:nvSpPr>
          <p:cNvPr id="30" name="Text 25"/>
          <p:cNvSpPr/>
          <p:nvPr/>
        </p:nvSpPr>
        <p:spPr>
          <a:xfrm>
            <a:off x="3337560" y="1463040"/>
            <a:ext cx="365760" cy="292608"/>
          </a:xfrm>
          <a:prstGeom prst="rect">
            <a:avLst/>
          </a:prstGeom>
          <a:noFill/>
          <a:ln/>
        </p:spPr>
        <p:txBody>
          <a:bodyPr wrap="square" lIns="0" tIns="0" rIns="0" bIns="0" rtlCol="0" anchor="ctr"/>
          <a:lstStyle/>
          <a:p>
            <a:pPr marL="0" indent="0" algn="ctr">
              <a:buNone/>
            </a:pPr>
            <a:r>
              <a:rPr lang="en-US" sz="1300" dirty="0">
                <a:solidFill>
                  <a:srgbClr val="A78BFA"/>
                </a:solidFill>
              </a:rPr>
              <a:t>↓</a:t>
            </a:r>
            <a:endParaRPr lang="en-US" sz="1300" dirty="0"/>
          </a:p>
        </p:txBody>
      </p:sp>
      <p:sp>
        <p:nvSpPr>
          <p:cNvPr id="31" name="Shape 26"/>
          <p:cNvSpPr/>
          <p:nvPr/>
        </p:nvSpPr>
        <p:spPr>
          <a:xfrm>
            <a:off x="4754880" y="1737360"/>
            <a:ext cx="2103120" cy="30632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a:p>
        </p:txBody>
      </p:sp>
      <p:sp>
        <p:nvSpPr>
          <p:cNvPr id="32" name="Shape 27"/>
          <p:cNvSpPr/>
          <p:nvPr/>
        </p:nvSpPr>
        <p:spPr>
          <a:xfrm>
            <a:off x="4754880" y="1737360"/>
            <a:ext cx="2103120" cy="54864"/>
          </a:xfrm>
          <a:prstGeom prst="rect">
            <a:avLst/>
          </a:prstGeom>
          <a:solidFill>
            <a:srgbClr val="00C8FF"/>
          </a:solidFill>
          <a:ln/>
        </p:spPr>
        <p:txBody>
          <a:bodyPr/>
          <a:lstStyle/>
          <a:p>
            <a:endParaRPr/>
          </a:p>
        </p:txBody>
      </p:sp>
      <p:pic>
        <p:nvPicPr>
          <p:cNvPr id="34" name="Image 3" descr="preencoded.png"/>
          <p:cNvPicPr>
            <a:picLocks noChangeAspect="1"/>
          </p:cNvPicPr>
          <p:nvPr/>
        </p:nvPicPr>
        <p:blipFill>
          <a:blip r:embed="rId6"/>
          <a:stretch>
            <a:fillRect/>
          </a:stretch>
        </p:blipFill>
        <p:spPr>
          <a:xfrm>
            <a:off x="5550408" y="1938528"/>
            <a:ext cx="502920" cy="502920"/>
          </a:xfrm>
          <a:prstGeom prst="rect">
            <a:avLst/>
          </a:prstGeom>
        </p:spPr>
      </p:pic>
      <p:sp>
        <p:nvSpPr>
          <p:cNvPr id="35" name="Text 29"/>
          <p:cNvSpPr/>
          <p:nvPr/>
        </p:nvSpPr>
        <p:spPr>
          <a:xfrm>
            <a:off x="4846320" y="2651760"/>
            <a:ext cx="1920240" cy="365760"/>
          </a:xfrm>
          <a:prstGeom prst="rect">
            <a:avLst/>
          </a:prstGeom>
          <a:noFill/>
          <a:ln/>
        </p:spPr>
        <p:txBody>
          <a:bodyPr wrap="square" lIns="0" tIns="0" rIns="0" bIns="0" rtlCol="0" anchor="ctr"/>
          <a:lstStyle/>
          <a:p>
            <a:pPr marL="0" indent="0" algn="ctr">
              <a:buNone/>
            </a:pPr>
            <a:r>
              <a:rPr lang="en-US" sz="1100" b="1" dirty="0">
                <a:solidFill>
                  <a:srgbClr val="132040"/>
                </a:solidFill>
                <a:latin typeface="Calibri" pitchFamily="34" charset="0"/>
                <a:ea typeface="Calibri" pitchFamily="34" charset="-122"/>
                <a:cs typeface="Calibri" pitchFamily="34" charset="-120"/>
              </a:rPr>
              <a:t>Insight Agent</a:t>
            </a:r>
            <a:endParaRPr lang="en-US" sz="1100" dirty="0"/>
          </a:p>
        </p:txBody>
      </p:sp>
      <p:sp>
        <p:nvSpPr>
          <p:cNvPr id="37" name="Text 31"/>
          <p:cNvSpPr/>
          <p:nvPr/>
        </p:nvSpPr>
        <p:spPr>
          <a:xfrm>
            <a:off x="5074920" y="2999232"/>
            <a:ext cx="1463040" cy="237744"/>
          </a:xfrm>
          <a:prstGeom prst="rect">
            <a:avLst/>
          </a:prstGeom>
          <a:noFill/>
          <a:ln/>
        </p:spPr>
        <p:txBody>
          <a:bodyPr wrap="square" lIns="0" tIns="0" rIns="0" bIns="0" rtlCol="0" anchor="ctr"/>
          <a:lstStyle/>
          <a:p>
            <a:pPr algn="ctr"/>
            <a:r>
              <a:rPr lang="en-US" sz="800" b="1" dirty="0">
                <a:solidFill>
                  <a:srgbClr val="00C8FF"/>
                </a:solidFill>
              </a:rPr>
              <a:t>Business Insight Agent</a:t>
            </a:r>
            <a:endParaRPr lang="en-US" sz="800" b="1" dirty="0"/>
          </a:p>
        </p:txBody>
      </p:sp>
      <p:sp>
        <p:nvSpPr>
          <p:cNvPr id="38" name="Text 32"/>
          <p:cNvSpPr/>
          <p:nvPr/>
        </p:nvSpPr>
        <p:spPr>
          <a:xfrm>
            <a:off x="4864608" y="3364992"/>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Extracts key strengths</a:t>
            </a:r>
            <a:endParaRPr lang="en-US" sz="850" dirty="0"/>
          </a:p>
        </p:txBody>
      </p:sp>
      <p:sp>
        <p:nvSpPr>
          <p:cNvPr id="39" name="Text 33"/>
          <p:cNvSpPr/>
          <p:nvPr/>
        </p:nvSpPr>
        <p:spPr>
          <a:xfrm>
            <a:off x="4864608" y="3785616"/>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Identifies complaints</a:t>
            </a:r>
            <a:endParaRPr lang="en-US" sz="850" dirty="0"/>
          </a:p>
        </p:txBody>
      </p:sp>
      <p:sp>
        <p:nvSpPr>
          <p:cNvPr id="40" name="Text 34"/>
          <p:cNvSpPr/>
          <p:nvPr/>
        </p:nvSpPr>
        <p:spPr>
          <a:xfrm>
            <a:off x="4864608" y="4206240"/>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Finds recurring topics</a:t>
            </a:r>
            <a:endParaRPr lang="en-US" sz="850" dirty="0"/>
          </a:p>
        </p:txBody>
      </p:sp>
      <p:sp>
        <p:nvSpPr>
          <p:cNvPr id="41" name="Text 35"/>
          <p:cNvSpPr/>
          <p:nvPr/>
        </p:nvSpPr>
        <p:spPr>
          <a:xfrm>
            <a:off x="5623560" y="1463040"/>
            <a:ext cx="365760" cy="292608"/>
          </a:xfrm>
          <a:prstGeom prst="rect">
            <a:avLst/>
          </a:prstGeom>
          <a:noFill/>
          <a:ln/>
        </p:spPr>
        <p:txBody>
          <a:bodyPr wrap="square" lIns="0" tIns="0" rIns="0" bIns="0" rtlCol="0" anchor="ctr"/>
          <a:lstStyle/>
          <a:p>
            <a:pPr marL="0" indent="0" algn="ctr">
              <a:buNone/>
            </a:pPr>
            <a:r>
              <a:rPr lang="en-US" sz="1300" dirty="0">
                <a:solidFill>
                  <a:srgbClr val="00C8FF"/>
                </a:solidFill>
              </a:rPr>
              <a:t>↓</a:t>
            </a:r>
            <a:endParaRPr lang="en-US" sz="1300" dirty="0"/>
          </a:p>
        </p:txBody>
      </p:sp>
      <p:sp>
        <p:nvSpPr>
          <p:cNvPr id="42" name="Shape 36"/>
          <p:cNvSpPr/>
          <p:nvPr/>
        </p:nvSpPr>
        <p:spPr>
          <a:xfrm>
            <a:off x="7040880" y="1737360"/>
            <a:ext cx="2103120" cy="306324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a:p>
        </p:txBody>
      </p:sp>
      <p:sp>
        <p:nvSpPr>
          <p:cNvPr id="43" name="Shape 37"/>
          <p:cNvSpPr/>
          <p:nvPr/>
        </p:nvSpPr>
        <p:spPr>
          <a:xfrm>
            <a:off x="7040880" y="1737360"/>
            <a:ext cx="2103120" cy="54864"/>
          </a:xfrm>
          <a:prstGeom prst="rect">
            <a:avLst/>
          </a:prstGeom>
          <a:solidFill>
            <a:srgbClr val="22C55E"/>
          </a:solidFill>
          <a:ln/>
        </p:spPr>
        <p:txBody>
          <a:bodyPr/>
          <a:lstStyle/>
          <a:p>
            <a:endParaRPr/>
          </a:p>
        </p:txBody>
      </p:sp>
      <p:pic>
        <p:nvPicPr>
          <p:cNvPr id="45" name="Image 4" descr="preencoded.png"/>
          <p:cNvPicPr>
            <a:picLocks noChangeAspect="1"/>
          </p:cNvPicPr>
          <p:nvPr/>
        </p:nvPicPr>
        <p:blipFill>
          <a:blip r:embed="rId7"/>
          <a:stretch>
            <a:fillRect/>
          </a:stretch>
        </p:blipFill>
        <p:spPr>
          <a:xfrm>
            <a:off x="7836408" y="1938528"/>
            <a:ext cx="502920" cy="502920"/>
          </a:xfrm>
          <a:prstGeom prst="rect">
            <a:avLst/>
          </a:prstGeom>
        </p:spPr>
      </p:pic>
      <p:sp>
        <p:nvSpPr>
          <p:cNvPr id="46" name="Text 39"/>
          <p:cNvSpPr/>
          <p:nvPr/>
        </p:nvSpPr>
        <p:spPr>
          <a:xfrm>
            <a:off x="7132320" y="2651760"/>
            <a:ext cx="1920240" cy="365760"/>
          </a:xfrm>
          <a:prstGeom prst="rect">
            <a:avLst/>
          </a:prstGeom>
          <a:noFill/>
          <a:ln/>
        </p:spPr>
        <p:txBody>
          <a:bodyPr wrap="square" lIns="0" tIns="0" rIns="0" bIns="0" rtlCol="0" anchor="ctr"/>
          <a:lstStyle/>
          <a:p>
            <a:pPr marL="0" indent="0" algn="ctr">
              <a:buNone/>
            </a:pPr>
            <a:r>
              <a:rPr lang="en-US" sz="1100" b="1" dirty="0">
                <a:solidFill>
                  <a:srgbClr val="132040"/>
                </a:solidFill>
                <a:latin typeface="Calibri" pitchFamily="34" charset="0"/>
                <a:ea typeface="Calibri" pitchFamily="34" charset="-122"/>
                <a:cs typeface="Calibri" pitchFamily="34" charset="-120"/>
              </a:rPr>
              <a:t>Report Agent</a:t>
            </a:r>
            <a:endParaRPr lang="en-US" sz="1100" dirty="0"/>
          </a:p>
        </p:txBody>
      </p:sp>
      <p:sp>
        <p:nvSpPr>
          <p:cNvPr id="47" name="Shape 40"/>
          <p:cNvSpPr/>
          <p:nvPr/>
        </p:nvSpPr>
        <p:spPr>
          <a:xfrm>
            <a:off x="7360920" y="2999232"/>
            <a:ext cx="1463040" cy="237744"/>
          </a:xfrm>
          <a:prstGeom prst="roundRect">
            <a:avLst>
              <a:gd name="adj" fmla="val 19231"/>
            </a:avLst>
          </a:prstGeom>
          <a:noFill/>
          <a:ln/>
        </p:spPr>
        <p:txBody>
          <a:bodyPr/>
          <a:lstStyle/>
          <a:p>
            <a:endParaRPr/>
          </a:p>
        </p:txBody>
      </p:sp>
      <p:sp>
        <p:nvSpPr>
          <p:cNvPr id="48" name="Text 41"/>
          <p:cNvSpPr/>
          <p:nvPr/>
        </p:nvSpPr>
        <p:spPr>
          <a:xfrm>
            <a:off x="7360920" y="2999232"/>
            <a:ext cx="1463040" cy="237744"/>
          </a:xfrm>
          <a:prstGeom prst="rect">
            <a:avLst/>
          </a:prstGeom>
          <a:noFill/>
          <a:ln/>
        </p:spPr>
        <p:txBody>
          <a:bodyPr wrap="square" lIns="0" tIns="0" rIns="0" bIns="0" rtlCol="0" anchor="ctr"/>
          <a:lstStyle/>
          <a:p>
            <a:pPr algn="ctr"/>
            <a:r>
              <a:rPr lang="fr-FR" sz="800" b="1" dirty="0">
                <a:solidFill>
                  <a:srgbClr val="00B050"/>
                </a:solidFill>
              </a:rPr>
              <a:t>Report </a:t>
            </a:r>
            <a:r>
              <a:rPr lang="fr-FR" sz="800" b="1" dirty="0" err="1">
                <a:solidFill>
                  <a:srgbClr val="00B050"/>
                </a:solidFill>
              </a:rPr>
              <a:t>Generation</a:t>
            </a:r>
            <a:r>
              <a:rPr lang="fr-FR" sz="800" b="1" dirty="0">
                <a:solidFill>
                  <a:srgbClr val="00B050"/>
                </a:solidFill>
              </a:rPr>
              <a:t> Agent</a:t>
            </a:r>
            <a:endParaRPr lang="en-US" sz="800" b="1" dirty="0">
              <a:solidFill>
                <a:srgbClr val="00B050"/>
              </a:solidFill>
            </a:endParaRPr>
          </a:p>
        </p:txBody>
      </p:sp>
      <p:sp>
        <p:nvSpPr>
          <p:cNvPr id="49" name="Text 42"/>
          <p:cNvSpPr/>
          <p:nvPr/>
        </p:nvSpPr>
        <p:spPr>
          <a:xfrm>
            <a:off x="7150608" y="3364992"/>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Compiles all insights</a:t>
            </a:r>
            <a:endParaRPr lang="en-US" sz="850" dirty="0"/>
          </a:p>
        </p:txBody>
      </p:sp>
      <p:sp>
        <p:nvSpPr>
          <p:cNvPr id="50" name="Text 43"/>
          <p:cNvSpPr/>
          <p:nvPr/>
        </p:nvSpPr>
        <p:spPr>
          <a:xfrm>
            <a:off x="7150608" y="3785616"/>
            <a:ext cx="1874520" cy="402336"/>
          </a:xfrm>
          <a:prstGeom prst="rect">
            <a:avLst/>
          </a:prstGeom>
          <a:noFill/>
          <a:ln/>
        </p:spPr>
        <p:txBody>
          <a:bodyPr wrap="square" lIns="0" tIns="0" rIns="0" bIns="0" rtlCol="0" anchor="ctr"/>
          <a:lstStyle/>
          <a:p>
            <a:pPr marL="0" indent="0">
              <a:buNone/>
            </a:pPr>
            <a:r>
              <a:rPr lang="en-US" sz="850" dirty="0">
                <a:solidFill>
                  <a:srgbClr val="3A5070"/>
                </a:solidFill>
                <a:latin typeface="Calibri" pitchFamily="34" charset="0"/>
                <a:ea typeface="Calibri" pitchFamily="34" charset="-122"/>
                <a:cs typeface="Calibri" pitchFamily="34" charset="-120"/>
              </a:rPr>
              <a:t>• Formats intelligence report</a:t>
            </a:r>
            <a:endParaRPr lang="en-US" sz="850" dirty="0"/>
          </a:p>
        </p:txBody>
      </p:sp>
      <p:sp>
        <p:nvSpPr>
          <p:cNvPr id="51" name="Text 44"/>
          <p:cNvSpPr/>
          <p:nvPr/>
        </p:nvSpPr>
        <p:spPr>
          <a:xfrm>
            <a:off x="7150608" y="4206240"/>
            <a:ext cx="1874520" cy="402336"/>
          </a:xfrm>
          <a:prstGeom prst="rect">
            <a:avLst/>
          </a:prstGeom>
          <a:noFill/>
          <a:ln/>
        </p:spPr>
        <p:txBody>
          <a:bodyPr wrap="square" lIns="0" tIns="0" rIns="0" bIns="0" rtlCol="0" anchor="ctr"/>
          <a:lstStyle/>
          <a:p>
            <a:r>
              <a:rPr lang="en-US" sz="850" dirty="0">
                <a:solidFill>
                  <a:schemeClr val="tx2"/>
                </a:solidFill>
                <a:latin typeface="Calibri" pitchFamily="34" charset="0"/>
                <a:ea typeface="Calibri" pitchFamily="34" charset="-122"/>
                <a:cs typeface="Calibri" pitchFamily="34" charset="-120"/>
              </a:rPr>
              <a:t>• </a:t>
            </a:r>
            <a:r>
              <a:rPr lang="fr-FR" sz="900" dirty="0">
                <a:solidFill>
                  <a:schemeClr val="tx2"/>
                </a:solidFill>
              </a:rPr>
              <a:t>Logs final report output</a:t>
            </a:r>
            <a:endParaRPr lang="en-US" sz="850" dirty="0">
              <a:solidFill>
                <a:schemeClr val="tx2"/>
              </a:solidFill>
            </a:endParaRPr>
          </a:p>
        </p:txBody>
      </p:sp>
      <p:sp>
        <p:nvSpPr>
          <p:cNvPr id="52" name="Text 45"/>
          <p:cNvSpPr/>
          <p:nvPr/>
        </p:nvSpPr>
        <p:spPr>
          <a:xfrm>
            <a:off x="7909560" y="1463040"/>
            <a:ext cx="365760" cy="292608"/>
          </a:xfrm>
          <a:prstGeom prst="rect">
            <a:avLst/>
          </a:prstGeom>
          <a:noFill/>
          <a:ln/>
        </p:spPr>
        <p:txBody>
          <a:bodyPr wrap="square" lIns="0" tIns="0" rIns="0" bIns="0" rtlCol="0" anchor="ctr"/>
          <a:lstStyle/>
          <a:p>
            <a:pPr marL="0" indent="0" algn="ctr">
              <a:buNone/>
            </a:pPr>
            <a:r>
              <a:rPr lang="en-US" sz="1300" dirty="0">
                <a:solidFill>
                  <a:srgbClr val="22C55E"/>
                </a:solidFill>
              </a:rPr>
              <a:t>↓</a:t>
            </a:r>
            <a:endParaRPr lang="en-US" sz="1300" dirty="0"/>
          </a:p>
        </p:txBody>
      </p:sp>
      <p:sp>
        <p:nvSpPr>
          <p:cNvPr id="55" name="TextBox 54"/>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040"/>
          </a:solidFill>
          <a:ln/>
        </p:spPr>
        <p:txBody>
          <a:bodyPr/>
          <a:lstStyle/>
          <a:p>
            <a:endParaRPr/>
          </a:p>
        </p:txBody>
      </p:sp>
      <p:sp>
        <p:nvSpPr>
          <p:cNvPr id="3" name="Shape 1"/>
          <p:cNvSpPr/>
          <p:nvPr/>
        </p:nvSpPr>
        <p:spPr>
          <a:xfrm>
            <a:off x="0" y="0"/>
            <a:ext cx="9144000" cy="54864"/>
          </a:xfrm>
          <a:prstGeom prst="rect">
            <a:avLst/>
          </a:prstGeom>
          <a:solidFill>
            <a:srgbClr val="1E5EFF"/>
          </a:solidFill>
          <a:ln/>
        </p:spPr>
        <p:txBody>
          <a:bodyPr/>
          <a:lstStyle/>
          <a:p>
            <a:endParaRPr/>
          </a:p>
        </p:txBody>
      </p:sp>
      <p:sp>
        <p:nvSpPr>
          <p:cNvPr id="4" name="Text 2"/>
          <p:cNvSpPr/>
          <p:nvPr/>
        </p:nvSpPr>
        <p:spPr>
          <a:xfrm>
            <a:off x="365760" y="91440"/>
            <a:ext cx="64008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Streamlit Interface</a:t>
            </a:r>
            <a:endParaRPr lang="en-US" sz="2400" dirty="0"/>
          </a:p>
        </p:txBody>
      </p:sp>
      <p:sp>
        <p:nvSpPr>
          <p:cNvPr id="5" name="Text 3"/>
          <p:cNvSpPr/>
          <p:nvPr/>
        </p:nvSpPr>
        <p:spPr>
          <a:xfrm>
            <a:off x="6858000" y="182880"/>
            <a:ext cx="2103120" cy="320040"/>
          </a:xfrm>
          <a:prstGeom prst="rect">
            <a:avLst/>
          </a:prstGeom>
          <a:noFill/>
          <a:ln/>
        </p:spPr>
        <p:txBody>
          <a:bodyPr wrap="square" lIns="0" tIns="0" rIns="0" bIns="0" rtlCol="0" anchor="ctr"/>
          <a:lstStyle/>
          <a:p>
            <a:pPr marL="0" indent="0" algn="r">
              <a:buNone/>
            </a:pPr>
            <a:r>
              <a:rPr lang="en-US" sz="1000" i="1" dirty="0">
                <a:solidFill>
                  <a:srgbClr val="00C8FF"/>
                </a:solidFill>
              </a:rPr>
              <a:t>Interactive Web Application</a:t>
            </a:r>
            <a:endParaRPr lang="en-US" sz="1000" dirty="0"/>
          </a:p>
        </p:txBody>
      </p:sp>
      <p:pic>
        <p:nvPicPr>
          <p:cNvPr id="100" name="StreamlitScreensho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7340" y="982820"/>
            <a:ext cx="6833780" cy="3703640"/>
          </a:xfrm>
          <a:prstGeom prst="roundRect">
            <a:avLst>
              <a:gd name="adj" fmla="val 3000"/>
            </a:avLst>
          </a:prstGeom>
          <a:effectLst>
            <a:outerShdw blurRad="304800" dist="152400" dir="5400000" algn="ctr" rotWithShape="0">
              <a:srgbClr val="000C1A">
                <a:alpha val="60000"/>
              </a:srgbClr>
            </a:outerShdw>
          </a:effectLst>
        </p:spPr>
      </p:pic>
      <p:sp>
        <p:nvSpPr>
          <p:cNvPr id="46" name="Text 44"/>
          <p:cNvSpPr/>
          <p:nvPr/>
        </p:nvSpPr>
        <p:spPr>
          <a:xfrm>
            <a:off x="274320" y="822960"/>
            <a:ext cx="3200400" cy="365760"/>
          </a:xfrm>
          <a:prstGeom prst="rect">
            <a:avLst/>
          </a:prstGeom>
          <a:noFill/>
          <a:ln/>
        </p:spPr>
        <p:txBody>
          <a:bodyPr wrap="square" lIns="0" tIns="0" rIns="0" bIns="0" rtlCol="0" anchor="ctr"/>
          <a:lstStyle/>
          <a:p>
            <a:pPr marL="0" indent="0">
              <a:buNone/>
            </a:pPr>
            <a:r>
              <a:rPr lang="en-US" sz="1400" b="1" dirty="0">
                <a:solidFill>
                  <a:srgbClr val="00C8FF"/>
                </a:solidFill>
                <a:latin typeface="Calibri" pitchFamily="34" charset="0"/>
                <a:ea typeface="Calibri" pitchFamily="34" charset="-122"/>
                <a:cs typeface="Calibri" pitchFamily="34" charset="-120"/>
              </a:rPr>
              <a:t>Key Features</a:t>
            </a:r>
            <a:endParaRPr lang="en-US" sz="1400" dirty="0"/>
          </a:p>
        </p:txBody>
      </p:sp>
      <p:sp>
        <p:nvSpPr>
          <p:cNvPr id="47" name="Text 45"/>
          <p:cNvSpPr/>
          <p:nvPr/>
        </p:nvSpPr>
        <p:spPr>
          <a:xfrm>
            <a:off x="274320" y="1261872"/>
            <a:ext cx="3200400" cy="402336"/>
          </a:xfrm>
          <a:prstGeom prst="rect">
            <a:avLst/>
          </a:prstGeom>
          <a:noFill/>
          <a:ln/>
        </p:spPr>
        <p:txBody>
          <a:bodyPr wrap="square" lIns="0" tIns="0" rIns="0" bIns="0" rtlCol="0" anchor="ctr"/>
          <a:lstStyle/>
          <a:p>
            <a:pPr marL="0" indent="0">
              <a:buNone/>
            </a:pPr>
            <a:r>
              <a:rPr lang="en-US" sz="1050" dirty="0">
                <a:solidFill>
                  <a:schemeClr val="bg2"/>
                </a:solidFill>
                <a:latin typeface="Calibri" pitchFamily="34" charset="0"/>
                <a:ea typeface="Calibri" pitchFamily="34" charset="-122"/>
                <a:cs typeface="Calibri" pitchFamily="34" charset="-120"/>
              </a:rPr>
              <a:t>Product name input</a:t>
            </a:r>
            <a:endParaRPr lang="en-US" sz="1050" dirty="0">
              <a:solidFill>
                <a:schemeClr val="bg2"/>
              </a:solidFill>
            </a:endParaRPr>
          </a:p>
        </p:txBody>
      </p:sp>
      <p:sp>
        <p:nvSpPr>
          <p:cNvPr id="48" name="Text 46"/>
          <p:cNvSpPr/>
          <p:nvPr/>
        </p:nvSpPr>
        <p:spPr>
          <a:xfrm>
            <a:off x="274320" y="1719072"/>
            <a:ext cx="3200400" cy="402336"/>
          </a:xfrm>
          <a:prstGeom prst="rect">
            <a:avLst/>
          </a:prstGeom>
          <a:noFill/>
          <a:ln/>
        </p:spPr>
        <p:txBody>
          <a:bodyPr wrap="square" lIns="0" tIns="0" rIns="0" bIns="0" rtlCol="0" anchor="ctr"/>
          <a:lstStyle/>
          <a:p>
            <a:pPr marL="0" indent="0">
              <a:buNone/>
            </a:pPr>
            <a:r>
              <a:rPr lang="en-US" sz="1050" dirty="0">
                <a:solidFill>
                  <a:schemeClr val="bg2"/>
                </a:solidFill>
                <a:latin typeface="Calibri" pitchFamily="34" charset="0"/>
                <a:ea typeface="Calibri" pitchFamily="34" charset="-122"/>
                <a:cs typeface="Calibri" pitchFamily="34" charset="-120"/>
              </a:rPr>
              <a:t>Review source selector</a:t>
            </a:r>
            <a:endParaRPr lang="en-US" sz="1050" dirty="0">
              <a:solidFill>
                <a:schemeClr val="bg2"/>
              </a:solidFill>
            </a:endParaRPr>
          </a:p>
        </p:txBody>
      </p:sp>
      <p:sp>
        <p:nvSpPr>
          <p:cNvPr id="49" name="Text 47"/>
          <p:cNvSpPr/>
          <p:nvPr/>
        </p:nvSpPr>
        <p:spPr>
          <a:xfrm>
            <a:off x="274320" y="2176272"/>
            <a:ext cx="3200400" cy="402336"/>
          </a:xfrm>
          <a:prstGeom prst="rect">
            <a:avLst/>
          </a:prstGeom>
          <a:noFill/>
          <a:ln/>
        </p:spPr>
        <p:txBody>
          <a:bodyPr wrap="square" lIns="0" tIns="0" rIns="0" bIns="0" rtlCol="0" anchor="ctr"/>
          <a:lstStyle/>
          <a:p>
            <a:r>
              <a:rPr lang="fr-FR" sz="1050" dirty="0">
                <a:solidFill>
                  <a:schemeClr val="bg2"/>
                </a:solidFill>
              </a:rPr>
              <a:t>Sentiment </a:t>
            </a:r>
            <a:r>
              <a:rPr lang="fr-FR" sz="1050" dirty="0" err="1">
                <a:solidFill>
                  <a:schemeClr val="bg2"/>
                </a:solidFill>
              </a:rPr>
              <a:t>analysis</a:t>
            </a:r>
            <a:r>
              <a:rPr lang="fr-FR" sz="1050" dirty="0">
                <a:solidFill>
                  <a:schemeClr val="bg2"/>
                </a:solidFill>
              </a:rPr>
              <a:t> </a:t>
            </a:r>
            <a:r>
              <a:rPr lang="fr-FR" sz="1050" dirty="0" err="1">
                <a:solidFill>
                  <a:schemeClr val="bg2"/>
                </a:solidFill>
              </a:rPr>
              <a:t>metrics</a:t>
            </a:r>
            <a:endParaRPr lang="en-US" sz="1050" dirty="0">
              <a:solidFill>
                <a:schemeClr val="bg2"/>
              </a:solidFill>
            </a:endParaRPr>
          </a:p>
        </p:txBody>
      </p:sp>
      <p:sp>
        <p:nvSpPr>
          <p:cNvPr id="50" name="Text 48"/>
          <p:cNvSpPr/>
          <p:nvPr/>
        </p:nvSpPr>
        <p:spPr>
          <a:xfrm>
            <a:off x="274320" y="2633472"/>
            <a:ext cx="3200400" cy="402336"/>
          </a:xfrm>
          <a:prstGeom prst="rect">
            <a:avLst/>
          </a:prstGeom>
          <a:noFill/>
          <a:ln/>
        </p:spPr>
        <p:txBody>
          <a:bodyPr wrap="square" lIns="0" tIns="0" rIns="0" bIns="0" rtlCol="0" anchor="ctr"/>
          <a:lstStyle/>
          <a:p>
            <a:pPr marL="0" indent="0">
              <a:buNone/>
            </a:pPr>
            <a:r>
              <a:rPr lang="en-US" sz="1050" dirty="0">
                <a:solidFill>
                  <a:schemeClr val="bg2"/>
                </a:solidFill>
                <a:latin typeface="Calibri" pitchFamily="34" charset="0"/>
                <a:ea typeface="Calibri" pitchFamily="34" charset="-122"/>
                <a:cs typeface="Calibri" pitchFamily="34" charset="-120"/>
              </a:rPr>
              <a:t>Sentiment distribution chart</a:t>
            </a:r>
            <a:endParaRPr lang="en-US" sz="1050" dirty="0">
              <a:solidFill>
                <a:schemeClr val="bg2"/>
              </a:solidFill>
            </a:endParaRPr>
          </a:p>
        </p:txBody>
      </p:sp>
      <p:sp>
        <p:nvSpPr>
          <p:cNvPr id="51" name="Text 49"/>
          <p:cNvSpPr/>
          <p:nvPr/>
        </p:nvSpPr>
        <p:spPr>
          <a:xfrm>
            <a:off x="274320" y="3090672"/>
            <a:ext cx="3200400" cy="402336"/>
          </a:xfrm>
          <a:prstGeom prst="rect">
            <a:avLst/>
          </a:prstGeom>
          <a:noFill/>
          <a:ln/>
        </p:spPr>
        <p:txBody>
          <a:bodyPr wrap="square" lIns="0" tIns="0" rIns="0" bIns="0" rtlCol="0" anchor="ctr"/>
          <a:lstStyle/>
          <a:p>
            <a:pPr marL="0" indent="0">
              <a:buNone/>
            </a:pPr>
            <a:r>
              <a:rPr lang="en-US" sz="1050" dirty="0">
                <a:solidFill>
                  <a:schemeClr val="bg2"/>
                </a:solidFill>
                <a:latin typeface="Calibri" pitchFamily="34" charset="0"/>
                <a:ea typeface="Calibri" pitchFamily="34" charset="-122"/>
                <a:cs typeface="Calibri" pitchFamily="34" charset="-120"/>
              </a:rPr>
              <a:t>Reviews table with scores</a:t>
            </a:r>
            <a:endParaRPr lang="en-US" sz="1050" dirty="0">
              <a:solidFill>
                <a:schemeClr val="bg2"/>
              </a:solidFill>
            </a:endParaRPr>
          </a:p>
        </p:txBody>
      </p:sp>
      <p:sp>
        <p:nvSpPr>
          <p:cNvPr id="52" name="Text 50"/>
          <p:cNvSpPr/>
          <p:nvPr/>
        </p:nvSpPr>
        <p:spPr>
          <a:xfrm>
            <a:off x="274320" y="3547872"/>
            <a:ext cx="3200400" cy="402336"/>
          </a:xfrm>
          <a:prstGeom prst="rect">
            <a:avLst/>
          </a:prstGeom>
          <a:noFill/>
          <a:ln/>
        </p:spPr>
        <p:txBody>
          <a:bodyPr wrap="square" lIns="0" tIns="0" rIns="0" bIns="0" rtlCol="0" anchor="ctr"/>
          <a:lstStyle/>
          <a:p>
            <a:pPr marL="0" indent="0">
              <a:buNone/>
            </a:pPr>
            <a:r>
              <a:rPr lang="en-US" sz="1050" dirty="0">
                <a:solidFill>
                  <a:schemeClr val="bg2"/>
                </a:solidFill>
                <a:latin typeface="Calibri" pitchFamily="34" charset="0"/>
                <a:ea typeface="Calibri" pitchFamily="34" charset="-122"/>
                <a:cs typeface="Calibri" pitchFamily="34" charset="-120"/>
              </a:rPr>
              <a:t>Human approval checkbox</a:t>
            </a:r>
            <a:endParaRPr lang="en-US" sz="1050" dirty="0">
              <a:solidFill>
                <a:schemeClr val="bg2"/>
              </a:solidFill>
            </a:endParaRPr>
          </a:p>
        </p:txBody>
      </p:sp>
      <p:sp>
        <p:nvSpPr>
          <p:cNvPr id="53" name="Text 51"/>
          <p:cNvSpPr/>
          <p:nvPr/>
        </p:nvSpPr>
        <p:spPr>
          <a:xfrm>
            <a:off x="274320" y="4005072"/>
            <a:ext cx="3200400" cy="402336"/>
          </a:xfrm>
          <a:prstGeom prst="rect">
            <a:avLst/>
          </a:prstGeom>
          <a:noFill/>
          <a:ln/>
        </p:spPr>
        <p:txBody>
          <a:bodyPr wrap="square" lIns="0" tIns="0" rIns="0" bIns="0" rtlCol="0" anchor="ctr"/>
          <a:lstStyle/>
          <a:p>
            <a:r>
              <a:rPr lang="fr-FR" sz="1050" dirty="0">
                <a:solidFill>
                  <a:schemeClr val="bg2"/>
                </a:solidFill>
              </a:rPr>
              <a:t>Final report </a:t>
            </a:r>
            <a:r>
              <a:rPr lang="fr-FR" sz="1050" dirty="0" err="1">
                <a:solidFill>
                  <a:schemeClr val="bg2"/>
                </a:solidFill>
              </a:rPr>
              <a:t>generation</a:t>
            </a:r>
            <a:endParaRPr lang="en-US" sz="1050" dirty="0">
              <a:solidFill>
                <a:schemeClr val="bg2"/>
              </a:solidFill>
            </a:endParaRPr>
          </a:p>
        </p:txBody>
      </p:sp>
      <p:sp>
        <p:nvSpPr>
          <p:cNvPr id="54" name="Text 52"/>
          <p:cNvSpPr/>
          <p:nvPr/>
        </p:nvSpPr>
        <p:spPr>
          <a:xfrm>
            <a:off x="274320" y="4462272"/>
            <a:ext cx="3200400" cy="402336"/>
          </a:xfrm>
          <a:prstGeom prst="rect">
            <a:avLst/>
          </a:prstGeom>
          <a:noFill/>
          <a:ln/>
        </p:spPr>
        <p:txBody>
          <a:bodyPr wrap="square" lIns="0" tIns="0" rIns="0" bIns="0" rtlCol="0" anchor="ctr"/>
          <a:lstStyle/>
          <a:p>
            <a:pPr marL="0" indent="0">
              <a:buNone/>
            </a:pPr>
            <a:r>
              <a:rPr lang="en-US" sz="1050" dirty="0">
                <a:solidFill>
                  <a:schemeClr val="bg2"/>
                </a:solidFill>
                <a:latin typeface="Calibri" pitchFamily="34" charset="0"/>
                <a:ea typeface="Calibri" pitchFamily="34" charset="-122"/>
                <a:cs typeface="Calibri" pitchFamily="34" charset="-120"/>
              </a:rPr>
              <a:t>JSON logs viewer</a:t>
            </a:r>
            <a:endParaRPr lang="en-US" sz="1050" dirty="0">
              <a:solidFill>
                <a:schemeClr val="bg2"/>
              </a:solidFill>
            </a:endParaRPr>
          </a:p>
        </p:txBody>
      </p:sp>
      <p:sp>
        <p:nvSpPr>
          <p:cNvPr id="101" name="TextBox 100"/>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365760" y="9144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Logging, Error Handling &amp; Human Validation</a:t>
            </a:r>
            <a:endParaRPr lang="en-US" sz="2200" dirty="0"/>
          </a:p>
        </p:txBody>
      </p:sp>
      <p:sp>
        <p:nvSpPr>
          <p:cNvPr id="5" name="Shape 3"/>
          <p:cNvSpPr/>
          <p:nvPr/>
        </p:nvSpPr>
        <p:spPr>
          <a:xfrm>
            <a:off x="274320" y="822960"/>
            <a:ext cx="2743200" cy="4160520"/>
          </a:xfrm>
          <a:prstGeom prst="rect">
            <a:avLst/>
          </a:prstGeom>
          <a:solidFill>
            <a:srgbClr val="FFFFFF"/>
          </a:solidFill>
          <a:ln/>
          <a:effectLst>
            <a:outerShdw blurRad="127000" dist="38100" dir="8100000" algn="bl" rotWithShape="0">
              <a:srgbClr val="000000">
                <a:alpha val="10000"/>
              </a:srgbClr>
            </a:outerShdw>
          </a:effectLst>
        </p:spPr>
        <p:txBody>
          <a:bodyPr/>
          <a:lstStyle/>
          <a:p>
            <a:endParaRPr/>
          </a:p>
        </p:txBody>
      </p:sp>
      <p:sp>
        <p:nvSpPr>
          <p:cNvPr id="6" name="Shape 4"/>
          <p:cNvSpPr/>
          <p:nvPr/>
        </p:nvSpPr>
        <p:spPr>
          <a:xfrm>
            <a:off x="274320" y="822960"/>
            <a:ext cx="2743200" cy="822960"/>
          </a:xfrm>
          <a:prstGeom prst="rect">
            <a:avLst/>
          </a:prstGeom>
          <a:solidFill>
            <a:srgbClr val="A78BFA">
              <a:alpha val="12000"/>
            </a:srgbClr>
          </a:solidFill>
          <a:ln/>
        </p:spPr>
        <p:txBody>
          <a:bodyPr/>
          <a:lstStyle/>
          <a:p>
            <a:endParaRPr/>
          </a:p>
        </p:txBody>
      </p:sp>
      <p:sp>
        <p:nvSpPr>
          <p:cNvPr id="7" name="Shape 5"/>
          <p:cNvSpPr/>
          <p:nvPr/>
        </p:nvSpPr>
        <p:spPr>
          <a:xfrm>
            <a:off x="274320" y="822960"/>
            <a:ext cx="2743200" cy="64008"/>
          </a:xfrm>
          <a:prstGeom prst="rect">
            <a:avLst/>
          </a:prstGeom>
          <a:solidFill>
            <a:srgbClr val="A78BFA"/>
          </a:solidFill>
          <a:ln/>
        </p:spPr>
        <p:txBody>
          <a:bodyPr/>
          <a:lstStyle/>
          <a:p>
            <a:endParaRPr/>
          </a:p>
        </p:txBody>
      </p:sp>
      <p:sp>
        <p:nvSpPr>
          <p:cNvPr id="8" name="Shape 6"/>
          <p:cNvSpPr/>
          <p:nvPr/>
        </p:nvSpPr>
        <p:spPr>
          <a:xfrm>
            <a:off x="1344168" y="960120"/>
            <a:ext cx="594360" cy="594360"/>
          </a:xfrm>
          <a:prstGeom prst="ellipse">
            <a:avLst/>
          </a:prstGeom>
          <a:solidFill>
            <a:srgbClr val="A78BFA"/>
          </a:solidFill>
          <a:ln/>
        </p:spPr>
        <p:txBody>
          <a:bodyPr/>
          <a:lstStyle/>
          <a:p>
            <a:endParaRPr/>
          </a:p>
        </p:txBody>
      </p:sp>
      <p:pic>
        <p:nvPicPr>
          <p:cNvPr id="9" name="Image 0" descr="preencoded.png"/>
          <p:cNvPicPr>
            <a:picLocks noChangeAspect="1"/>
          </p:cNvPicPr>
          <p:nvPr/>
        </p:nvPicPr>
        <p:blipFill>
          <a:blip r:embed="rId3"/>
          <a:stretch>
            <a:fillRect/>
          </a:stretch>
        </p:blipFill>
        <p:spPr>
          <a:xfrm>
            <a:off x="1380744" y="996696"/>
            <a:ext cx="521208" cy="521208"/>
          </a:xfrm>
          <a:prstGeom prst="rect">
            <a:avLst/>
          </a:prstGeom>
        </p:spPr>
      </p:pic>
      <p:sp>
        <p:nvSpPr>
          <p:cNvPr id="10" name="Text 7"/>
          <p:cNvSpPr/>
          <p:nvPr/>
        </p:nvSpPr>
        <p:spPr>
          <a:xfrm>
            <a:off x="365760" y="1691640"/>
            <a:ext cx="2560320" cy="384048"/>
          </a:xfrm>
          <a:prstGeom prst="rect">
            <a:avLst/>
          </a:prstGeom>
          <a:noFill/>
          <a:ln/>
        </p:spPr>
        <p:txBody>
          <a:bodyPr wrap="square" lIns="0" tIns="0" rIns="0" bIns="0" rtlCol="0" anchor="ctr"/>
          <a:lstStyle/>
          <a:p>
            <a:pPr marL="0" indent="0" algn="ctr">
              <a:buNone/>
            </a:pPr>
            <a:r>
              <a:rPr lang="en-US" sz="1300" b="1" dirty="0">
                <a:solidFill>
                  <a:srgbClr val="132040"/>
                </a:solidFill>
                <a:latin typeface="Calibri" pitchFamily="34" charset="0"/>
                <a:ea typeface="Calibri" pitchFamily="34" charset="-122"/>
                <a:cs typeface="Calibri" pitchFamily="34" charset="-120"/>
              </a:rPr>
              <a:t>JSONL Logging</a:t>
            </a:r>
            <a:endParaRPr lang="en-US" sz="1300" dirty="0"/>
          </a:p>
        </p:txBody>
      </p:sp>
      <p:sp>
        <p:nvSpPr>
          <p:cNvPr id="11" name="Shape 8"/>
          <p:cNvSpPr/>
          <p:nvPr/>
        </p:nvSpPr>
        <p:spPr>
          <a:xfrm>
            <a:off x="384048" y="2176272"/>
            <a:ext cx="2514600" cy="566928"/>
          </a:xfrm>
          <a:prstGeom prst="rect">
            <a:avLst/>
          </a:prstGeom>
          <a:solidFill>
            <a:srgbClr val="F8FAFF"/>
          </a:solidFill>
          <a:ln w="6350">
            <a:solidFill>
              <a:srgbClr val="E0E8F0"/>
            </a:solidFill>
            <a:prstDash val="solid"/>
          </a:ln>
        </p:spPr>
        <p:txBody>
          <a:bodyPr/>
          <a:lstStyle/>
          <a:p>
            <a:endParaRPr/>
          </a:p>
        </p:txBody>
      </p:sp>
      <p:sp>
        <p:nvSpPr>
          <p:cNvPr id="12" name="Shape 9"/>
          <p:cNvSpPr/>
          <p:nvPr/>
        </p:nvSpPr>
        <p:spPr>
          <a:xfrm>
            <a:off x="448056" y="2313432"/>
            <a:ext cx="164592" cy="164592"/>
          </a:xfrm>
          <a:prstGeom prst="ellipse">
            <a:avLst/>
          </a:prstGeom>
          <a:solidFill>
            <a:srgbClr val="A78BFA"/>
          </a:solidFill>
          <a:ln/>
        </p:spPr>
        <p:txBody>
          <a:bodyPr/>
          <a:lstStyle/>
          <a:p>
            <a:endParaRPr/>
          </a:p>
        </p:txBody>
      </p:sp>
      <p:sp>
        <p:nvSpPr>
          <p:cNvPr id="13" name="Text 10"/>
          <p:cNvSpPr/>
          <p:nvPr/>
        </p:nvSpPr>
        <p:spPr>
          <a:xfrm>
            <a:off x="676656" y="2194560"/>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Every agent action logged in a JSON file</a:t>
            </a:r>
            <a:endParaRPr lang="en-US" sz="900" dirty="0"/>
          </a:p>
        </p:txBody>
      </p:sp>
      <p:sp>
        <p:nvSpPr>
          <p:cNvPr id="14" name="Shape 11"/>
          <p:cNvSpPr/>
          <p:nvPr/>
        </p:nvSpPr>
        <p:spPr>
          <a:xfrm>
            <a:off x="384048" y="2834640"/>
            <a:ext cx="2514600" cy="566928"/>
          </a:xfrm>
          <a:prstGeom prst="rect">
            <a:avLst/>
          </a:prstGeom>
          <a:solidFill>
            <a:srgbClr val="F8FAFF"/>
          </a:solidFill>
          <a:ln w="6350">
            <a:solidFill>
              <a:srgbClr val="E0E8F0"/>
            </a:solidFill>
            <a:prstDash val="solid"/>
          </a:ln>
        </p:spPr>
        <p:txBody>
          <a:bodyPr/>
          <a:lstStyle/>
          <a:p>
            <a:endParaRPr/>
          </a:p>
        </p:txBody>
      </p:sp>
      <p:sp>
        <p:nvSpPr>
          <p:cNvPr id="15" name="Shape 12"/>
          <p:cNvSpPr/>
          <p:nvPr/>
        </p:nvSpPr>
        <p:spPr>
          <a:xfrm>
            <a:off x="448056" y="2971800"/>
            <a:ext cx="164592" cy="164592"/>
          </a:xfrm>
          <a:prstGeom prst="ellipse">
            <a:avLst/>
          </a:prstGeom>
          <a:solidFill>
            <a:srgbClr val="A78BFA"/>
          </a:solidFill>
          <a:ln/>
        </p:spPr>
        <p:txBody>
          <a:bodyPr/>
          <a:lstStyle/>
          <a:p>
            <a:endParaRPr/>
          </a:p>
        </p:txBody>
      </p:sp>
      <p:sp>
        <p:nvSpPr>
          <p:cNvPr id="16" name="Text 13"/>
          <p:cNvSpPr/>
          <p:nvPr/>
        </p:nvSpPr>
        <p:spPr>
          <a:xfrm>
            <a:off x="676656" y="2852928"/>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Timestamped entries for full traceability</a:t>
            </a:r>
            <a:endParaRPr lang="en-US" sz="900" dirty="0"/>
          </a:p>
        </p:txBody>
      </p:sp>
      <p:sp>
        <p:nvSpPr>
          <p:cNvPr id="17" name="Shape 14"/>
          <p:cNvSpPr/>
          <p:nvPr/>
        </p:nvSpPr>
        <p:spPr>
          <a:xfrm>
            <a:off x="384048" y="3493008"/>
            <a:ext cx="2514600" cy="566928"/>
          </a:xfrm>
          <a:prstGeom prst="rect">
            <a:avLst/>
          </a:prstGeom>
          <a:solidFill>
            <a:srgbClr val="F8FAFF"/>
          </a:solidFill>
          <a:ln w="6350">
            <a:solidFill>
              <a:srgbClr val="E0E8F0"/>
            </a:solidFill>
            <a:prstDash val="solid"/>
          </a:ln>
        </p:spPr>
        <p:txBody>
          <a:bodyPr/>
          <a:lstStyle/>
          <a:p>
            <a:endParaRPr/>
          </a:p>
        </p:txBody>
      </p:sp>
      <p:sp>
        <p:nvSpPr>
          <p:cNvPr id="18" name="Shape 15"/>
          <p:cNvSpPr/>
          <p:nvPr/>
        </p:nvSpPr>
        <p:spPr>
          <a:xfrm>
            <a:off x="448056" y="3630168"/>
            <a:ext cx="164592" cy="164592"/>
          </a:xfrm>
          <a:prstGeom prst="ellipse">
            <a:avLst/>
          </a:prstGeom>
          <a:solidFill>
            <a:srgbClr val="A78BFA"/>
          </a:solidFill>
          <a:ln/>
        </p:spPr>
        <p:txBody>
          <a:bodyPr/>
          <a:lstStyle/>
          <a:p>
            <a:endParaRPr/>
          </a:p>
        </p:txBody>
      </p:sp>
      <p:sp>
        <p:nvSpPr>
          <p:cNvPr id="19" name="Text 16"/>
          <p:cNvSpPr/>
          <p:nvPr/>
        </p:nvSpPr>
        <p:spPr>
          <a:xfrm>
            <a:off x="676656" y="3511296"/>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Structured JSON format per log line</a:t>
            </a:r>
            <a:endParaRPr lang="en-US" sz="900" dirty="0"/>
          </a:p>
        </p:txBody>
      </p:sp>
      <p:sp>
        <p:nvSpPr>
          <p:cNvPr id="20" name="Shape 17"/>
          <p:cNvSpPr/>
          <p:nvPr/>
        </p:nvSpPr>
        <p:spPr>
          <a:xfrm>
            <a:off x="384048" y="4151376"/>
            <a:ext cx="2514600" cy="566928"/>
          </a:xfrm>
          <a:prstGeom prst="rect">
            <a:avLst/>
          </a:prstGeom>
          <a:solidFill>
            <a:srgbClr val="F8FAFF"/>
          </a:solidFill>
          <a:ln w="6350">
            <a:solidFill>
              <a:srgbClr val="E0E8F0"/>
            </a:solidFill>
            <a:prstDash val="solid"/>
          </a:ln>
        </p:spPr>
        <p:txBody>
          <a:bodyPr/>
          <a:lstStyle/>
          <a:p>
            <a:endParaRPr/>
          </a:p>
        </p:txBody>
      </p:sp>
      <p:sp>
        <p:nvSpPr>
          <p:cNvPr id="21" name="Shape 18"/>
          <p:cNvSpPr/>
          <p:nvPr/>
        </p:nvSpPr>
        <p:spPr>
          <a:xfrm>
            <a:off x="448056" y="4288536"/>
            <a:ext cx="164592" cy="164592"/>
          </a:xfrm>
          <a:prstGeom prst="ellipse">
            <a:avLst/>
          </a:prstGeom>
          <a:solidFill>
            <a:srgbClr val="A78BFA"/>
          </a:solidFill>
          <a:ln/>
        </p:spPr>
        <p:txBody>
          <a:bodyPr/>
          <a:lstStyle/>
          <a:p>
            <a:endParaRPr/>
          </a:p>
        </p:txBody>
      </p:sp>
      <p:sp>
        <p:nvSpPr>
          <p:cNvPr id="22" name="Text 19"/>
          <p:cNvSpPr/>
          <p:nvPr/>
        </p:nvSpPr>
        <p:spPr>
          <a:xfrm>
            <a:off x="676656" y="4169664"/>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Viewable inside Streamlit UI</a:t>
            </a:r>
            <a:endParaRPr lang="en-US" sz="900" dirty="0"/>
          </a:p>
        </p:txBody>
      </p:sp>
      <p:sp>
        <p:nvSpPr>
          <p:cNvPr id="23" name="Shape 20"/>
          <p:cNvSpPr/>
          <p:nvPr/>
        </p:nvSpPr>
        <p:spPr>
          <a:xfrm>
            <a:off x="3218688" y="822960"/>
            <a:ext cx="2743200" cy="4160520"/>
          </a:xfrm>
          <a:prstGeom prst="rect">
            <a:avLst/>
          </a:prstGeom>
          <a:solidFill>
            <a:srgbClr val="FFFFFF"/>
          </a:solidFill>
          <a:ln/>
          <a:effectLst>
            <a:outerShdw blurRad="127000" dist="38100" dir="8100000" algn="bl" rotWithShape="0">
              <a:srgbClr val="000000">
                <a:alpha val="10000"/>
              </a:srgbClr>
            </a:outerShdw>
          </a:effectLst>
        </p:spPr>
        <p:txBody>
          <a:bodyPr/>
          <a:lstStyle/>
          <a:p>
            <a:endParaRPr/>
          </a:p>
        </p:txBody>
      </p:sp>
      <p:sp>
        <p:nvSpPr>
          <p:cNvPr id="24" name="Shape 21"/>
          <p:cNvSpPr/>
          <p:nvPr/>
        </p:nvSpPr>
        <p:spPr>
          <a:xfrm>
            <a:off x="3218688" y="822960"/>
            <a:ext cx="2743200" cy="822960"/>
          </a:xfrm>
          <a:prstGeom prst="rect">
            <a:avLst/>
          </a:prstGeom>
          <a:solidFill>
            <a:srgbClr val="F59E0B">
              <a:alpha val="12000"/>
            </a:srgbClr>
          </a:solidFill>
          <a:ln/>
        </p:spPr>
        <p:txBody>
          <a:bodyPr/>
          <a:lstStyle/>
          <a:p>
            <a:endParaRPr/>
          </a:p>
        </p:txBody>
      </p:sp>
      <p:sp>
        <p:nvSpPr>
          <p:cNvPr id="25" name="Shape 22"/>
          <p:cNvSpPr/>
          <p:nvPr/>
        </p:nvSpPr>
        <p:spPr>
          <a:xfrm>
            <a:off x="3218688" y="822960"/>
            <a:ext cx="2743200" cy="64008"/>
          </a:xfrm>
          <a:prstGeom prst="rect">
            <a:avLst/>
          </a:prstGeom>
          <a:solidFill>
            <a:srgbClr val="F59E0B"/>
          </a:solidFill>
          <a:ln/>
        </p:spPr>
        <p:txBody>
          <a:bodyPr/>
          <a:lstStyle/>
          <a:p>
            <a:endParaRPr/>
          </a:p>
        </p:txBody>
      </p:sp>
      <p:sp>
        <p:nvSpPr>
          <p:cNvPr id="26" name="Shape 23"/>
          <p:cNvSpPr/>
          <p:nvPr/>
        </p:nvSpPr>
        <p:spPr>
          <a:xfrm>
            <a:off x="4288536" y="960120"/>
            <a:ext cx="594360" cy="594360"/>
          </a:xfrm>
          <a:prstGeom prst="ellipse">
            <a:avLst/>
          </a:prstGeom>
          <a:solidFill>
            <a:srgbClr val="F59E0B"/>
          </a:solidFill>
          <a:ln/>
        </p:spPr>
        <p:txBody>
          <a:bodyPr/>
          <a:lstStyle/>
          <a:p>
            <a:endParaRPr/>
          </a:p>
        </p:txBody>
      </p:sp>
      <p:pic>
        <p:nvPicPr>
          <p:cNvPr id="27" name="Image 1" descr="preencoded.png"/>
          <p:cNvPicPr>
            <a:picLocks noChangeAspect="1"/>
          </p:cNvPicPr>
          <p:nvPr/>
        </p:nvPicPr>
        <p:blipFill>
          <a:blip r:embed="rId4"/>
          <a:stretch>
            <a:fillRect/>
          </a:stretch>
        </p:blipFill>
        <p:spPr>
          <a:xfrm>
            <a:off x="4325112" y="996696"/>
            <a:ext cx="521208" cy="521208"/>
          </a:xfrm>
          <a:prstGeom prst="rect">
            <a:avLst/>
          </a:prstGeom>
        </p:spPr>
      </p:pic>
      <p:sp>
        <p:nvSpPr>
          <p:cNvPr id="28" name="Text 24"/>
          <p:cNvSpPr/>
          <p:nvPr/>
        </p:nvSpPr>
        <p:spPr>
          <a:xfrm>
            <a:off x="3310128" y="1691640"/>
            <a:ext cx="2560320" cy="384048"/>
          </a:xfrm>
          <a:prstGeom prst="rect">
            <a:avLst/>
          </a:prstGeom>
          <a:noFill/>
          <a:ln/>
        </p:spPr>
        <p:txBody>
          <a:bodyPr wrap="square" lIns="0" tIns="0" rIns="0" bIns="0" rtlCol="0" anchor="ctr"/>
          <a:lstStyle/>
          <a:p>
            <a:pPr marL="0" indent="0" algn="ctr">
              <a:buNone/>
            </a:pPr>
            <a:r>
              <a:rPr lang="en-US" sz="1300" b="1" dirty="0">
                <a:solidFill>
                  <a:srgbClr val="132040"/>
                </a:solidFill>
                <a:latin typeface="Calibri" pitchFamily="34" charset="0"/>
                <a:ea typeface="Calibri" pitchFamily="34" charset="-122"/>
                <a:cs typeface="Calibri" pitchFamily="34" charset="-120"/>
              </a:rPr>
              <a:t>Error Handling</a:t>
            </a:r>
            <a:endParaRPr lang="en-US" sz="1300" dirty="0"/>
          </a:p>
        </p:txBody>
      </p:sp>
      <p:sp>
        <p:nvSpPr>
          <p:cNvPr id="29" name="Shape 25"/>
          <p:cNvSpPr/>
          <p:nvPr/>
        </p:nvSpPr>
        <p:spPr>
          <a:xfrm>
            <a:off x="3328416" y="2176272"/>
            <a:ext cx="2514600" cy="566928"/>
          </a:xfrm>
          <a:prstGeom prst="rect">
            <a:avLst/>
          </a:prstGeom>
          <a:solidFill>
            <a:srgbClr val="F8FAFF"/>
          </a:solidFill>
          <a:ln w="6350">
            <a:solidFill>
              <a:srgbClr val="E0E8F0"/>
            </a:solidFill>
            <a:prstDash val="solid"/>
          </a:ln>
        </p:spPr>
        <p:txBody>
          <a:bodyPr/>
          <a:lstStyle/>
          <a:p>
            <a:endParaRPr/>
          </a:p>
        </p:txBody>
      </p:sp>
      <p:sp>
        <p:nvSpPr>
          <p:cNvPr id="30" name="Shape 26"/>
          <p:cNvSpPr/>
          <p:nvPr/>
        </p:nvSpPr>
        <p:spPr>
          <a:xfrm>
            <a:off x="3392424" y="2313432"/>
            <a:ext cx="164592" cy="164592"/>
          </a:xfrm>
          <a:prstGeom prst="ellipse">
            <a:avLst/>
          </a:prstGeom>
          <a:solidFill>
            <a:srgbClr val="F59E0B"/>
          </a:solidFill>
          <a:ln/>
        </p:spPr>
        <p:txBody>
          <a:bodyPr/>
          <a:lstStyle/>
          <a:p>
            <a:endParaRPr/>
          </a:p>
        </p:txBody>
      </p:sp>
      <p:sp>
        <p:nvSpPr>
          <p:cNvPr id="31" name="Text 27"/>
          <p:cNvSpPr/>
          <p:nvPr/>
        </p:nvSpPr>
        <p:spPr>
          <a:xfrm>
            <a:off x="3621024" y="2194560"/>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Centralized exception capture layer</a:t>
            </a:r>
            <a:endParaRPr lang="en-US" sz="900" dirty="0"/>
          </a:p>
        </p:txBody>
      </p:sp>
      <p:sp>
        <p:nvSpPr>
          <p:cNvPr id="32" name="Shape 28"/>
          <p:cNvSpPr/>
          <p:nvPr/>
        </p:nvSpPr>
        <p:spPr>
          <a:xfrm>
            <a:off x="3328416" y="2834640"/>
            <a:ext cx="2514600" cy="566928"/>
          </a:xfrm>
          <a:prstGeom prst="rect">
            <a:avLst/>
          </a:prstGeom>
          <a:solidFill>
            <a:srgbClr val="F8FAFF"/>
          </a:solidFill>
          <a:ln w="6350">
            <a:solidFill>
              <a:srgbClr val="E0E8F0"/>
            </a:solidFill>
            <a:prstDash val="solid"/>
          </a:ln>
        </p:spPr>
        <p:txBody>
          <a:bodyPr/>
          <a:lstStyle/>
          <a:p>
            <a:endParaRPr/>
          </a:p>
        </p:txBody>
      </p:sp>
      <p:sp>
        <p:nvSpPr>
          <p:cNvPr id="33" name="Shape 29"/>
          <p:cNvSpPr/>
          <p:nvPr/>
        </p:nvSpPr>
        <p:spPr>
          <a:xfrm>
            <a:off x="3392424" y="2971800"/>
            <a:ext cx="164592" cy="164592"/>
          </a:xfrm>
          <a:prstGeom prst="ellipse">
            <a:avLst/>
          </a:prstGeom>
          <a:solidFill>
            <a:srgbClr val="F59E0B"/>
          </a:solidFill>
          <a:ln/>
        </p:spPr>
        <p:txBody>
          <a:bodyPr/>
          <a:lstStyle/>
          <a:p>
            <a:endParaRPr/>
          </a:p>
        </p:txBody>
      </p:sp>
      <p:sp>
        <p:nvSpPr>
          <p:cNvPr id="34" name="Text 30"/>
          <p:cNvSpPr/>
          <p:nvPr/>
        </p:nvSpPr>
        <p:spPr>
          <a:xfrm>
            <a:off x="3621024" y="2852928"/>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API failures handled with safe fallbacks</a:t>
            </a:r>
            <a:endParaRPr lang="en-US" sz="900" dirty="0"/>
          </a:p>
        </p:txBody>
      </p:sp>
      <p:sp>
        <p:nvSpPr>
          <p:cNvPr id="35" name="Shape 31"/>
          <p:cNvSpPr/>
          <p:nvPr/>
        </p:nvSpPr>
        <p:spPr>
          <a:xfrm>
            <a:off x="3328416" y="3493008"/>
            <a:ext cx="2514600" cy="566928"/>
          </a:xfrm>
          <a:prstGeom prst="rect">
            <a:avLst/>
          </a:prstGeom>
          <a:solidFill>
            <a:srgbClr val="F8FAFF"/>
          </a:solidFill>
          <a:ln w="6350">
            <a:solidFill>
              <a:srgbClr val="E0E8F0"/>
            </a:solidFill>
            <a:prstDash val="solid"/>
          </a:ln>
        </p:spPr>
        <p:txBody>
          <a:bodyPr/>
          <a:lstStyle/>
          <a:p>
            <a:endParaRPr/>
          </a:p>
        </p:txBody>
      </p:sp>
      <p:sp>
        <p:nvSpPr>
          <p:cNvPr id="36" name="Shape 32"/>
          <p:cNvSpPr/>
          <p:nvPr/>
        </p:nvSpPr>
        <p:spPr>
          <a:xfrm>
            <a:off x="3392424" y="3630168"/>
            <a:ext cx="164592" cy="164592"/>
          </a:xfrm>
          <a:prstGeom prst="ellipse">
            <a:avLst/>
          </a:prstGeom>
          <a:solidFill>
            <a:srgbClr val="F59E0B"/>
          </a:solidFill>
          <a:ln/>
        </p:spPr>
        <p:txBody>
          <a:bodyPr/>
          <a:lstStyle/>
          <a:p>
            <a:endParaRPr/>
          </a:p>
        </p:txBody>
      </p:sp>
      <p:sp>
        <p:nvSpPr>
          <p:cNvPr id="37" name="Text 33"/>
          <p:cNvSpPr/>
          <p:nvPr/>
        </p:nvSpPr>
        <p:spPr>
          <a:xfrm>
            <a:off x="3621024" y="3511296"/>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Safe fallback when no reviews are found</a:t>
            </a:r>
            <a:endParaRPr lang="en-US" sz="900" dirty="0"/>
          </a:p>
        </p:txBody>
      </p:sp>
      <p:sp>
        <p:nvSpPr>
          <p:cNvPr id="38" name="Shape 34"/>
          <p:cNvSpPr/>
          <p:nvPr/>
        </p:nvSpPr>
        <p:spPr>
          <a:xfrm>
            <a:off x="3328416" y="4151376"/>
            <a:ext cx="2514600" cy="566928"/>
          </a:xfrm>
          <a:prstGeom prst="rect">
            <a:avLst/>
          </a:prstGeom>
          <a:solidFill>
            <a:srgbClr val="F8FAFF"/>
          </a:solidFill>
          <a:ln w="6350">
            <a:solidFill>
              <a:srgbClr val="E0E8F0"/>
            </a:solidFill>
            <a:prstDash val="solid"/>
          </a:ln>
        </p:spPr>
        <p:txBody>
          <a:bodyPr/>
          <a:lstStyle/>
          <a:p>
            <a:endParaRPr/>
          </a:p>
        </p:txBody>
      </p:sp>
      <p:sp>
        <p:nvSpPr>
          <p:cNvPr id="39" name="Shape 35"/>
          <p:cNvSpPr/>
          <p:nvPr/>
        </p:nvSpPr>
        <p:spPr>
          <a:xfrm>
            <a:off x="3392424" y="4288536"/>
            <a:ext cx="164592" cy="164592"/>
          </a:xfrm>
          <a:prstGeom prst="ellipse">
            <a:avLst/>
          </a:prstGeom>
          <a:solidFill>
            <a:srgbClr val="F59E0B"/>
          </a:solidFill>
          <a:ln/>
        </p:spPr>
        <p:txBody>
          <a:bodyPr/>
          <a:lstStyle/>
          <a:p>
            <a:endParaRPr/>
          </a:p>
        </p:txBody>
      </p:sp>
      <p:sp>
        <p:nvSpPr>
          <p:cNvPr id="40" name="Text 36"/>
          <p:cNvSpPr/>
          <p:nvPr/>
        </p:nvSpPr>
        <p:spPr>
          <a:xfrm>
            <a:off x="3621024" y="4169664"/>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Graceful degradation at every step</a:t>
            </a:r>
            <a:endParaRPr lang="en-US" sz="900" dirty="0"/>
          </a:p>
        </p:txBody>
      </p:sp>
      <p:sp>
        <p:nvSpPr>
          <p:cNvPr id="41" name="Shape 37"/>
          <p:cNvSpPr/>
          <p:nvPr/>
        </p:nvSpPr>
        <p:spPr>
          <a:xfrm>
            <a:off x="6163056" y="822960"/>
            <a:ext cx="2743200" cy="4160520"/>
          </a:xfrm>
          <a:prstGeom prst="rect">
            <a:avLst/>
          </a:prstGeom>
          <a:solidFill>
            <a:srgbClr val="FFFFFF"/>
          </a:solidFill>
          <a:ln/>
          <a:effectLst>
            <a:outerShdw blurRad="127000" dist="38100" dir="8100000" algn="bl" rotWithShape="0">
              <a:srgbClr val="000000">
                <a:alpha val="10000"/>
              </a:srgbClr>
            </a:outerShdw>
          </a:effectLst>
        </p:spPr>
        <p:txBody>
          <a:bodyPr/>
          <a:lstStyle/>
          <a:p>
            <a:endParaRPr/>
          </a:p>
        </p:txBody>
      </p:sp>
      <p:sp>
        <p:nvSpPr>
          <p:cNvPr id="42" name="Shape 38"/>
          <p:cNvSpPr/>
          <p:nvPr/>
        </p:nvSpPr>
        <p:spPr>
          <a:xfrm>
            <a:off x="6163056" y="822960"/>
            <a:ext cx="2743200" cy="822960"/>
          </a:xfrm>
          <a:prstGeom prst="rect">
            <a:avLst/>
          </a:prstGeom>
          <a:solidFill>
            <a:srgbClr val="22C55E">
              <a:alpha val="12000"/>
            </a:srgbClr>
          </a:solidFill>
          <a:ln/>
        </p:spPr>
        <p:txBody>
          <a:bodyPr/>
          <a:lstStyle/>
          <a:p>
            <a:endParaRPr/>
          </a:p>
        </p:txBody>
      </p:sp>
      <p:sp>
        <p:nvSpPr>
          <p:cNvPr id="43" name="Shape 39"/>
          <p:cNvSpPr/>
          <p:nvPr/>
        </p:nvSpPr>
        <p:spPr>
          <a:xfrm>
            <a:off x="6163056" y="822960"/>
            <a:ext cx="2743200" cy="64008"/>
          </a:xfrm>
          <a:prstGeom prst="rect">
            <a:avLst/>
          </a:prstGeom>
          <a:solidFill>
            <a:srgbClr val="22C55E"/>
          </a:solidFill>
          <a:ln/>
        </p:spPr>
        <p:txBody>
          <a:bodyPr/>
          <a:lstStyle/>
          <a:p>
            <a:endParaRPr/>
          </a:p>
        </p:txBody>
      </p:sp>
      <p:sp>
        <p:nvSpPr>
          <p:cNvPr id="44" name="Shape 40"/>
          <p:cNvSpPr/>
          <p:nvPr/>
        </p:nvSpPr>
        <p:spPr>
          <a:xfrm>
            <a:off x="7232904" y="960120"/>
            <a:ext cx="594360" cy="594360"/>
          </a:xfrm>
          <a:prstGeom prst="ellipse">
            <a:avLst/>
          </a:prstGeom>
          <a:solidFill>
            <a:srgbClr val="22C55E"/>
          </a:solidFill>
          <a:ln/>
        </p:spPr>
        <p:txBody>
          <a:bodyPr/>
          <a:lstStyle/>
          <a:p>
            <a:endParaRPr/>
          </a:p>
        </p:txBody>
      </p:sp>
      <p:pic>
        <p:nvPicPr>
          <p:cNvPr id="45" name="Image 2" descr="preencoded.png"/>
          <p:cNvPicPr>
            <a:picLocks noChangeAspect="1"/>
          </p:cNvPicPr>
          <p:nvPr/>
        </p:nvPicPr>
        <p:blipFill>
          <a:blip r:embed="rId5"/>
          <a:stretch>
            <a:fillRect/>
          </a:stretch>
        </p:blipFill>
        <p:spPr>
          <a:xfrm>
            <a:off x="7269480" y="996696"/>
            <a:ext cx="521208" cy="521208"/>
          </a:xfrm>
          <a:prstGeom prst="rect">
            <a:avLst/>
          </a:prstGeom>
        </p:spPr>
      </p:pic>
      <p:sp>
        <p:nvSpPr>
          <p:cNvPr id="46" name="Text 41"/>
          <p:cNvSpPr/>
          <p:nvPr/>
        </p:nvSpPr>
        <p:spPr>
          <a:xfrm>
            <a:off x="6254496" y="1691640"/>
            <a:ext cx="2560320" cy="384048"/>
          </a:xfrm>
          <a:prstGeom prst="rect">
            <a:avLst/>
          </a:prstGeom>
          <a:noFill/>
          <a:ln/>
        </p:spPr>
        <p:txBody>
          <a:bodyPr wrap="square" lIns="0" tIns="0" rIns="0" bIns="0" rtlCol="0" anchor="ctr"/>
          <a:lstStyle/>
          <a:p>
            <a:pPr marL="0" indent="0" algn="ctr">
              <a:buNone/>
            </a:pPr>
            <a:r>
              <a:rPr lang="en-US" sz="1300" b="1" dirty="0">
                <a:solidFill>
                  <a:srgbClr val="132040"/>
                </a:solidFill>
                <a:latin typeface="Calibri" pitchFamily="34" charset="0"/>
                <a:ea typeface="Calibri" pitchFamily="34" charset="-122"/>
                <a:cs typeface="Calibri" pitchFamily="34" charset="-120"/>
              </a:rPr>
              <a:t>Human Validation</a:t>
            </a:r>
            <a:endParaRPr lang="en-US" sz="1300" dirty="0"/>
          </a:p>
        </p:txBody>
      </p:sp>
      <p:sp>
        <p:nvSpPr>
          <p:cNvPr id="47" name="Shape 42"/>
          <p:cNvSpPr/>
          <p:nvPr/>
        </p:nvSpPr>
        <p:spPr>
          <a:xfrm>
            <a:off x="6272784" y="2176272"/>
            <a:ext cx="2514600" cy="566928"/>
          </a:xfrm>
          <a:prstGeom prst="rect">
            <a:avLst/>
          </a:prstGeom>
          <a:solidFill>
            <a:srgbClr val="F8FAFF"/>
          </a:solidFill>
          <a:ln w="6350">
            <a:solidFill>
              <a:srgbClr val="E0E8F0"/>
            </a:solidFill>
            <a:prstDash val="solid"/>
          </a:ln>
        </p:spPr>
        <p:txBody>
          <a:bodyPr/>
          <a:lstStyle/>
          <a:p>
            <a:endParaRPr/>
          </a:p>
        </p:txBody>
      </p:sp>
      <p:sp>
        <p:nvSpPr>
          <p:cNvPr id="48" name="Shape 43"/>
          <p:cNvSpPr/>
          <p:nvPr/>
        </p:nvSpPr>
        <p:spPr>
          <a:xfrm>
            <a:off x="6336792" y="2313432"/>
            <a:ext cx="164592" cy="164592"/>
          </a:xfrm>
          <a:prstGeom prst="ellipse">
            <a:avLst/>
          </a:prstGeom>
          <a:solidFill>
            <a:srgbClr val="22C55E"/>
          </a:solidFill>
          <a:ln/>
        </p:spPr>
        <p:txBody>
          <a:bodyPr/>
          <a:lstStyle/>
          <a:p>
            <a:endParaRPr/>
          </a:p>
        </p:txBody>
      </p:sp>
      <p:sp>
        <p:nvSpPr>
          <p:cNvPr id="49" name="Text 44"/>
          <p:cNvSpPr/>
          <p:nvPr/>
        </p:nvSpPr>
        <p:spPr>
          <a:xfrm>
            <a:off x="6565392" y="2194560"/>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Approval checkbox in Streamlit UI</a:t>
            </a:r>
            <a:endParaRPr lang="en-US" sz="900" dirty="0"/>
          </a:p>
        </p:txBody>
      </p:sp>
      <p:sp>
        <p:nvSpPr>
          <p:cNvPr id="50" name="Shape 45"/>
          <p:cNvSpPr/>
          <p:nvPr/>
        </p:nvSpPr>
        <p:spPr>
          <a:xfrm>
            <a:off x="6272784" y="2834640"/>
            <a:ext cx="2514600" cy="566928"/>
          </a:xfrm>
          <a:prstGeom prst="rect">
            <a:avLst/>
          </a:prstGeom>
          <a:solidFill>
            <a:srgbClr val="F8FAFF"/>
          </a:solidFill>
          <a:ln w="6350">
            <a:solidFill>
              <a:srgbClr val="E0E8F0"/>
            </a:solidFill>
            <a:prstDash val="solid"/>
          </a:ln>
        </p:spPr>
        <p:txBody>
          <a:bodyPr/>
          <a:lstStyle/>
          <a:p>
            <a:endParaRPr/>
          </a:p>
        </p:txBody>
      </p:sp>
      <p:sp>
        <p:nvSpPr>
          <p:cNvPr id="51" name="Shape 46"/>
          <p:cNvSpPr/>
          <p:nvPr/>
        </p:nvSpPr>
        <p:spPr>
          <a:xfrm>
            <a:off x="6336792" y="2971800"/>
            <a:ext cx="164592" cy="164592"/>
          </a:xfrm>
          <a:prstGeom prst="ellipse">
            <a:avLst/>
          </a:prstGeom>
          <a:solidFill>
            <a:srgbClr val="22C55E"/>
          </a:solidFill>
          <a:ln/>
        </p:spPr>
        <p:txBody>
          <a:bodyPr/>
          <a:lstStyle/>
          <a:p>
            <a:endParaRPr/>
          </a:p>
        </p:txBody>
      </p:sp>
      <p:sp>
        <p:nvSpPr>
          <p:cNvPr id="52" name="Text 47"/>
          <p:cNvSpPr/>
          <p:nvPr/>
        </p:nvSpPr>
        <p:spPr>
          <a:xfrm>
            <a:off x="6565392" y="2852928"/>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Report generation blocked until approved</a:t>
            </a:r>
            <a:endParaRPr lang="en-US" sz="900" dirty="0"/>
          </a:p>
        </p:txBody>
      </p:sp>
      <p:sp>
        <p:nvSpPr>
          <p:cNvPr id="53" name="Shape 48"/>
          <p:cNvSpPr/>
          <p:nvPr/>
        </p:nvSpPr>
        <p:spPr>
          <a:xfrm>
            <a:off x="6272784" y="3493008"/>
            <a:ext cx="2514600" cy="566928"/>
          </a:xfrm>
          <a:prstGeom prst="rect">
            <a:avLst/>
          </a:prstGeom>
          <a:solidFill>
            <a:srgbClr val="F8FAFF"/>
          </a:solidFill>
          <a:ln w="6350">
            <a:solidFill>
              <a:srgbClr val="E0E8F0"/>
            </a:solidFill>
            <a:prstDash val="solid"/>
          </a:ln>
        </p:spPr>
        <p:txBody>
          <a:bodyPr/>
          <a:lstStyle/>
          <a:p>
            <a:endParaRPr/>
          </a:p>
        </p:txBody>
      </p:sp>
      <p:sp>
        <p:nvSpPr>
          <p:cNvPr id="54" name="Shape 49"/>
          <p:cNvSpPr/>
          <p:nvPr/>
        </p:nvSpPr>
        <p:spPr>
          <a:xfrm>
            <a:off x="6336792" y="3630168"/>
            <a:ext cx="164592" cy="164592"/>
          </a:xfrm>
          <a:prstGeom prst="ellipse">
            <a:avLst/>
          </a:prstGeom>
          <a:solidFill>
            <a:srgbClr val="22C55E"/>
          </a:solidFill>
          <a:ln/>
        </p:spPr>
        <p:txBody>
          <a:bodyPr/>
          <a:lstStyle/>
          <a:p>
            <a:endParaRPr/>
          </a:p>
        </p:txBody>
      </p:sp>
      <p:sp>
        <p:nvSpPr>
          <p:cNvPr id="55" name="Text 50"/>
          <p:cNvSpPr/>
          <p:nvPr/>
        </p:nvSpPr>
        <p:spPr>
          <a:xfrm>
            <a:off x="6565392" y="3511296"/>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User reviews sentiment &amp; insights</a:t>
            </a:r>
            <a:endParaRPr lang="en-US" sz="900" dirty="0"/>
          </a:p>
        </p:txBody>
      </p:sp>
      <p:sp>
        <p:nvSpPr>
          <p:cNvPr id="56" name="Shape 51"/>
          <p:cNvSpPr/>
          <p:nvPr/>
        </p:nvSpPr>
        <p:spPr>
          <a:xfrm>
            <a:off x="6272784" y="4151376"/>
            <a:ext cx="2514600" cy="566928"/>
          </a:xfrm>
          <a:prstGeom prst="rect">
            <a:avLst/>
          </a:prstGeom>
          <a:solidFill>
            <a:srgbClr val="F8FAFF"/>
          </a:solidFill>
          <a:ln w="6350">
            <a:solidFill>
              <a:srgbClr val="E0E8F0"/>
            </a:solidFill>
            <a:prstDash val="solid"/>
          </a:ln>
        </p:spPr>
        <p:txBody>
          <a:bodyPr/>
          <a:lstStyle/>
          <a:p>
            <a:endParaRPr/>
          </a:p>
        </p:txBody>
      </p:sp>
      <p:sp>
        <p:nvSpPr>
          <p:cNvPr id="57" name="Shape 52"/>
          <p:cNvSpPr/>
          <p:nvPr/>
        </p:nvSpPr>
        <p:spPr>
          <a:xfrm>
            <a:off x="6336792" y="4288536"/>
            <a:ext cx="164592" cy="164592"/>
          </a:xfrm>
          <a:prstGeom prst="ellipse">
            <a:avLst/>
          </a:prstGeom>
          <a:solidFill>
            <a:srgbClr val="22C55E"/>
          </a:solidFill>
          <a:ln/>
        </p:spPr>
        <p:txBody>
          <a:bodyPr/>
          <a:lstStyle/>
          <a:p>
            <a:endParaRPr/>
          </a:p>
        </p:txBody>
      </p:sp>
      <p:sp>
        <p:nvSpPr>
          <p:cNvPr id="58" name="Text 53"/>
          <p:cNvSpPr/>
          <p:nvPr/>
        </p:nvSpPr>
        <p:spPr>
          <a:xfrm>
            <a:off x="6565392" y="4169664"/>
            <a:ext cx="2148840" cy="548640"/>
          </a:xfrm>
          <a:prstGeom prst="rect">
            <a:avLst/>
          </a:prstGeom>
          <a:noFill/>
          <a:ln/>
        </p:spPr>
        <p:txBody>
          <a:bodyPr wrap="square" lIns="0" tIns="0" rIns="0" bIns="0" rtlCol="0" anchor="ctr"/>
          <a:lstStyle/>
          <a:p>
            <a:pPr marL="0" indent="0">
              <a:buNone/>
            </a:pPr>
            <a:r>
              <a:rPr lang="en-US" sz="900" dirty="0">
                <a:solidFill>
                  <a:srgbClr val="3A5070"/>
                </a:solidFill>
                <a:latin typeface="Calibri" pitchFamily="34" charset="0"/>
                <a:ea typeface="Calibri" pitchFamily="34" charset="-122"/>
                <a:cs typeface="Calibri" pitchFamily="34" charset="-120"/>
              </a:rPr>
              <a:t>Ensures quality control before delivery</a:t>
            </a:r>
            <a:endParaRPr lang="en-US" sz="900" dirty="0"/>
          </a:p>
        </p:txBody>
      </p:sp>
      <p:sp>
        <p:nvSpPr>
          <p:cNvPr id="201" name="LogsLabel"/>
          <p:cNvSpPr/>
          <p:nvPr/>
        </p:nvSpPr>
        <p:spPr>
          <a:xfrm>
            <a:off x="5100000" y="600000"/>
            <a:ext cx="3900000" cy="160000"/>
          </a:xfrm>
          <a:prstGeom prst="rect">
            <a:avLst/>
          </a:prstGeom>
          <a:noFill/>
          <a:ln/>
        </p:spPr>
        <p:txBody>
          <a:bodyPr wrap="square" lIns="0" tIns="0" rIns="0" bIns="0" rtlCol="0" anchor="ctr"/>
          <a:lstStyle/>
          <a:p>
            <a:pPr marL="0" indent="0" algn="ctr">
              <a:buNone/>
            </a:pPr>
            <a:r>
              <a:rPr lang="en-US" sz="750" i="1" dirty="0">
                <a:solidFill>
                  <a:srgbClr val="22C55E"/>
                </a:solidFill>
              </a:rPr>
              <a:t>Live JSON Log Viewer — Streamlit UI</a:t>
            </a:r>
          </a:p>
        </p:txBody>
      </p:sp>
      <p:sp>
        <p:nvSpPr>
          <p:cNvPr id="202" name="TextBox 201"/>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0"/>
          </a:xfrm>
          <a:prstGeom prst="rect">
            <a:avLst/>
          </a:prstGeom>
          <a:solidFill>
            <a:srgbClr val="09182B"/>
          </a:solidFill>
          <a:ln w="15240">
            <a:solidFill>
              <a:srgbClr val="0918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4754880" cy="347472"/>
          </a:xfrm>
          <a:prstGeom prst="rect">
            <a:avLst/>
          </a:prstGeom>
          <a:noFill/>
        </p:spPr>
        <p:txBody>
          <a:bodyPr wrap="square" anchor="ctr">
            <a:spAutoFit/>
          </a:bodyPr>
          <a:lstStyle/>
          <a:p>
            <a:pPr algn="l">
              <a:defRPr sz="1900" b="1">
                <a:solidFill>
                  <a:srgbClr val="F5F7FA"/>
                </a:solidFill>
              </a:defRPr>
            </a:pPr>
            <a:r>
              <a:t>Live JSON Log Viewer</a:t>
            </a:r>
          </a:p>
        </p:txBody>
      </p:sp>
      <p:sp>
        <p:nvSpPr>
          <p:cNvPr id="4" name="TextBox 3"/>
          <p:cNvSpPr txBox="1"/>
          <p:nvPr/>
        </p:nvSpPr>
        <p:spPr>
          <a:xfrm>
            <a:off x="5669280" y="109728"/>
            <a:ext cx="3108960" cy="256032"/>
          </a:xfrm>
          <a:prstGeom prst="rect">
            <a:avLst/>
          </a:prstGeom>
          <a:noFill/>
        </p:spPr>
        <p:txBody>
          <a:bodyPr wrap="square" anchor="ctr">
            <a:spAutoFit/>
          </a:bodyPr>
          <a:lstStyle/>
          <a:p>
            <a:pPr algn="r">
              <a:defRPr sz="950" b="1">
                <a:solidFill>
                  <a:srgbClr val="00CFFF"/>
                </a:solidFill>
              </a:defRPr>
            </a:pPr>
            <a:r>
              <a:t>Traceability · Agent Actions · Debugging</a:t>
            </a:r>
          </a:p>
        </p:txBody>
      </p:sp>
      <p:sp>
        <p:nvSpPr>
          <p:cNvPr id="5" name="Rounded Rectangle 4"/>
          <p:cNvSpPr/>
          <p:nvPr/>
        </p:nvSpPr>
        <p:spPr>
          <a:xfrm>
            <a:off x="502920" y="713232"/>
            <a:ext cx="8138160" cy="4064508"/>
          </a:xfrm>
          <a:prstGeom prst="roundRect">
            <a:avLst/>
          </a:prstGeom>
          <a:solidFill>
            <a:srgbClr val="04080E"/>
          </a:solidFill>
          <a:ln w="15240">
            <a:solidFill>
              <a:srgbClr val="00C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074962A-A2D1-4B3F-975F-2C44BB4DBEF3.jpeg"/>
          <p:cNvPicPr>
            <a:picLocks noChangeAspect="1"/>
          </p:cNvPicPr>
          <p:nvPr/>
        </p:nvPicPr>
        <p:blipFill>
          <a:blip r:embed="rId2"/>
          <a:stretch>
            <a:fillRect/>
          </a:stretch>
        </p:blipFill>
        <p:spPr>
          <a:xfrm>
            <a:off x="739140" y="895204"/>
            <a:ext cx="7604760" cy="3672224"/>
          </a:xfrm>
          <a:prstGeom prst="rect">
            <a:avLst/>
          </a:prstGeom>
        </p:spPr>
      </p:pic>
      <p:sp>
        <p:nvSpPr>
          <p:cNvPr id="7" name="TextBox 6"/>
          <p:cNvSpPr txBox="1"/>
          <p:nvPr/>
        </p:nvSpPr>
        <p:spPr>
          <a:xfrm>
            <a:off x="621792" y="4777740"/>
            <a:ext cx="7900416" cy="256032"/>
          </a:xfrm>
          <a:prstGeom prst="rect">
            <a:avLst/>
          </a:prstGeom>
          <a:noFill/>
        </p:spPr>
        <p:txBody>
          <a:bodyPr wrap="square" anchor="ctr">
            <a:spAutoFit/>
          </a:bodyPr>
          <a:lstStyle/>
          <a:p>
            <a:pPr algn="ctr">
              <a:defRPr sz="1100" b="0">
                <a:solidFill>
                  <a:srgbClr val="BECDDC"/>
                </a:solidFill>
              </a:defRPr>
            </a:pPr>
            <a:r>
              <a:t>Structured JSONL logs capture timestamp, agent, action, status, input, output and errors.</a:t>
            </a:r>
          </a:p>
        </p:txBody>
      </p:sp>
      <p:sp>
        <p:nvSpPr>
          <p:cNvPr id="8" name="TextBox 7"/>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11</a:t>
            </a:r>
          </a:p>
        </p:txBody>
      </p:sp>
    </p:spTree>
    <p:extLst>
      <p:ext uri="{BB962C8B-B14F-4D97-AF65-F5344CB8AC3E}">
        <p14:creationId xmlns:p14="http://schemas.microsoft.com/office/powerpoint/2010/main" val="1908014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Text 2"/>
          <p:cNvSpPr/>
          <p:nvPr/>
        </p:nvSpPr>
        <p:spPr>
          <a:xfrm>
            <a:off x="365760" y="91440"/>
            <a:ext cx="73152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Limitations &amp; Future Improvements</a:t>
            </a:r>
            <a:endParaRPr lang="en-US" sz="2400" dirty="0"/>
          </a:p>
        </p:txBody>
      </p:sp>
      <p:sp>
        <p:nvSpPr>
          <p:cNvPr id="5" name="Shape 3"/>
          <p:cNvSpPr/>
          <p:nvPr/>
        </p:nvSpPr>
        <p:spPr>
          <a:xfrm>
            <a:off x="274320" y="804672"/>
            <a:ext cx="4023360" cy="475488"/>
          </a:xfrm>
          <a:prstGeom prst="rect">
            <a:avLst/>
          </a:prstGeom>
          <a:solidFill>
            <a:srgbClr val="EF4444">
              <a:alpha val="80000"/>
            </a:srgbClr>
          </a:solidFill>
          <a:ln/>
        </p:spPr>
        <p:txBody>
          <a:bodyPr/>
          <a:lstStyle/>
          <a:p>
            <a:endParaRPr/>
          </a:p>
        </p:txBody>
      </p:sp>
      <p:pic>
        <p:nvPicPr>
          <p:cNvPr id="6" name="Image 0" descr="preencoded.png"/>
          <p:cNvPicPr>
            <a:picLocks noChangeAspect="1"/>
          </p:cNvPicPr>
          <p:nvPr/>
        </p:nvPicPr>
        <p:blipFill>
          <a:blip r:embed="rId3"/>
          <a:stretch>
            <a:fillRect/>
          </a:stretch>
        </p:blipFill>
        <p:spPr>
          <a:xfrm>
            <a:off x="384048" y="868680"/>
            <a:ext cx="329184" cy="329184"/>
          </a:xfrm>
          <a:prstGeom prst="rect">
            <a:avLst/>
          </a:prstGeom>
        </p:spPr>
      </p:pic>
      <p:sp>
        <p:nvSpPr>
          <p:cNvPr id="7" name="Text 4"/>
          <p:cNvSpPr/>
          <p:nvPr/>
        </p:nvSpPr>
        <p:spPr>
          <a:xfrm>
            <a:off x="804672" y="841248"/>
            <a:ext cx="33832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Current Limitations</a:t>
            </a:r>
            <a:endParaRPr lang="en-US" sz="1400" dirty="0"/>
          </a:p>
        </p:txBody>
      </p:sp>
      <p:sp>
        <p:nvSpPr>
          <p:cNvPr id="8" name="Shape 5"/>
          <p:cNvSpPr/>
          <p:nvPr/>
        </p:nvSpPr>
        <p:spPr>
          <a:xfrm>
            <a:off x="274320" y="1371600"/>
            <a:ext cx="4023360" cy="749808"/>
          </a:xfrm>
          <a:prstGeom prst="rect">
            <a:avLst/>
          </a:prstGeom>
          <a:solidFill>
            <a:srgbClr val="102035"/>
          </a:solidFill>
          <a:ln w="6350">
            <a:solidFill>
              <a:srgbClr val="3A1A1A"/>
            </a:solidFill>
            <a:prstDash val="solid"/>
          </a:ln>
        </p:spPr>
        <p:txBody>
          <a:bodyPr/>
          <a:lstStyle/>
          <a:p>
            <a:endParaRPr/>
          </a:p>
        </p:txBody>
      </p:sp>
      <p:sp>
        <p:nvSpPr>
          <p:cNvPr id="9" name="Shape 6"/>
          <p:cNvSpPr/>
          <p:nvPr/>
        </p:nvSpPr>
        <p:spPr>
          <a:xfrm>
            <a:off x="274320" y="1371600"/>
            <a:ext cx="54864" cy="749808"/>
          </a:xfrm>
          <a:prstGeom prst="rect">
            <a:avLst/>
          </a:prstGeom>
          <a:solidFill>
            <a:srgbClr val="EF4444"/>
          </a:solidFill>
          <a:ln/>
        </p:spPr>
        <p:txBody>
          <a:bodyPr/>
          <a:lstStyle/>
          <a:p>
            <a:endParaRPr/>
          </a:p>
        </p:txBody>
      </p:sp>
      <p:sp>
        <p:nvSpPr>
          <p:cNvPr id="10" name="Text 7"/>
          <p:cNvSpPr/>
          <p:nvPr/>
        </p:nvSpPr>
        <p:spPr>
          <a:xfrm>
            <a:off x="411480" y="1399032"/>
            <a:ext cx="3703320" cy="292608"/>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Model file size</a:t>
            </a:r>
            <a:endParaRPr lang="en-US" sz="1100" dirty="0"/>
          </a:p>
        </p:txBody>
      </p:sp>
      <p:sp>
        <p:nvSpPr>
          <p:cNvPr id="11" name="Text 8"/>
          <p:cNvSpPr/>
          <p:nvPr/>
        </p:nvSpPr>
        <p:spPr>
          <a:xfrm>
            <a:off x="411480" y="1673352"/>
            <a:ext cx="3730752"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model.safetensors too large for standard GitHub push — requires Git LFS</a:t>
            </a:r>
            <a:endParaRPr lang="en-US" sz="900" dirty="0"/>
          </a:p>
        </p:txBody>
      </p:sp>
      <p:sp>
        <p:nvSpPr>
          <p:cNvPr id="12" name="Shape 9"/>
          <p:cNvSpPr/>
          <p:nvPr/>
        </p:nvSpPr>
        <p:spPr>
          <a:xfrm>
            <a:off x="274320" y="2240280"/>
            <a:ext cx="4023360" cy="749808"/>
          </a:xfrm>
          <a:prstGeom prst="rect">
            <a:avLst/>
          </a:prstGeom>
          <a:solidFill>
            <a:srgbClr val="102035"/>
          </a:solidFill>
          <a:ln w="6350">
            <a:solidFill>
              <a:srgbClr val="3A1A1A"/>
            </a:solidFill>
            <a:prstDash val="solid"/>
          </a:ln>
        </p:spPr>
        <p:txBody>
          <a:bodyPr/>
          <a:lstStyle/>
          <a:p>
            <a:endParaRPr/>
          </a:p>
        </p:txBody>
      </p:sp>
      <p:sp>
        <p:nvSpPr>
          <p:cNvPr id="13" name="Shape 10"/>
          <p:cNvSpPr/>
          <p:nvPr/>
        </p:nvSpPr>
        <p:spPr>
          <a:xfrm>
            <a:off x="274320" y="2240280"/>
            <a:ext cx="54864" cy="749808"/>
          </a:xfrm>
          <a:prstGeom prst="rect">
            <a:avLst/>
          </a:prstGeom>
          <a:solidFill>
            <a:srgbClr val="EF4444"/>
          </a:solidFill>
          <a:ln/>
        </p:spPr>
        <p:txBody>
          <a:bodyPr/>
          <a:lstStyle/>
          <a:p>
            <a:endParaRPr/>
          </a:p>
        </p:txBody>
      </p:sp>
      <p:sp>
        <p:nvSpPr>
          <p:cNvPr id="14" name="Text 11"/>
          <p:cNvSpPr/>
          <p:nvPr/>
        </p:nvSpPr>
        <p:spPr>
          <a:xfrm>
            <a:off x="411480" y="2267712"/>
            <a:ext cx="3703320" cy="292608"/>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Review retrieval latency</a:t>
            </a:r>
            <a:endParaRPr lang="en-US" sz="1100" dirty="0"/>
          </a:p>
        </p:txBody>
      </p:sp>
      <p:sp>
        <p:nvSpPr>
          <p:cNvPr id="15" name="Text 12"/>
          <p:cNvSpPr/>
          <p:nvPr/>
        </p:nvSpPr>
        <p:spPr>
          <a:xfrm>
            <a:off x="411480" y="2542032"/>
            <a:ext cx="3730752"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Amazon Reviews 2023 dataset retrieval can be slow due to dataset size</a:t>
            </a:r>
            <a:endParaRPr lang="en-US" sz="900" dirty="0"/>
          </a:p>
        </p:txBody>
      </p:sp>
      <p:sp>
        <p:nvSpPr>
          <p:cNvPr id="16" name="Shape 13"/>
          <p:cNvSpPr/>
          <p:nvPr/>
        </p:nvSpPr>
        <p:spPr>
          <a:xfrm>
            <a:off x="274320" y="3108960"/>
            <a:ext cx="4023360" cy="749808"/>
          </a:xfrm>
          <a:prstGeom prst="rect">
            <a:avLst/>
          </a:prstGeom>
          <a:solidFill>
            <a:srgbClr val="102035"/>
          </a:solidFill>
          <a:ln w="6350">
            <a:solidFill>
              <a:srgbClr val="3A1A1A"/>
            </a:solidFill>
            <a:prstDash val="solid"/>
          </a:ln>
        </p:spPr>
        <p:txBody>
          <a:bodyPr/>
          <a:lstStyle/>
          <a:p>
            <a:endParaRPr/>
          </a:p>
        </p:txBody>
      </p:sp>
      <p:sp>
        <p:nvSpPr>
          <p:cNvPr id="17" name="Shape 14"/>
          <p:cNvSpPr/>
          <p:nvPr/>
        </p:nvSpPr>
        <p:spPr>
          <a:xfrm>
            <a:off x="274320" y="3108960"/>
            <a:ext cx="54864" cy="749808"/>
          </a:xfrm>
          <a:prstGeom prst="rect">
            <a:avLst/>
          </a:prstGeom>
          <a:solidFill>
            <a:srgbClr val="EF4444"/>
          </a:solidFill>
          <a:ln/>
        </p:spPr>
        <p:txBody>
          <a:bodyPr/>
          <a:lstStyle/>
          <a:p>
            <a:endParaRPr/>
          </a:p>
        </p:txBody>
      </p:sp>
      <p:sp>
        <p:nvSpPr>
          <p:cNvPr id="18" name="Text 15"/>
          <p:cNvSpPr/>
          <p:nvPr/>
        </p:nvSpPr>
        <p:spPr>
          <a:xfrm>
            <a:off x="411480" y="3136392"/>
            <a:ext cx="3703320" cy="292608"/>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Binary sentiment</a:t>
            </a:r>
            <a:endParaRPr lang="en-US" sz="1100" dirty="0"/>
          </a:p>
        </p:txBody>
      </p:sp>
      <p:sp>
        <p:nvSpPr>
          <p:cNvPr id="19" name="Text 16"/>
          <p:cNvSpPr/>
          <p:nvPr/>
        </p:nvSpPr>
        <p:spPr>
          <a:xfrm>
            <a:off x="411480" y="3410712"/>
            <a:ext cx="3730752"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Only Positive / Negative — no neutral class supported yet</a:t>
            </a:r>
            <a:endParaRPr lang="en-US" sz="900" dirty="0"/>
          </a:p>
        </p:txBody>
      </p:sp>
      <p:sp>
        <p:nvSpPr>
          <p:cNvPr id="20" name="Shape 17"/>
          <p:cNvSpPr/>
          <p:nvPr/>
        </p:nvSpPr>
        <p:spPr>
          <a:xfrm>
            <a:off x="274320" y="3977640"/>
            <a:ext cx="4023360" cy="749808"/>
          </a:xfrm>
          <a:prstGeom prst="rect">
            <a:avLst/>
          </a:prstGeom>
          <a:solidFill>
            <a:srgbClr val="102035"/>
          </a:solidFill>
          <a:ln w="6350">
            <a:solidFill>
              <a:srgbClr val="3A1A1A"/>
            </a:solidFill>
            <a:prstDash val="solid"/>
          </a:ln>
        </p:spPr>
        <p:txBody>
          <a:bodyPr/>
          <a:lstStyle/>
          <a:p>
            <a:endParaRPr/>
          </a:p>
        </p:txBody>
      </p:sp>
      <p:sp>
        <p:nvSpPr>
          <p:cNvPr id="21" name="Shape 18"/>
          <p:cNvSpPr/>
          <p:nvPr/>
        </p:nvSpPr>
        <p:spPr>
          <a:xfrm>
            <a:off x="274320" y="3977640"/>
            <a:ext cx="54864" cy="749808"/>
          </a:xfrm>
          <a:prstGeom prst="rect">
            <a:avLst/>
          </a:prstGeom>
          <a:solidFill>
            <a:srgbClr val="EF4444"/>
          </a:solidFill>
          <a:ln/>
        </p:spPr>
        <p:txBody>
          <a:bodyPr/>
          <a:lstStyle/>
          <a:p>
            <a:endParaRPr/>
          </a:p>
        </p:txBody>
      </p:sp>
      <p:sp>
        <p:nvSpPr>
          <p:cNvPr id="22" name="Text 19"/>
          <p:cNvSpPr/>
          <p:nvPr/>
        </p:nvSpPr>
        <p:spPr>
          <a:xfrm>
            <a:off x="411480" y="4005072"/>
            <a:ext cx="3703320" cy="292608"/>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Product matching</a:t>
            </a:r>
            <a:endParaRPr lang="en-US" sz="1100" dirty="0"/>
          </a:p>
        </p:txBody>
      </p:sp>
      <p:sp>
        <p:nvSpPr>
          <p:cNvPr id="23" name="Text 20"/>
          <p:cNvSpPr/>
          <p:nvPr/>
        </p:nvSpPr>
        <p:spPr>
          <a:xfrm>
            <a:off x="411480" y="4279392"/>
            <a:ext cx="3730752"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Approximate name matching — semantic search not yet implemented</a:t>
            </a:r>
            <a:endParaRPr lang="en-US" sz="900" dirty="0"/>
          </a:p>
        </p:txBody>
      </p:sp>
      <p:sp>
        <p:nvSpPr>
          <p:cNvPr id="24" name="Shape 21"/>
          <p:cNvSpPr/>
          <p:nvPr/>
        </p:nvSpPr>
        <p:spPr>
          <a:xfrm>
            <a:off x="4846320" y="804672"/>
            <a:ext cx="4023360" cy="475488"/>
          </a:xfrm>
          <a:prstGeom prst="rect">
            <a:avLst/>
          </a:prstGeom>
          <a:solidFill>
            <a:srgbClr val="22C55E">
              <a:alpha val="80000"/>
            </a:srgbClr>
          </a:solidFill>
          <a:ln/>
        </p:spPr>
        <p:txBody>
          <a:bodyPr/>
          <a:lstStyle/>
          <a:p>
            <a:endParaRPr/>
          </a:p>
        </p:txBody>
      </p:sp>
      <p:pic>
        <p:nvPicPr>
          <p:cNvPr id="25" name="Image 1" descr="preencoded.png"/>
          <p:cNvPicPr>
            <a:picLocks noChangeAspect="1"/>
          </p:cNvPicPr>
          <p:nvPr/>
        </p:nvPicPr>
        <p:blipFill>
          <a:blip r:embed="rId4"/>
          <a:stretch>
            <a:fillRect/>
          </a:stretch>
        </p:blipFill>
        <p:spPr>
          <a:xfrm>
            <a:off x="4956048" y="868680"/>
            <a:ext cx="329184" cy="329184"/>
          </a:xfrm>
          <a:prstGeom prst="rect">
            <a:avLst/>
          </a:prstGeom>
        </p:spPr>
      </p:pic>
      <p:sp>
        <p:nvSpPr>
          <p:cNvPr id="26" name="Text 22"/>
          <p:cNvSpPr/>
          <p:nvPr/>
        </p:nvSpPr>
        <p:spPr>
          <a:xfrm>
            <a:off x="5376672" y="841248"/>
            <a:ext cx="33832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Future Improvements</a:t>
            </a:r>
            <a:endParaRPr lang="en-US" sz="1400" dirty="0"/>
          </a:p>
        </p:txBody>
      </p:sp>
      <p:sp>
        <p:nvSpPr>
          <p:cNvPr id="27" name="Shape 23"/>
          <p:cNvSpPr/>
          <p:nvPr/>
        </p:nvSpPr>
        <p:spPr>
          <a:xfrm>
            <a:off x="4846320" y="1371600"/>
            <a:ext cx="4023360" cy="749808"/>
          </a:xfrm>
          <a:prstGeom prst="rect">
            <a:avLst/>
          </a:prstGeom>
          <a:solidFill>
            <a:srgbClr val="102035"/>
          </a:solidFill>
          <a:ln w="6350">
            <a:solidFill>
              <a:srgbClr val="1A3A1A"/>
            </a:solidFill>
            <a:prstDash val="solid"/>
          </a:ln>
        </p:spPr>
        <p:txBody>
          <a:bodyPr/>
          <a:lstStyle/>
          <a:p>
            <a:endParaRPr/>
          </a:p>
        </p:txBody>
      </p:sp>
      <p:sp>
        <p:nvSpPr>
          <p:cNvPr id="28" name="Shape 24"/>
          <p:cNvSpPr/>
          <p:nvPr/>
        </p:nvSpPr>
        <p:spPr>
          <a:xfrm>
            <a:off x="4846320" y="1371600"/>
            <a:ext cx="54864" cy="749808"/>
          </a:xfrm>
          <a:prstGeom prst="rect">
            <a:avLst/>
          </a:prstGeom>
          <a:solidFill>
            <a:srgbClr val="22C55E"/>
          </a:solidFill>
          <a:ln/>
        </p:spPr>
        <p:txBody>
          <a:bodyPr/>
          <a:lstStyle/>
          <a:p>
            <a:endParaRPr/>
          </a:p>
        </p:txBody>
      </p:sp>
      <p:sp>
        <p:nvSpPr>
          <p:cNvPr id="29" name="Text 25"/>
          <p:cNvSpPr/>
          <p:nvPr/>
        </p:nvSpPr>
        <p:spPr>
          <a:xfrm>
            <a:off x="4983480" y="1399032"/>
            <a:ext cx="3767328" cy="292608"/>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Git LFS / Cloud Storage</a:t>
            </a:r>
            <a:endParaRPr lang="en-US" sz="1100" dirty="0"/>
          </a:p>
        </p:txBody>
      </p:sp>
      <p:sp>
        <p:nvSpPr>
          <p:cNvPr id="30" name="Text 26"/>
          <p:cNvSpPr/>
          <p:nvPr/>
        </p:nvSpPr>
        <p:spPr>
          <a:xfrm>
            <a:off x="4983480" y="1673352"/>
            <a:ext cx="3794760"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Store model weights on Git LFS or HuggingFace Hub for easy sharing</a:t>
            </a:r>
            <a:endParaRPr lang="en-US" sz="900" dirty="0"/>
          </a:p>
        </p:txBody>
      </p:sp>
      <p:sp>
        <p:nvSpPr>
          <p:cNvPr id="31" name="Shape 27"/>
          <p:cNvSpPr/>
          <p:nvPr/>
        </p:nvSpPr>
        <p:spPr>
          <a:xfrm>
            <a:off x="4846320" y="2240280"/>
            <a:ext cx="4023360" cy="749808"/>
          </a:xfrm>
          <a:prstGeom prst="rect">
            <a:avLst/>
          </a:prstGeom>
          <a:solidFill>
            <a:srgbClr val="102035"/>
          </a:solidFill>
          <a:ln w="6350">
            <a:solidFill>
              <a:srgbClr val="1A3A1A"/>
            </a:solidFill>
            <a:prstDash val="solid"/>
          </a:ln>
        </p:spPr>
        <p:txBody>
          <a:bodyPr/>
          <a:lstStyle/>
          <a:p>
            <a:endParaRPr/>
          </a:p>
        </p:txBody>
      </p:sp>
      <p:sp>
        <p:nvSpPr>
          <p:cNvPr id="32" name="Shape 28"/>
          <p:cNvSpPr/>
          <p:nvPr/>
        </p:nvSpPr>
        <p:spPr>
          <a:xfrm>
            <a:off x="4846320" y="2240280"/>
            <a:ext cx="54864" cy="749808"/>
          </a:xfrm>
          <a:prstGeom prst="rect">
            <a:avLst/>
          </a:prstGeom>
          <a:solidFill>
            <a:srgbClr val="22C55E"/>
          </a:solidFill>
          <a:ln/>
        </p:spPr>
        <p:txBody>
          <a:bodyPr/>
          <a:lstStyle/>
          <a:p>
            <a:endParaRPr/>
          </a:p>
        </p:txBody>
      </p:sp>
      <p:sp>
        <p:nvSpPr>
          <p:cNvPr id="33" name="Text 29"/>
          <p:cNvSpPr/>
          <p:nvPr/>
        </p:nvSpPr>
        <p:spPr>
          <a:xfrm>
            <a:off x="4983480" y="2267712"/>
            <a:ext cx="3767328" cy="292608"/>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Local review index</a:t>
            </a:r>
            <a:endParaRPr lang="en-US" sz="1100" dirty="0"/>
          </a:p>
        </p:txBody>
      </p:sp>
      <p:sp>
        <p:nvSpPr>
          <p:cNvPr id="34" name="Text 30"/>
          <p:cNvSpPr/>
          <p:nvPr/>
        </p:nvSpPr>
        <p:spPr>
          <a:xfrm>
            <a:off x="4983480" y="2542032"/>
            <a:ext cx="3794760"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Pre-index reviews  locally to reduce retrieval latency</a:t>
            </a:r>
            <a:endParaRPr lang="en-US" sz="900" dirty="0"/>
          </a:p>
        </p:txBody>
      </p:sp>
      <p:sp>
        <p:nvSpPr>
          <p:cNvPr id="35" name="Shape 31"/>
          <p:cNvSpPr/>
          <p:nvPr/>
        </p:nvSpPr>
        <p:spPr>
          <a:xfrm>
            <a:off x="4846320" y="3108960"/>
            <a:ext cx="4023360" cy="749808"/>
          </a:xfrm>
          <a:prstGeom prst="rect">
            <a:avLst/>
          </a:prstGeom>
          <a:solidFill>
            <a:srgbClr val="102035"/>
          </a:solidFill>
          <a:ln w="6350">
            <a:solidFill>
              <a:srgbClr val="1A3A1A"/>
            </a:solidFill>
            <a:prstDash val="solid"/>
          </a:ln>
        </p:spPr>
        <p:txBody>
          <a:bodyPr/>
          <a:lstStyle/>
          <a:p>
            <a:endParaRPr/>
          </a:p>
        </p:txBody>
      </p:sp>
      <p:sp>
        <p:nvSpPr>
          <p:cNvPr id="36" name="Shape 32"/>
          <p:cNvSpPr/>
          <p:nvPr/>
        </p:nvSpPr>
        <p:spPr>
          <a:xfrm>
            <a:off x="4846320" y="3108960"/>
            <a:ext cx="54864" cy="749808"/>
          </a:xfrm>
          <a:prstGeom prst="rect">
            <a:avLst/>
          </a:prstGeom>
          <a:solidFill>
            <a:srgbClr val="22C55E"/>
          </a:solidFill>
          <a:ln/>
        </p:spPr>
        <p:txBody>
          <a:bodyPr/>
          <a:lstStyle/>
          <a:p>
            <a:endParaRPr/>
          </a:p>
        </p:txBody>
      </p:sp>
      <p:sp>
        <p:nvSpPr>
          <p:cNvPr id="37" name="Text 33"/>
          <p:cNvSpPr/>
          <p:nvPr/>
        </p:nvSpPr>
        <p:spPr>
          <a:xfrm>
            <a:off x="4983480" y="3136392"/>
            <a:ext cx="3767328" cy="292608"/>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Neutral sentiment class</a:t>
            </a:r>
            <a:endParaRPr lang="en-US" sz="1100" dirty="0"/>
          </a:p>
        </p:txBody>
      </p:sp>
      <p:sp>
        <p:nvSpPr>
          <p:cNvPr id="38" name="Text 34"/>
          <p:cNvSpPr/>
          <p:nvPr/>
        </p:nvSpPr>
        <p:spPr>
          <a:xfrm>
            <a:off x="4983480" y="3410712"/>
            <a:ext cx="3794760"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3-class sentiment (Positive / Neutral / Negative) for richer analysis</a:t>
            </a:r>
            <a:endParaRPr lang="en-US" sz="900" dirty="0"/>
          </a:p>
        </p:txBody>
      </p:sp>
      <p:sp>
        <p:nvSpPr>
          <p:cNvPr id="39" name="Shape 35"/>
          <p:cNvSpPr/>
          <p:nvPr/>
        </p:nvSpPr>
        <p:spPr>
          <a:xfrm>
            <a:off x="4846320" y="3977640"/>
            <a:ext cx="4023360" cy="749808"/>
          </a:xfrm>
          <a:prstGeom prst="rect">
            <a:avLst/>
          </a:prstGeom>
          <a:solidFill>
            <a:srgbClr val="102035"/>
          </a:solidFill>
          <a:ln w="6350">
            <a:solidFill>
              <a:srgbClr val="1A3A1A"/>
            </a:solidFill>
            <a:prstDash val="solid"/>
          </a:ln>
        </p:spPr>
        <p:txBody>
          <a:bodyPr/>
          <a:lstStyle/>
          <a:p>
            <a:endParaRPr/>
          </a:p>
        </p:txBody>
      </p:sp>
      <p:sp>
        <p:nvSpPr>
          <p:cNvPr id="40" name="Shape 36"/>
          <p:cNvSpPr/>
          <p:nvPr/>
        </p:nvSpPr>
        <p:spPr>
          <a:xfrm>
            <a:off x="4846320" y="3977640"/>
            <a:ext cx="54864" cy="749808"/>
          </a:xfrm>
          <a:prstGeom prst="rect">
            <a:avLst/>
          </a:prstGeom>
          <a:solidFill>
            <a:srgbClr val="22C55E"/>
          </a:solidFill>
          <a:ln/>
        </p:spPr>
        <p:txBody>
          <a:bodyPr/>
          <a:lstStyle/>
          <a:p>
            <a:endParaRPr/>
          </a:p>
        </p:txBody>
      </p:sp>
      <p:sp>
        <p:nvSpPr>
          <p:cNvPr id="41" name="Text 37"/>
          <p:cNvSpPr/>
          <p:nvPr/>
        </p:nvSpPr>
        <p:spPr>
          <a:xfrm>
            <a:off x="4983480" y="4005072"/>
            <a:ext cx="3767328" cy="292608"/>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Semantic search</a:t>
            </a:r>
            <a:endParaRPr lang="en-US" sz="1100" dirty="0"/>
          </a:p>
        </p:txBody>
      </p:sp>
      <p:sp>
        <p:nvSpPr>
          <p:cNvPr id="42" name="Text 38"/>
          <p:cNvSpPr/>
          <p:nvPr/>
        </p:nvSpPr>
        <p:spPr>
          <a:xfrm>
            <a:off x="4983480" y="4279392"/>
            <a:ext cx="3794760" cy="347472"/>
          </a:xfrm>
          <a:prstGeom prst="rect">
            <a:avLst/>
          </a:prstGeom>
          <a:noFill/>
          <a:ln/>
        </p:spPr>
        <p:txBody>
          <a:bodyPr wrap="square" lIns="0" tIns="0" rIns="0" bIns="0" rtlCol="0" anchor="ctr"/>
          <a:lstStyle/>
          <a:p>
            <a:pPr marL="0" indent="0">
              <a:buNone/>
            </a:pPr>
            <a:r>
              <a:rPr lang="en-US" sz="900" dirty="0">
                <a:solidFill>
                  <a:srgbClr val="7A9CC0"/>
                </a:solidFill>
                <a:latin typeface="Calibri" pitchFamily="34" charset="0"/>
                <a:ea typeface="Calibri" pitchFamily="34" charset="-122"/>
                <a:cs typeface="Calibri" pitchFamily="34" charset="-120"/>
              </a:rPr>
              <a:t>Use sentence embeddings for precise product &amp; review matching</a:t>
            </a:r>
            <a:endParaRPr lang="en-US" sz="900" dirty="0"/>
          </a:p>
        </p:txBody>
      </p:sp>
      <p:sp>
        <p:nvSpPr>
          <p:cNvPr id="45" name="TextBox 44"/>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0"/>
          </a:xfrm>
          <a:prstGeom prst="rect">
            <a:avLst/>
          </a:prstGeom>
          <a:solidFill>
            <a:srgbClr val="09182B"/>
          </a:solidFill>
          <a:ln w="15240">
            <a:solidFill>
              <a:srgbClr val="0918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5486400" cy="347472"/>
          </a:xfrm>
          <a:prstGeom prst="rect">
            <a:avLst/>
          </a:prstGeom>
          <a:noFill/>
        </p:spPr>
        <p:txBody>
          <a:bodyPr wrap="square" anchor="ctr">
            <a:spAutoFit/>
          </a:bodyPr>
          <a:lstStyle/>
          <a:p>
            <a:pPr algn="l">
              <a:defRPr sz="1900" b="1">
                <a:solidFill>
                  <a:srgbClr val="F5F7FA"/>
                </a:solidFill>
              </a:defRPr>
            </a:pPr>
            <a:r>
              <a:t>Modular Project Architecture</a:t>
            </a:r>
          </a:p>
        </p:txBody>
      </p:sp>
      <p:sp>
        <p:nvSpPr>
          <p:cNvPr id="4" name="TextBox 3"/>
          <p:cNvSpPr txBox="1"/>
          <p:nvPr/>
        </p:nvSpPr>
        <p:spPr>
          <a:xfrm>
            <a:off x="5577840" y="109728"/>
            <a:ext cx="3200400" cy="256032"/>
          </a:xfrm>
          <a:prstGeom prst="rect">
            <a:avLst/>
          </a:prstGeom>
          <a:noFill/>
        </p:spPr>
        <p:txBody>
          <a:bodyPr wrap="square" anchor="ctr">
            <a:spAutoFit/>
          </a:bodyPr>
          <a:lstStyle/>
          <a:p>
            <a:pPr algn="r">
              <a:defRPr sz="950" b="1">
                <a:solidFill>
                  <a:srgbClr val="00CFFF"/>
                </a:solidFill>
              </a:defRPr>
            </a:pPr>
            <a:r>
              <a:t>Clean codebase · ML + App separation</a:t>
            </a:r>
          </a:p>
        </p:txBody>
      </p:sp>
      <p:sp>
        <p:nvSpPr>
          <p:cNvPr id="5" name="Rounded Rectangle 4"/>
          <p:cNvSpPr/>
          <p:nvPr/>
        </p:nvSpPr>
        <p:spPr>
          <a:xfrm>
            <a:off x="2190750" y="516636"/>
            <a:ext cx="4762500" cy="4311396"/>
          </a:xfrm>
          <a:prstGeom prst="roundRect">
            <a:avLst/>
          </a:prstGeom>
          <a:solidFill>
            <a:srgbClr val="081320"/>
          </a:solidFill>
          <a:ln w="15240">
            <a:solidFill>
              <a:srgbClr val="00C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2BFCA5EC-D6CA-4569-8B1B-4FE0C07AB202.jpeg"/>
          <p:cNvPicPr>
            <a:picLocks noChangeAspect="1"/>
          </p:cNvPicPr>
          <p:nvPr/>
        </p:nvPicPr>
        <p:blipFill>
          <a:blip r:embed="rId2"/>
          <a:stretch>
            <a:fillRect/>
          </a:stretch>
        </p:blipFill>
        <p:spPr>
          <a:xfrm>
            <a:off x="2406869" y="762000"/>
            <a:ext cx="4330262" cy="3864864"/>
          </a:xfrm>
          <a:prstGeom prst="rect">
            <a:avLst/>
          </a:prstGeom>
        </p:spPr>
      </p:pic>
      <p:sp>
        <p:nvSpPr>
          <p:cNvPr id="7" name="TextBox 6"/>
          <p:cNvSpPr txBox="1"/>
          <p:nvPr/>
        </p:nvSpPr>
        <p:spPr>
          <a:xfrm>
            <a:off x="685800" y="4841748"/>
            <a:ext cx="7772400" cy="228600"/>
          </a:xfrm>
          <a:prstGeom prst="rect">
            <a:avLst/>
          </a:prstGeom>
          <a:noFill/>
        </p:spPr>
        <p:txBody>
          <a:bodyPr wrap="square" anchor="ctr">
            <a:spAutoFit/>
          </a:bodyPr>
          <a:lstStyle/>
          <a:p>
            <a:pPr algn="ctr">
              <a:defRPr sz="1050" b="0">
                <a:solidFill>
                  <a:srgbClr val="BECDDC"/>
                </a:solidFill>
              </a:defRPr>
            </a:pPr>
            <a:r>
              <a:rPr dirty="0"/>
              <a:t>The project is organized into app, model, agents, tools, orchestration, utilities, logs, results and scripts.</a:t>
            </a:r>
          </a:p>
        </p:txBody>
      </p:sp>
      <p:sp>
        <p:nvSpPr>
          <p:cNvPr id="8" name="TextBox 7"/>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13</a:t>
            </a:r>
          </a:p>
        </p:txBody>
      </p:sp>
    </p:spTree>
    <p:extLst>
      <p:ext uri="{BB962C8B-B14F-4D97-AF65-F5344CB8AC3E}">
        <p14:creationId xmlns:p14="http://schemas.microsoft.com/office/powerpoint/2010/main" val="2409678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a:effectLst/>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1E5EFF">
              <a:alpha val="10000"/>
            </a:srgbClr>
          </a:solidFill>
          <a:ln w="12700">
            <a:solidFill>
              <a:srgbClr val="1E5EFF">
                <a:alpha val="20000"/>
              </a:srgbClr>
            </a:solidFill>
            <a:prstDash val="solid"/>
          </a:ln>
        </p:spPr>
        <p:txBody>
          <a:bodyPr/>
          <a:lstStyle/>
          <a:p>
            <a:endParaRPr/>
          </a:p>
        </p:txBody>
      </p:sp>
      <p:sp>
        <p:nvSpPr>
          <p:cNvPr id="3" name="Shape 1"/>
          <p:cNvSpPr/>
          <p:nvPr/>
        </p:nvSpPr>
        <p:spPr>
          <a:xfrm>
            <a:off x="-2286000" y="1828800"/>
            <a:ext cx="4572000" cy="4572000"/>
          </a:xfrm>
          <a:prstGeom prst="ellipse">
            <a:avLst/>
          </a:prstGeom>
          <a:solidFill>
            <a:srgbClr val="A78BFA">
              <a:alpha val="10000"/>
            </a:srgbClr>
          </a:solidFill>
          <a:ln w="12700">
            <a:solidFill>
              <a:srgbClr val="A78BFA">
                <a:alpha val="20000"/>
              </a:srgbClr>
            </a:solidFill>
            <a:prstDash val="solid"/>
          </a:ln>
        </p:spPr>
        <p:txBody>
          <a:bodyPr/>
          <a:lstStyle/>
          <a:p>
            <a:endParaRPr/>
          </a:p>
        </p:txBody>
      </p:sp>
      <p:sp>
        <p:nvSpPr>
          <p:cNvPr id="4" name="Shape 2"/>
          <p:cNvSpPr/>
          <p:nvPr/>
        </p:nvSpPr>
        <p:spPr>
          <a:xfrm>
            <a:off x="0" y="0"/>
            <a:ext cx="54864" cy="5143500"/>
          </a:xfrm>
          <a:prstGeom prst="rect">
            <a:avLst/>
          </a:prstGeom>
          <a:solidFill>
            <a:srgbClr val="1E5EFF"/>
          </a:solidFill>
          <a:ln/>
        </p:spPr>
        <p:txBody>
          <a:bodyPr/>
          <a:lstStyle/>
          <a:p>
            <a:endParaRPr/>
          </a:p>
        </p:txBody>
      </p:sp>
      <p:sp>
        <p:nvSpPr>
          <p:cNvPr id="5" name="Text 3"/>
          <p:cNvSpPr/>
          <p:nvPr/>
        </p:nvSpPr>
        <p:spPr>
          <a:xfrm>
            <a:off x="411480" y="228600"/>
            <a:ext cx="3657600" cy="502920"/>
          </a:xfrm>
          <a:prstGeom prst="rect">
            <a:avLst/>
          </a:prstGeom>
          <a:noFill/>
          <a:ln/>
        </p:spPr>
        <p:txBody>
          <a:bodyPr wrap="square" lIns="0" tIns="0" rIns="0" bIns="0" rtlCol="0" anchor="ctr"/>
          <a:lstStyle/>
          <a:p>
            <a:pPr marL="0" indent="0">
              <a:buNone/>
            </a:pPr>
            <a:r>
              <a:rPr lang="en-US" sz="2800" b="1" dirty="0">
                <a:solidFill>
                  <a:srgbClr val="00C8FF"/>
                </a:solidFill>
                <a:latin typeface="Calibri" pitchFamily="34" charset="0"/>
                <a:ea typeface="Calibri" pitchFamily="34" charset="-122"/>
                <a:cs typeface="Calibri" pitchFamily="34" charset="-120"/>
              </a:rPr>
              <a:t>Conclusion</a:t>
            </a:r>
            <a:endParaRPr lang="en-US" sz="2800" dirty="0"/>
          </a:p>
        </p:txBody>
      </p:sp>
      <p:sp>
        <p:nvSpPr>
          <p:cNvPr id="6" name="Shape 4"/>
          <p:cNvSpPr/>
          <p:nvPr/>
        </p:nvSpPr>
        <p:spPr>
          <a:xfrm>
            <a:off x="365760" y="868680"/>
            <a:ext cx="2697480" cy="1005840"/>
          </a:xfrm>
          <a:prstGeom prst="rect">
            <a:avLst/>
          </a:prstGeom>
          <a:solidFill>
            <a:srgbClr val="102035"/>
          </a:solidFill>
          <a:ln/>
          <a:effectLst>
            <a:outerShdw blurRad="101600" dist="25400" dir="8100000" algn="bl" rotWithShape="0">
              <a:srgbClr val="000000">
                <a:alpha val="25000"/>
              </a:srgbClr>
            </a:outerShdw>
          </a:effectLst>
        </p:spPr>
        <p:txBody>
          <a:bodyPr/>
          <a:lstStyle/>
          <a:p>
            <a:endParaRPr/>
          </a:p>
        </p:txBody>
      </p:sp>
      <p:sp>
        <p:nvSpPr>
          <p:cNvPr id="7" name="Shape 5"/>
          <p:cNvSpPr/>
          <p:nvPr/>
        </p:nvSpPr>
        <p:spPr>
          <a:xfrm>
            <a:off x="365760" y="868680"/>
            <a:ext cx="2697480" cy="54864"/>
          </a:xfrm>
          <a:prstGeom prst="rect">
            <a:avLst/>
          </a:prstGeom>
          <a:solidFill>
            <a:srgbClr val="A78BFA"/>
          </a:solidFill>
          <a:ln/>
        </p:spPr>
        <p:txBody>
          <a:bodyPr/>
          <a:lstStyle/>
          <a:p>
            <a:endParaRPr/>
          </a:p>
        </p:txBody>
      </p:sp>
      <p:pic>
        <p:nvPicPr>
          <p:cNvPr id="9" name="Image 0" descr="preencoded.png"/>
          <p:cNvPicPr>
            <a:picLocks noChangeAspect="1"/>
          </p:cNvPicPr>
          <p:nvPr/>
        </p:nvPicPr>
        <p:blipFill>
          <a:blip r:embed="rId3"/>
          <a:stretch>
            <a:fillRect/>
          </a:stretch>
        </p:blipFill>
        <p:spPr>
          <a:xfrm>
            <a:off x="493776" y="1107107"/>
            <a:ext cx="521208" cy="521208"/>
          </a:xfrm>
          <a:prstGeom prst="rect">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p:spPr>
      </p:pic>
      <p:sp>
        <p:nvSpPr>
          <p:cNvPr id="10" name="Text 7"/>
          <p:cNvSpPr/>
          <p:nvPr/>
        </p:nvSpPr>
        <p:spPr>
          <a:xfrm>
            <a:off x="1170432" y="960120"/>
            <a:ext cx="1819656" cy="329184"/>
          </a:xfrm>
          <a:prstGeom prst="rect">
            <a:avLst/>
          </a:prstGeom>
          <a:noFill/>
          <a:ln/>
        </p:spPr>
        <p:txBody>
          <a:bodyPr wrap="square" lIns="0" tIns="0" rIns="0" bIns="0" rtlCol="0" anchor="ctr"/>
          <a:lstStyle/>
          <a:p>
            <a:pPr marL="0" indent="0">
              <a:buNone/>
            </a:pPr>
            <a:r>
              <a:rPr lang="en-US" sz="1200" b="1" dirty="0">
                <a:solidFill>
                  <a:srgbClr val="A78BFA"/>
                </a:solidFill>
                <a:latin typeface="Calibri" pitchFamily="34" charset="0"/>
                <a:ea typeface="Calibri" pitchFamily="34" charset="-122"/>
                <a:cs typeface="Calibri" pitchFamily="34" charset="-120"/>
              </a:rPr>
              <a:t>Deep Learning</a:t>
            </a:r>
            <a:endParaRPr lang="en-US" sz="1200" dirty="0"/>
          </a:p>
        </p:txBody>
      </p:sp>
      <p:sp>
        <p:nvSpPr>
          <p:cNvPr id="11" name="Text 8"/>
          <p:cNvSpPr/>
          <p:nvPr/>
        </p:nvSpPr>
        <p:spPr>
          <a:xfrm>
            <a:off x="1170432" y="1280160"/>
            <a:ext cx="1819656" cy="5029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DistilBERT fine-tuned — 92.98% accuracy</a:t>
            </a:r>
            <a:endParaRPr lang="en-US" sz="950" dirty="0"/>
          </a:p>
        </p:txBody>
      </p:sp>
      <p:sp>
        <p:nvSpPr>
          <p:cNvPr id="12" name="Shape 9"/>
          <p:cNvSpPr/>
          <p:nvPr/>
        </p:nvSpPr>
        <p:spPr>
          <a:xfrm>
            <a:off x="3273552" y="868680"/>
            <a:ext cx="2697480" cy="1005840"/>
          </a:xfrm>
          <a:prstGeom prst="rect">
            <a:avLst/>
          </a:prstGeom>
          <a:solidFill>
            <a:srgbClr val="102035"/>
          </a:solidFill>
          <a:ln/>
          <a:effectLst>
            <a:outerShdw blurRad="101600" dist="25400" dir="8100000" algn="bl" rotWithShape="0">
              <a:srgbClr val="000000">
                <a:alpha val="25000"/>
              </a:srgbClr>
            </a:outerShdw>
          </a:effectLst>
        </p:spPr>
        <p:txBody>
          <a:bodyPr/>
          <a:lstStyle/>
          <a:p>
            <a:endParaRPr/>
          </a:p>
        </p:txBody>
      </p:sp>
      <p:sp>
        <p:nvSpPr>
          <p:cNvPr id="13" name="Shape 10"/>
          <p:cNvSpPr/>
          <p:nvPr/>
        </p:nvSpPr>
        <p:spPr>
          <a:xfrm>
            <a:off x="3273552" y="868680"/>
            <a:ext cx="2697480" cy="54864"/>
          </a:xfrm>
          <a:prstGeom prst="rect">
            <a:avLst/>
          </a:prstGeom>
          <a:solidFill>
            <a:srgbClr val="1E5EFF"/>
          </a:solidFill>
          <a:ln/>
        </p:spPr>
        <p:txBody>
          <a:bodyPr/>
          <a:lstStyle/>
          <a:p>
            <a:endParaRPr/>
          </a:p>
        </p:txBody>
      </p:sp>
      <p:pic>
        <p:nvPicPr>
          <p:cNvPr id="15" name="Image 1" descr="preencoded.png"/>
          <p:cNvPicPr>
            <a:picLocks noChangeAspect="1"/>
          </p:cNvPicPr>
          <p:nvPr/>
        </p:nvPicPr>
        <p:blipFill>
          <a:blip r:embed="rId4"/>
          <a:stretch>
            <a:fillRect/>
          </a:stretch>
        </p:blipFill>
        <p:spPr>
          <a:xfrm>
            <a:off x="3374189" y="1097280"/>
            <a:ext cx="521208" cy="521208"/>
          </a:xfrm>
          <a:prstGeom prst="rect">
            <a:avLst/>
          </a:prstGeom>
        </p:spPr>
      </p:pic>
      <p:sp>
        <p:nvSpPr>
          <p:cNvPr id="16" name="Text 12"/>
          <p:cNvSpPr/>
          <p:nvPr/>
        </p:nvSpPr>
        <p:spPr>
          <a:xfrm>
            <a:off x="4078224" y="960120"/>
            <a:ext cx="1819656" cy="329184"/>
          </a:xfrm>
          <a:prstGeom prst="rect">
            <a:avLst/>
          </a:prstGeom>
          <a:noFill/>
          <a:ln/>
        </p:spPr>
        <p:txBody>
          <a:bodyPr wrap="square" lIns="0" tIns="0" rIns="0" bIns="0" rtlCol="0" anchor="ctr"/>
          <a:lstStyle/>
          <a:p>
            <a:pPr marL="0" indent="0">
              <a:buNone/>
            </a:pPr>
            <a:r>
              <a:rPr lang="en-US" sz="1200" b="1" dirty="0">
                <a:solidFill>
                  <a:srgbClr val="1E5EFF"/>
                </a:solidFill>
                <a:latin typeface="Calibri" pitchFamily="34" charset="0"/>
                <a:ea typeface="Calibri" pitchFamily="34" charset="-122"/>
                <a:cs typeface="Calibri" pitchFamily="34" charset="-120"/>
              </a:rPr>
              <a:t>Multi-Agent AI</a:t>
            </a:r>
            <a:endParaRPr lang="en-US" sz="1200" dirty="0"/>
          </a:p>
        </p:txBody>
      </p:sp>
      <p:sp>
        <p:nvSpPr>
          <p:cNvPr id="17" name="Text 13"/>
          <p:cNvSpPr/>
          <p:nvPr/>
        </p:nvSpPr>
        <p:spPr>
          <a:xfrm>
            <a:off x="4078224" y="1280160"/>
            <a:ext cx="1819656" cy="5029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4 specialist agents + orchestrator</a:t>
            </a:r>
            <a:endParaRPr lang="en-US" sz="950" dirty="0"/>
          </a:p>
        </p:txBody>
      </p:sp>
      <p:sp>
        <p:nvSpPr>
          <p:cNvPr id="18" name="Shape 14"/>
          <p:cNvSpPr/>
          <p:nvPr/>
        </p:nvSpPr>
        <p:spPr>
          <a:xfrm>
            <a:off x="6181344" y="868680"/>
            <a:ext cx="2697480" cy="1005840"/>
          </a:xfrm>
          <a:prstGeom prst="rect">
            <a:avLst/>
          </a:prstGeom>
          <a:solidFill>
            <a:srgbClr val="102035"/>
          </a:solidFill>
          <a:ln/>
          <a:effectLst>
            <a:outerShdw blurRad="101600" dist="25400" dir="8100000" algn="bl" rotWithShape="0">
              <a:srgbClr val="000000">
                <a:alpha val="25000"/>
              </a:srgbClr>
            </a:outerShdw>
          </a:effectLst>
        </p:spPr>
        <p:txBody>
          <a:bodyPr/>
          <a:lstStyle/>
          <a:p>
            <a:endParaRPr/>
          </a:p>
        </p:txBody>
      </p:sp>
      <p:sp>
        <p:nvSpPr>
          <p:cNvPr id="19" name="Shape 15"/>
          <p:cNvSpPr/>
          <p:nvPr/>
        </p:nvSpPr>
        <p:spPr>
          <a:xfrm>
            <a:off x="6181344" y="868680"/>
            <a:ext cx="2697480" cy="54864"/>
          </a:xfrm>
          <a:prstGeom prst="rect">
            <a:avLst/>
          </a:prstGeom>
          <a:solidFill>
            <a:srgbClr val="00C8FF"/>
          </a:solidFill>
          <a:ln/>
        </p:spPr>
        <p:txBody>
          <a:bodyPr/>
          <a:lstStyle/>
          <a:p>
            <a:endParaRPr/>
          </a:p>
        </p:txBody>
      </p:sp>
      <p:pic>
        <p:nvPicPr>
          <p:cNvPr id="21" name="Image 2" descr="preencoded.png"/>
          <p:cNvPicPr>
            <a:picLocks noChangeAspect="1"/>
          </p:cNvPicPr>
          <p:nvPr/>
        </p:nvPicPr>
        <p:blipFill>
          <a:blip r:embed="rId5"/>
          <a:stretch>
            <a:fillRect/>
          </a:stretch>
        </p:blipFill>
        <p:spPr>
          <a:xfrm>
            <a:off x="6323076" y="1106424"/>
            <a:ext cx="521208" cy="521208"/>
          </a:xfrm>
          <a:prstGeom prst="rect">
            <a:avLst/>
          </a:prstGeom>
          <a:gradFill>
            <a:gsLst>
              <a:gs pos="0">
                <a:srgbClr val="00B050"/>
              </a:gs>
              <a:gs pos="95000">
                <a:schemeClr val="tx1">
                  <a:lumMod val="65000"/>
                  <a:lumOff val="35000"/>
                </a:schemeClr>
              </a:gs>
              <a:gs pos="72000">
                <a:schemeClr val="tx2">
                  <a:lumMod val="60000"/>
                  <a:lumOff val="40000"/>
                </a:schemeClr>
              </a:gs>
              <a:gs pos="100000">
                <a:schemeClr val="accent1">
                  <a:lumMod val="30000"/>
                  <a:lumOff val="70000"/>
                </a:schemeClr>
              </a:gs>
            </a:gsLst>
            <a:path path="rect">
              <a:fillToRect l="100000" t="100000"/>
            </a:path>
          </a:gradFill>
        </p:spPr>
      </p:pic>
      <p:sp>
        <p:nvSpPr>
          <p:cNvPr id="22" name="Text 17"/>
          <p:cNvSpPr/>
          <p:nvPr/>
        </p:nvSpPr>
        <p:spPr>
          <a:xfrm>
            <a:off x="6986016" y="960120"/>
            <a:ext cx="1819656" cy="329184"/>
          </a:xfrm>
          <a:prstGeom prst="rect">
            <a:avLst/>
          </a:prstGeom>
          <a:noFill/>
          <a:ln/>
        </p:spPr>
        <p:txBody>
          <a:bodyPr wrap="square" lIns="0" tIns="0" rIns="0" bIns="0" rtlCol="0" anchor="ctr"/>
          <a:lstStyle/>
          <a:p>
            <a:pPr marL="0" indent="0">
              <a:buNone/>
            </a:pPr>
            <a:r>
              <a:rPr lang="en-US" sz="1200" b="1" dirty="0">
                <a:solidFill>
                  <a:srgbClr val="00C8FF"/>
                </a:solidFill>
                <a:latin typeface="Calibri" pitchFamily="34" charset="0"/>
                <a:ea typeface="Calibri" pitchFamily="34" charset="-122"/>
                <a:cs typeface="Calibri" pitchFamily="34" charset="-120"/>
              </a:rPr>
              <a:t>Streamlit UI</a:t>
            </a:r>
            <a:endParaRPr lang="en-US" sz="1200" dirty="0"/>
          </a:p>
        </p:txBody>
      </p:sp>
      <p:sp>
        <p:nvSpPr>
          <p:cNvPr id="23" name="Text 18"/>
          <p:cNvSpPr/>
          <p:nvPr/>
        </p:nvSpPr>
        <p:spPr>
          <a:xfrm>
            <a:off x="6986016" y="1280160"/>
            <a:ext cx="1819656" cy="5029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Full interactive web application</a:t>
            </a:r>
            <a:endParaRPr lang="en-US" sz="950" dirty="0"/>
          </a:p>
        </p:txBody>
      </p:sp>
      <p:sp>
        <p:nvSpPr>
          <p:cNvPr id="24" name="Shape 19"/>
          <p:cNvSpPr/>
          <p:nvPr/>
        </p:nvSpPr>
        <p:spPr>
          <a:xfrm>
            <a:off x="365760" y="2075688"/>
            <a:ext cx="4069080" cy="1005840"/>
          </a:xfrm>
          <a:prstGeom prst="rect">
            <a:avLst/>
          </a:prstGeom>
          <a:solidFill>
            <a:srgbClr val="102035"/>
          </a:solidFill>
          <a:ln/>
          <a:effectLst>
            <a:outerShdw blurRad="101600" dist="25400" dir="8100000" algn="bl" rotWithShape="0">
              <a:srgbClr val="000000">
                <a:alpha val="25000"/>
              </a:srgbClr>
            </a:outerShdw>
          </a:effectLst>
        </p:spPr>
        <p:txBody>
          <a:bodyPr/>
          <a:lstStyle/>
          <a:p>
            <a:endParaRPr/>
          </a:p>
        </p:txBody>
      </p:sp>
      <p:sp>
        <p:nvSpPr>
          <p:cNvPr id="25" name="Shape 20"/>
          <p:cNvSpPr/>
          <p:nvPr/>
        </p:nvSpPr>
        <p:spPr>
          <a:xfrm>
            <a:off x="365760" y="2075688"/>
            <a:ext cx="4069080" cy="54864"/>
          </a:xfrm>
          <a:prstGeom prst="rect">
            <a:avLst/>
          </a:prstGeom>
          <a:solidFill>
            <a:srgbClr val="F59E0B"/>
          </a:solidFill>
          <a:ln/>
        </p:spPr>
        <p:txBody>
          <a:bodyPr/>
          <a:lstStyle/>
          <a:p>
            <a:endParaRPr/>
          </a:p>
        </p:txBody>
      </p:sp>
      <p:pic>
        <p:nvPicPr>
          <p:cNvPr id="27" name="Image 3" descr="preencoded.png"/>
          <p:cNvPicPr>
            <a:picLocks noChangeAspect="1"/>
          </p:cNvPicPr>
          <p:nvPr/>
        </p:nvPicPr>
        <p:blipFill>
          <a:blip r:embed="rId6"/>
          <a:stretch>
            <a:fillRect/>
          </a:stretch>
        </p:blipFill>
        <p:spPr>
          <a:xfrm>
            <a:off x="512064" y="2313432"/>
            <a:ext cx="521208" cy="521208"/>
          </a:xfrm>
          <a:prstGeom prst="rect">
            <a:avLst/>
          </a:prstGeom>
        </p:spPr>
      </p:pic>
      <p:sp>
        <p:nvSpPr>
          <p:cNvPr id="28" name="Text 22"/>
          <p:cNvSpPr/>
          <p:nvPr/>
        </p:nvSpPr>
        <p:spPr>
          <a:xfrm>
            <a:off x="1170432" y="2167128"/>
            <a:ext cx="3191256" cy="329184"/>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Human Validation</a:t>
            </a:r>
            <a:endParaRPr lang="en-US" sz="1200" dirty="0"/>
          </a:p>
        </p:txBody>
      </p:sp>
      <p:sp>
        <p:nvSpPr>
          <p:cNvPr id="29" name="Text 23"/>
          <p:cNvSpPr/>
          <p:nvPr/>
        </p:nvSpPr>
        <p:spPr>
          <a:xfrm>
            <a:off x="1170432" y="2487168"/>
            <a:ext cx="3191256" cy="502920"/>
          </a:xfrm>
          <a:prstGeom prst="rect">
            <a:avLst/>
          </a:prstGeom>
          <a:noFill/>
          <a:ln/>
        </p:spPr>
        <p:txBody>
          <a:bodyPr wrap="square" lIns="0" tIns="0" rIns="0" bIns="0" rtlCol="0" anchor="ctr"/>
          <a:lstStyle/>
          <a:p>
            <a:pPr marL="0" indent="0">
              <a:buNone/>
            </a:pPr>
            <a:r>
              <a:rPr lang="en-US" sz="950" dirty="0">
                <a:solidFill>
                  <a:srgbClr val="7A9CC0"/>
                </a:solidFill>
                <a:latin typeface="Calibri" pitchFamily="34" charset="0"/>
                <a:ea typeface="Calibri" pitchFamily="34" charset="-122"/>
                <a:cs typeface="Calibri" pitchFamily="34" charset="-120"/>
              </a:rPr>
              <a:t>Approval checkpoint before final report</a:t>
            </a:r>
            <a:endParaRPr lang="en-US" sz="950" dirty="0"/>
          </a:p>
        </p:txBody>
      </p:sp>
      <p:sp>
        <p:nvSpPr>
          <p:cNvPr id="30" name="Shape 24"/>
          <p:cNvSpPr/>
          <p:nvPr/>
        </p:nvSpPr>
        <p:spPr>
          <a:xfrm>
            <a:off x="3337560" y="2075688"/>
            <a:ext cx="4069080" cy="1005840"/>
          </a:xfrm>
          <a:prstGeom prst="rect">
            <a:avLst/>
          </a:prstGeom>
          <a:solidFill>
            <a:srgbClr val="102035"/>
          </a:solidFill>
          <a:ln/>
          <a:effectLst>
            <a:outerShdw blurRad="101600" dist="25400" dir="8100000" algn="bl" rotWithShape="0">
              <a:srgbClr val="000000">
                <a:alpha val="25000"/>
              </a:srgbClr>
            </a:outerShdw>
          </a:effectLst>
        </p:spPr>
        <p:txBody>
          <a:bodyPr/>
          <a:lstStyle/>
          <a:p>
            <a:endParaRPr/>
          </a:p>
        </p:txBody>
      </p:sp>
      <p:sp>
        <p:nvSpPr>
          <p:cNvPr id="31" name="Shape 25"/>
          <p:cNvSpPr/>
          <p:nvPr/>
        </p:nvSpPr>
        <p:spPr>
          <a:xfrm>
            <a:off x="3337560" y="2075688"/>
            <a:ext cx="4069080" cy="54864"/>
          </a:xfrm>
          <a:prstGeom prst="rect">
            <a:avLst/>
          </a:prstGeom>
          <a:solidFill>
            <a:srgbClr val="22C55E"/>
          </a:solidFill>
          <a:ln/>
        </p:spPr>
        <p:txBody>
          <a:bodyPr/>
          <a:lstStyle/>
          <a:p>
            <a:endParaRPr/>
          </a:p>
        </p:txBody>
      </p:sp>
      <p:pic>
        <p:nvPicPr>
          <p:cNvPr id="33" name="Image 4" descr="preencoded.png"/>
          <p:cNvPicPr>
            <a:picLocks noChangeAspect="1"/>
          </p:cNvPicPr>
          <p:nvPr/>
        </p:nvPicPr>
        <p:blipFill>
          <a:blip r:embed="rId7"/>
          <a:stretch>
            <a:fillRect/>
          </a:stretch>
        </p:blipFill>
        <p:spPr>
          <a:xfrm>
            <a:off x="3483864" y="2313432"/>
            <a:ext cx="521208" cy="521208"/>
          </a:xfrm>
          <a:prstGeom prst="rect">
            <a:avLst/>
          </a:prstGeom>
        </p:spPr>
      </p:pic>
      <p:sp>
        <p:nvSpPr>
          <p:cNvPr id="34" name="Text 27"/>
          <p:cNvSpPr/>
          <p:nvPr/>
        </p:nvSpPr>
        <p:spPr>
          <a:xfrm>
            <a:off x="4142232" y="2167128"/>
            <a:ext cx="3191256" cy="329184"/>
          </a:xfrm>
          <a:prstGeom prst="rect">
            <a:avLst/>
          </a:prstGeom>
          <a:noFill/>
          <a:ln/>
        </p:spPr>
        <p:txBody>
          <a:bodyPr wrap="square" lIns="0" tIns="0" rIns="0" bIns="0" rtlCol="0" anchor="ctr"/>
          <a:lstStyle/>
          <a:p>
            <a:pPr marL="0" indent="0">
              <a:buNone/>
            </a:pPr>
            <a:r>
              <a:rPr lang="en-US" sz="1200" b="1" dirty="0">
                <a:solidFill>
                  <a:srgbClr val="22C55E"/>
                </a:solidFill>
                <a:latin typeface="Calibri" pitchFamily="34" charset="0"/>
                <a:ea typeface="Calibri" pitchFamily="34" charset="-122"/>
                <a:cs typeface="Calibri" pitchFamily="34" charset="-120"/>
              </a:rPr>
              <a:t>Business Reports</a:t>
            </a:r>
            <a:endParaRPr lang="en-US" sz="1200" dirty="0"/>
          </a:p>
        </p:txBody>
      </p:sp>
      <p:sp>
        <p:nvSpPr>
          <p:cNvPr id="35" name="Text 28"/>
          <p:cNvSpPr/>
          <p:nvPr/>
        </p:nvSpPr>
        <p:spPr>
          <a:xfrm>
            <a:off x="4142232" y="2487168"/>
            <a:ext cx="3191256" cy="502920"/>
          </a:xfrm>
          <a:prstGeom prst="rect">
            <a:avLst/>
          </a:prstGeom>
          <a:noFill/>
          <a:ln/>
        </p:spPr>
        <p:txBody>
          <a:bodyPr wrap="square" lIns="0" tIns="0" rIns="0" bIns="0" rtlCol="0" anchor="ctr"/>
          <a:lstStyle/>
          <a:p>
            <a:pPr marL="0" indent="0">
              <a:buNone/>
            </a:pPr>
            <a:r>
              <a:rPr lang="en-US" sz="950">
                <a:solidFill>
                  <a:srgbClr val="7A9CC0"/>
                </a:solidFill>
                <a:latin typeface="Calibri" pitchFamily="34" charset="0"/>
                <a:ea typeface="Calibri" pitchFamily="34" charset="-122"/>
                <a:cs typeface="Calibri" pitchFamily="34" charset="-120"/>
              </a:rPr>
              <a:t>Gemini-powered </a:t>
            </a:r>
            <a:r>
              <a:rPr lang="en-US" sz="950" dirty="0">
                <a:solidFill>
                  <a:srgbClr val="7A9CC0"/>
                </a:solidFill>
                <a:latin typeface="Calibri" pitchFamily="34" charset="0"/>
                <a:ea typeface="Calibri" pitchFamily="34" charset="-122"/>
                <a:cs typeface="Calibri" pitchFamily="34" charset="-120"/>
              </a:rPr>
              <a:t>intelligence documents</a:t>
            </a:r>
            <a:endParaRPr lang="en-US" sz="950" dirty="0"/>
          </a:p>
        </p:txBody>
      </p:sp>
      <p:sp>
        <p:nvSpPr>
          <p:cNvPr id="36" name="Shape 29"/>
          <p:cNvSpPr/>
          <p:nvPr/>
        </p:nvSpPr>
        <p:spPr>
          <a:xfrm>
            <a:off x="365760" y="3291840"/>
            <a:ext cx="8412480" cy="932688"/>
          </a:xfrm>
          <a:prstGeom prst="rect">
            <a:avLst/>
          </a:prstGeom>
          <a:solidFill>
            <a:srgbClr val="1E5EFF">
              <a:alpha val="85000"/>
            </a:srgbClr>
          </a:solidFill>
          <a:ln w="12700">
            <a:solidFill>
              <a:srgbClr val="1E5EFF"/>
            </a:solidFill>
            <a:prstDash val="solid"/>
          </a:ln>
          <a:effectLst>
            <a:outerShdw blurRad="152400" dist="38100" dir="8100000" algn="bl" rotWithShape="0">
              <a:srgbClr val="000000">
                <a:alpha val="30000"/>
              </a:srgbClr>
            </a:outerShdw>
          </a:effectLst>
        </p:spPr>
        <p:txBody>
          <a:bodyPr/>
          <a:lstStyle/>
          <a:p>
            <a:endParaRPr/>
          </a:p>
        </p:txBody>
      </p:sp>
      <p:sp>
        <p:nvSpPr>
          <p:cNvPr id="37" name="Shape 30"/>
          <p:cNvSpPr/>
          <p:nvPr/>
        </p:nvSpPr>
        <p:spPr>
          <a:xfrm>
            <a:off x="365760" y="3291840"/>
            <a:ext cx="54864" cy="932688"/>
          </a:xfrm>
          <a:prstGeom prst="rect">
            <a:avLst/>
          </a:prstGeom>
          <a:solidFill>
            <a:srgbClr val="00C8FF"/>
          </a:solidFill>
          <a:ln/>
        </p:spPr>
        <p:txBody>
          <a:bodyPr/>
          <a:lstStyle/>
          <a:p>
            <a:endParaRPr/>
          </a:p>
        </p:txBody>
      </p:sp>
      <p:sp>
        <p:nvSpPr>
          <p:cNvPr id="38" name="Text 31"/>
          <p:cNvSpPr/>
          <p:nvPr/>
        </p:nvSpPr>
        <p:spPr>
          <a:xfrm>
            <a:off x="530352" y="3310128"/>
            <a:ext cx="8138160" cy="914400"/>
          </a:xfrm>
          <a:prstGeom prst="rect">
            <a:avLst/>
          </a:prstGeom>
          <a:noFill/>
          <a:ln/>
        </p:spPr>
        <p:txBody>
          <a:bodyPr wrap="square" lIns="76200" tIns="76200" rIns="76200" bIns="76200" rtlCol="0" anchor="ctr"/>
          <a:lstStyle/>
          <a:p>
            <a:pPr marL="0" indent="0" algn="l">
              <a:buNone/>
            </a:pPr>
            <a:r>
              <a:rPr lang="en-US" sz="1350" b="1" i="1" dirty="0">
                <a:solidFill>
                  <a:srgbClr val="FFFFFF"/>
                </a:solidFill>
                <a:latin typeface="Calibri" pitchFamily="34" charset="0"/>
                <a:ea typeface="Calibri" pitchFamily="34" charset="-122"/>
                <a:cs typeface="Calibri" pitchFamily="34" charset="-120"/>
              </a:rPr>
              <a:t>This system goes beyond sentiment classification by converting customer opinions into actionable insights for decision-making.</a:t>
            </a:r>
            <a:endParaRPr lang="en-US" sz="1350" dirty="0"/>
          </a:p>
        </p:txBody>
      </p:sp>
      <p:sp>
        <p:nvSpPr>
          <p:cNvPr id="39" name="Shape 32"/>
          <p:cNvSpPr/>
          <p:nvPr/>
        </p:nvSpPr>
        <p:spPr>
          <a:xfrm>
            <a:off x="365760" y="4396898"/>
            <a:ext cx="8412480" cy="640080"/>
          </a:xfrm>
          <a:prstGeom prst="rect">
            <a:avLst/>
          </a:prstGeom>
          <a:solidFill>
            <a:srgbClr val="0A1628"/>
          </a:solidFill>
          <a:ln w="12700">
            <a:solidFill>
              <a:srgbClr val="1E5EFF"/>
            </a:solidFill>
            <a:prstDash val="solid"/>
          </a:ln>
        </p:spPr>
        <p:txBody>
          <a:bodyPr/>
          <a:lstStyle/>
          <a:p>
            <a:endParaRPr/>
          </a:p>
        </p:txBody>
      </p:sp>
      <p:sp>
        <p:nvSpPr>
          <p:cNvPr id="40" name="Text 33"/>
          <p:cNvSpPr/>
          <p:nvPr/>
        </p:nvSpPr>
        <p:spPr>
          <a:xfrm>
            <a:off x="365760" y="4407408"/>
            <a:ext cx="8412480" cy="640080"/>
          </a:xfrm>
          <a:prstGeom prst="rect">
            <a:avLst/>
          </a:prstGeom>
          <a:noFill/>
          <a:ln/>
        </p:spPr>
        <p:txBody>
          <a:bodyPr wrap="square" lIns="0" tIns="0" rIns="0" bIns="0" rtlCol="0" anchor="ctr"/>
          <a:lstStyle/>
          <a:p>
            <a:pPr marL="0" indent="0" algn="ctr">
              <a:buNone/>
            </a:pPr>
            <a:r>
              <a:rPr lang="en-US" sz="2800" b="1" kern="0" spc="400" dirty="0">
                <a:solidFill>
                  <a:srgbClr val="FFFFFF"/>
                </a:solidFill>
                <a:latin typeface="Calibri" pitchFamily="34" charset="0"/>
                <a:ea typeface="Calibri" pitchFamily="34" charset="-122"/>
                <a:cs typeface="Calibri" pitchFamily="34" charset="-120"/>
              </a:rPr>
              <a:t>Thank You</a:t>
            </a:r>
            <a:endParaRPr lang="en-US" sz="2800" dirty="0"/>
          </a:p>
        </p:txBody>
      </p:sp>
      <p:sp>
        <p:nvSpPr>
          <p:cNvPr id="41" name="Text 34"/>
          <p:cNvSpPr/>
          <p:nvPr/>
        </p:nvSpPr>
        <p:spPr>
          <a:xfrm>
            <a:off x="365760" y="4407408"/>
            <a:ext cx="8412480" cy="640080"/>
          </a:xfrm>
          <a:prstGeom prst="rect">
            <a:avLst/>
          </a:prstGeom>
          <a:noFill/>
          <a:ln/>
        </p:spPr>
        <p:txBody>
          <a:bodyPr wrap="square" lIns="76200" tIns="76200" rIns="76200" bIns="76200" rtlCol="0" anchor="b"/>
          <a:lstStyle/>
          <a:p>
            <a:pPr marL="0" indent="0" algn="r">
              <a:buNone/>
            </a:pPr>
            <a:r>
              <a:rPr lang="en-US" sz="1100" dirty="0">
                <a:solidFill>
                  <a:srgbClr val="00C8FF"/>
                </a:solidFill>
              </a:rPr>
              <a:t>Questions &amp; Discussion</a:t>
            </a:r>
            <a:endParaRPr lang="en-US" sz="1100" dirty="0"/>
          </a:p>
        </p:txBody>
      </p:sp>
      <p:sp>
        <p:nvSpPr>
          <p:cNvPr id="42" name="TextBox 41"/>
          <p:cNvSpPr txBox="1"/>
          <p:nvPr/>
        </p:nvSpPr>
        <p:spPr>
          <a:xfrm>
            <a:off x="8686800" y="4736592"/>
            <a:ext cx="274320" cy="146304"/>
          </a:xfrm>
          <a:prstGeom prst="rect">
            <a:avLst/>
          </a:prstGeom>
          <a:noFill/>
        </p:spPr>
        <p:txBody>
          <a:bodyPr wrap="none">
            <a:spAutoFit/>
          </a:bodyPr>
          <a:lstStyle/>
          <a:p>
            <a:pPr algn="r">
              <a:defRPr sz="650">
                <a:solidFill>
                  <a:srgbClr val="A0AFBE"/>
                </a:solidFill>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830A8D2-FD08-4E6B-BDA3-D9C85C73014F}">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182</TotalTime>
  <Words>2125</Words>
  <Application>Microsoft Office PowerPoint</Application>
  <PresentationFormat>Affichage à l'écran (16:9)</PresentationFormat>
  <Paragraphs>347</Paragraphs>
  <Slides>14</Slides>
  <Notes>12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14</vt:i4>
      </vt:variant>
    </vt:vector>
  </HeadingPairs>
  <TitlesOfParts>
    <vt:vector size="17"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Product Review Intelligence System</dc:title>
  <dc:subject>PptxGenJS Presentation</dc:subject>
  <dc:creator>AI Engineering Team</dc:creator>
  <cp:lastModifiedBy>Abdallah ALNAJJAR</cp:lastModifiedBy>
  <cp:revision>15</cp:revision>
  <dcterms:created xsi:type="dcterms:W3CDTF">2026-05-23T18:44:00Z</dcterms:created>
  <dcterms:modified xsi:type="dcterms:W3CDTF">2026-05-25T13:42:07Z</dcterms:modified>
</cp:coreProperties>
</file>